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0" r:id="rId21"/>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  <Relationship Id="rId21" Type="http://schemas.openxmlformats.org/officeDocument/2006/relationships/slide" Target="slides/slide15.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Tonight is about a new kind of model that showed up two weeks ago, why it matters for anything you build with AI, and how to use it on AWS when it isn't in Bedrock. We'll finish with a live Terraform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of hands: who has a regex or a JSON parser wrapped around an LLM response in production? That's the smell. We're using a generative model to produce a single bit, then fighting the output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Classification, routing, guardrails, extraction checks. None of them need a paragraph back. They need an answer and how sure the model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shape. You send application state plus a bounded question. Types include yes/no ("noul"), a choice from a list, or a score. You get back a number, not a sentence. No prompt engineering to force JSON, no parsing.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maturity. TypeSafe itself says some of its published gains are likely at the high end of what you'll see in practice. The architecture idea is the part worth taking home, whoever's model you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financial-services folks in the room, the last card is the one that sells it internally. A model risk reviewer can read "p = 0.81, threshold 0.6, decided" far more easily than a paragraph of chain-of-thought.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A schema guarantees shape, not truth. So the model shouldn't be the one making the decision. It should answer questions, and your code should decide, with room to say "I'm not sure, send it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Whichever door you pick, the AWS pattern is the same: the model is a sidecar next to Bedrock, not a replacement. Key in Secrets Manager, a Lambda wrapper, thresholds before anything consequential. Path 3 is the answer for regulated shops that can't send customer data to a two-week-old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James Barney, who built these. Be fair about the footnote: the circuit models saw the public training splits for spam and intents, Jev presumably didn't. The utility-call column is the cleaner comparison, and Jev still leads it. The point isn't that the clone beats Jev; it's that a model you can host yourself is close enough to be a real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James's open-source library. Same idea as a policy engine: the model supplies evidence, your code applies the policy. Because the threshold lives in code, you can change it without retraining or re-prompting anything.</a:t>
            </a:r>
            <a:endParaRPr lang="en-US" dirty="0"/>
          </a:p>
          <a:p>
            <a:r>
              <a:rPr lang="en-US" dirty="0"/>
              <a:t>The demo's redact gate is one step richer than this slide: it also asks 'are the identifying details about a business, not a person?' and redacts on (pii AND NOT business) &gt;= 0.6. The AND is just multiplication of the two probabilities; the trace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usual approach of asking two LLMs and escalating when they disagree. Disagreement was a stand-in for a confidence number we didn't have. Now we have the number, so the escalation rule becomes one line of code you can 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left to right. The only thing outside AWS is the model call, and swapping it for Jev or a SageMaker endpoint is one Terraform value (model_endpoint).</a:t>
            </a:r>
            <a:endParaRPr lang="en-US" dirty="0"/>
          </a:p>
          <a:p>
            <a:r>
              <a:rPr lang="en-US" dirty="0"/>
              <a:t>Bedrock only runs on the uncertain cases, and only to write a two-sentence note for the human reviewer (Amazon Nova 2 Lite). The generative model never makes the decision; it explains one the circuit already made. The API key lives in Secrets Manager and never touches Terraform state; the route requires IAM-signed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TALK: the stack is already deployed. 30 minutes out, run scripts/preflight.sh (every line should say ok), then leave scripts/warmup.sh --keep-warm running in a second terminal. The hosted model scales to zero; a cold first call takes about a minute.</a:t>
            </a:r>
            <a:endParaRPr lang="en-US" dirty="0"/>
          </a:p>
          <a:p>
            <a:r>
              <a:rPr lang="en-US" dirty="0"/>
              <a:t>1-3: run scripts/demo.sh --step and press Enter before each message. Point at the gate probabilities in each response: 1 is routed (redact p is tiny), 2 is redacted and routed, 3 lands in the band and comes back 202 with the Nova summary. Then show the queue (aws sqs receive-message, in the README) or the trace in CloudWatch.</a:t>
            </a:r>
            <a:endParaRPr lang="en-US" dirty="0"/>
          </a:p>
          <a:p>
            <a:r>
              <a:rPr lang="en-US" dirty="0"/>
              <a:t>4: open lambda/circuit.py. Add c.noul("angry", "Is the customer angry?") and c.gate("angry_to_human", Q("angry") &gt;= 0.7, on_uncertain="escalate"), and set REVIEW_WHEN_TRUE = ["angry_to_human"]. Run scripts/deploy.sh: it compiles, runs the tests, then terraform apply, about 10 seconds. Then scripts/demo.sh "This is the THIRD time you've double charged me. Fix it today or I'm cancelling." It should come back 202, reason angry_to_human.</a:t>
            </a:r>
            <a:endParaRPr lang="en-US" dirty="0"/>
          </a:p>
          <a:p>
            <a:r>
              <a:rPr lang="en-US" dirty="0"/>
              <a:t>IF IT BREAKS: a 503 means the model went cold, so run scripts/warmup.sh and keep talking about the band slide. If the network is gone, fall back to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James for the models and the library. Point people at the Decision Circuits API if they want to try it tonight: free keys, no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rest of the talk make sense. Take your time here.</a:t>
            </a:r>
            <a:endParaRPr lang="en-US" dirty="0"/>
          </a:p>
          <a:p>
            <a:r>
              <a:rPr lang="en-US" dirty="0"/>
              <a:t>The name is from Kahneman's Thinking, Fast and Slow. System 2 is the slow, deliberate voice in your head; that's what a chat model is doing when it writes out an answer word by word. System 1 is the snap judgment: you see a face and know it's angry, you don't reason it out.</a:t>
            </a:r>
            <a:endParaRPr lang="en-US" dirty="0"/>
          </a:p>
          <a:p>
            <a:r>
              <a:rPr lang="en-US" dirty="0"/>
              <a:t>A System One model is built for the snap judgment. You hand it the state and a list of questions, each with its allowed answers. It reads everything once and scores every allowed answer at the same time. Nothing is written, so there's nothing to parse and nothing outside the answers you listed.</a:t>
            </a:r>
            <a:endParaRPr lang="en-US" dirty="0"/>
          </a:p>
          <a:p>
            <a:r>
              <a:rPr lang="en-US" dirty="0"/>
              <a:t>How, concretely, for circuit-8b (it's open, so we can look): it's a normal 8B language model with a small extra layer on top. Each answer option gets a marker token. That extra layer scores the markers and a softmax turns the scores into probabilities that add up to 1. One forward pass. That's why it's 100-something milliseconds instead of seconds.</a:t>
            </a:r>
            <a:endParaRPr lang="en-US" dirty="0"/>
          </a:p>
          <a:p>
            <a:r>
              <a:rPr lang="en-US" dirty="0"/>
              <a:t>Why the number is useful: the model was trained against real outcomes, so a 0.8 should be right about 8 times in 10. That's calibration. It's what lets you put a threshold on it in code. Hold that thought, because the next slides show where that promise breaks.</a:t>
            </a:r>
            <a:endParaRPr lang="en-US" dirty="0"/>
          </a:p>
          <a:p>
            <a:r>
              <a:rPr lang="en-US" dirty="0"/>
              <a:t>If someone asks 'isn't this just a classifier?': yes, in spirit. The difference is you define the classes at request time, in plain English, for any state, with no training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RICHMOND AWS USER GROUP · OCTOBER 1, 2026</a:t>
            </a:r>
            <a:endParaRPr lang="en-US" sz="1200" dirty="0"/>
          </a:p>
        </p:txBody>
      </p:sp>
      <p:sp>
        <p:nvSpPr>
          <p:cNvPr id="3" name="Text 1"/>
          <p:cNvSpPr/>
          <p:nvPr/>
        </p:nvSpPr>
        <p:spPr>
          <a:xfrm>
            <a:off x="812800" y="265301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F4F1EA"/>
                </a:solidFill>
                <a:latin typeface="Space Grotesk" pitchFamily="34" charset="0"/>
                <a:ea typeface="Space Grotesk" pitchFamily="34" charset="-122"/>
                <a:cs typeface="Space Grotesk" pitchFamily="34" charset="-120"/>
              </a:rPr>
              <a:t>Decide in code.</a:t>
            </a:r>
            <a:endParaRPr lang="en-US" sz="7200" dirty="0"/>
          </a:p>
        </p:txBody>
      </p:sp>
      <p:sp>
        <p:nvSpPr>
          <p:cNvPr id="4" name="Text 2"/>
          <p:cNvSpPr/>
          <p:nvPr/>
        </p:nvSpPr>
        <p:spPr>
          <a:xfrm>
            <a:off x="812800" y="382141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CCD3"/>
                </a:solidFill>
                <a:latin typeface="Space Grotesk" pitchFamily="34" charset="0"/>
                <a:ea typeface="Space Grotesk" pitchFamily="34" charset="-122"/>
                <a:cs typeface="Space Grotesk" pitchFamily="34" charset="-120"/>
              </a:rPr>
              <a:t>System One models, and how to run one on AWS before AWS does</a:t>
            </a:r>
            <a:endParaRPr lang="en-US" sz="2000" dirty="0"/>
          </a:p>
        </p:txBody>
      </p:sp>
      <p:sp>
        <p:nvSpPr>
          <p:cNvPr id="5" name="Text 3"/>
          <p:cNvSpPr/>
          <p:nvPr/>
        </p:nvSpPr>
        <p:spPr>
          <a:xfrm>
            <a:off x="812800" y="57785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7ADB8"/>
                </a:solidFill>
                <a:latin typeface="Space Grotesk" pitchFamily="34" charset="0"/>
                <a:ea typeface="Space Grotesk" pitchFamily="34" charset="-122"/>
                <a:cs typeface="Space Grotesk" pitchFamily="34" charset="-120"/>
              </a:rPr>
              <a:t>Lucas · Head of Intelligent Data &amp; Cloud, Ippon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19490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21A"/>
                </a:solidFill>
                <a:latin typeface="IBM Plex Mono" pitchFamily="34" charset="0"/>
                <a:ea typeface="IBM Plex Mono" pitchFamily="34" charset="-122"/>
                <a:cs typeface="IBM Plex Mono" pitchFamily="34" charset="-120"/>
              </a:rPr>
              <a:t>THE PROBLEM</a:t>
            </a:r>
            <a:endParaRPr lang="en-US" sz="1200" dirty="0"/>
          </a:p>
        </p:txBody>
      </p:sp>
      <p:sp>
        <p:nvSpPr>
          <p:cNvPr id="3" name="Text 1"/>
          <p:cNvSpPr/>
          <p:nvPr/>
        </p:nvSpPr>
        <p:spPr>
          <a:xfrm>
            <a:off x="812800" y="2467124"/>
            <a:ext cx="9810750" cy="1342132"/>
          </a:xfrm>
          <a:prstGeom prst="rect">
            <a:avLst/>
          </a:prstGeom>
          <a:noFill/>
          <a:ln/>
        </p:spPr>
        <p:txBody>
          <a:bodyPr wrap="square" lIns="0" tIns="0" rIns="0" bIns="0" rtlCol="0" anchor="t">
            <a:normAutofit/>
          </a:bodyPr>
          <a:lstStyle/>
          <a:p>
            <a:pPr algn="l" indent="0" marL="0">
              <a:lnSpc>
                <a:spcPts val="5184"/>
              </a:lnSpc>
              <a:buNone/>
            </a:pPr>
            <a:r>
              <a:rPr lang="en-US" sz="4800" b="1" dirty="0">
                <a:solidFill>
                  <a:srgbClr val="1B1F26"/>
                </a:solidFill>
                <a:latin typeface="Space Grotesk" pitchFamily="34" charset="0"/>
                <a:ea typeface="Space Grotesk" pitchFamily="34" charset="-122"/>
                <a:cs typeface="Space Grotesk" pitchFamily="34" charset="-120"/>
              </a:rPr>
              <a:t>We keep hiring a novelist to answer yes-or-no questions.</a:t>
            </a:r>
            <a:endParaRPr lang="en-US" sz="4800" dirty="0"/>
          </a:p>
        </p:txBody>
      </p:sp>
      <p:sp>
        <p:nvSpPr>
          <p:cNvPr id="4" name="Text 2"/>
          <p:cNvSpPr/>
          <p:nvPr/>
        </p:nvSpPr>
        <p:spPr>
          <a:xfrm>
            <a:off x="812800" y="4088656"/>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5B6270"/>
                </a:solidFill>
                <a:latin typeface="Space Grotesk" pitchFamily="34" charset="0"/>
                <a:ea typeface="Space Grotesk" pitchFamily="34" charset="-122"/>
                <a:cs typeface="Space Grotesk" pitchFamily="34" charset="-120"/>
              </a:rPr>
              <a:t>Most production AI calls aren't asking for writing. They're asking for a decision. Then we parse the prose and hope.</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Most AI calls are decisions in disguise</a:t>
            </a:r>
            <a:endParaRPr lang="en-US" sz="3600" dirty="0"/>
          </a:p>
        </p:txBody>
      </p:sp>
      <p:sp>
        <p:nvSpPr>
          <p:cNvPr id="3" name="Shape 1"/>
          <p:cNvSpPr/>
          <p:nvPr/>
        </p:nvSpPr>
        <p:spPr>
          <a:xfrm>
            <a:off x="815975" y="1674465"/>
            <a:ext cx="5175250" cy="1151880"/>
          </a:xfrm>
          <a:prstGeom prst="roundRect">
            <a:avLst>
              <a:gd name="adj" fmla="val 8545"/>
            </a:avLst>
          </a:prstGeom>
          <a:solidFill>
            <a:srgbClr val="FBFAF6"/>
          </a:solidFill>
          <a:ln w="6350">
            <a:solidFill>
              <a:srgbClr val="D9D3C5"/>
            </a:solidFill>
            <a:prstDash val="solid"/>
          </a:ln>
        </p:spPr>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message spam?</a:t>
            </a:r>
            <a:endParaRPr lang="en-US" sz="2000" dirty="0"/>
          </a:p>
        </p:txBody>
      </p:sp>
      <p:sp>
        <p:nvSpPr>
          <p:cNvPr id="5" name="Text 3"/>
          <p:cNvSpPr/>
          <p:nvPr/>
        </p:nvSpPr>
        <p:spPr>
          <a:xfrm>
            <a:off x="10731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yes / no</a:t>
            </a:r>
            <a:endParaRPr lang="en-US" sz="1300" dirty="0"/>
          </a:p>
        </p:txBody>
      </p:sp>
      <p:sp>
        <p:nvSpPr>
          <p:cNvPr id="6" name="Shape 4"/>
          <p:cNvSpPr/>
          <p:nvPr/>
        </p:nvSpPr>
        <p:spPr>
          <a:xfrm>
            <a:off x="6200775" y="1674465"/>
            <a:ext cx="5175250" cy="1151880"/>
          </a:xfrm>
          <a:prstGeom prst="roundRect">
            <a:avLst>
              <a:gd name="adj" fmla="val 8545"/>
            </a:avLst>
          </a:prstGeom>
          <a:solidFill>
            <a:srgbClr val="FBFAF6"/>
          </a:solidFill>
          <a:ln w="6350">
            <a:solidFill>
              <a:srgbClr val="D9D3C5"/>
            </a:solidFill>
            <a:prstDash val="solid"/>
          </a:ln>
        </p:spPr>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Which team gets this ticket?</a:t>
            </a:r>
            <a:endParaRPr lang="en-US" sz="2000" dirty="0"/>
          </a:p>
        </p:txBody>
      </p:sp>
      <p:sp>
        <p:nvSpPr>
          <p:cNvPr id="8" name="Text 6"/>
          <p:cNvSpPr/>
          <p:nvPr/>
        </p:nvSpPr>
        <p:spPr>
          <a:xfrm>
            <a:off x="64579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one of N options</a:t>
            </a:r>
            <a:endParaRPr lang="en-US" sz="1300" dirty="0"/>
          </a:p>
        </p:txBody>
      </p:sp>
      <p:sp>
        <p:nvSpPr>
          <p:cNvPr id="9" name="Shape 7"/>
          <p:cNvSpPr/>
          <p:nvPr/>
        </p:nvSpPr>
        <p:spPr>
          <a:xfrm>
            <a:off x="815975" y="3035895"/>
            <a:ext cx="5175250" cy="1151880"/>
          </a:xfrm>
          <a:prstGeom prst="roundRect">
            <a:avLst>
              <a:gd name="adj" fmla="val 8545"/>
            </a:avLst>
          </a:prstGeom>
          <a:solidFill>
            <a:srgbClr val="FBFAF6"/>
          </a:solidFill>
          <a:ln w="6350">
            <a:solidFill>
              <a:srgbClr val="D9D3C5"/>
            </a:solidFill>
            <a:prstDash val="solid"/>
          </a:ln>
        </p:spPr>
      </p:sp>
      <p:sp>
        <p:nvSpPr>
          <p:cNvPr id="10" name="Text 8"/>
          <p:cNvSpPr/>
          <p:nvPr/>
        </p:nvSpPr>
        <p:spPr>
          <a:xfrm>
            <a:off x="10731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agent's tool call safe?</a:t>
            </a:r>
            <a:endParaRPr lang="en-US" sz="2000" dirty="0"/>
          </a:p>
        </p:txBody>
      </p:sp>
      <p:sp>
        <p:nvSpPr>
          <p:cNvPr id="11" name="Text 9"/>
          <p:cNvSpPr/>
          <p:nvPr/>
        </p:nvSpPr>
        <p:spPr>
          <a:xfrm>
            <a:off x="10731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allow / block / ask a human</a:t>
            </a:r>
            <a:endParaRPr lang="en-US" sz="1300" dirty="0"/>
          </a:p>
        </p:txBody>
      </p:sp>
      <p:sp>
        <p:nvSpPr>
          <p:cNvPr id="12" name="Shape 10"/>
          <p:cNvSpPr/>
          <p:nvPr/>
        </p:nvSpPr>
        <p:spPr>
          <a:xfrm>
            <a:off x="6200775" y="3035895"/>
            <a:ext cx="5175250" cy="1151880"/>
          </a:xfrm>
          <a:prstGeom prst="roundRect">
            <a:avLst>
              <a:gd name="adj" fmla="val 8545"/>
            </a:avLst>
          </a:prstGeom>
          <a:solidFill>
            <a:srgbClr val="FBFAF6"/>
          </a:solidFill>
          <a:ln w="6350">
            <a:solidFill>
              <a:srgbClr val="D9D3C5"/>
            </a:solidFill>
            <a:prstDash val="solid"/>
          </a:ln>
        </p:spPr>
      </p:sp>
      <p:sp>
        <p:nvSpPr>
          <p:cNvPr id="13" name="Text 11"/>
          <p:cNvSpPr/>
          <p:nvPr/>
        </p:nvSpPr>
        <p:spPr>
          <a:xfrm>
            <a:off x="64579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Does this contain PII?</a:t>
            </a:r>
            <a:endParaRPr lang="en-US" sz="2000" dirty="0"/>
          </a:p>
        </p:txBody>
      </p:sp>
      <p:sp>
        <p:nvSpPr>
          <p:cNvPr id="14" name="Text 12"/>
          <p:cNvSpPr/>
          <p:nvPr/>
        </p:nvSpPr>
        <p:spPr>
          <a:xfrm>
            <a:off x="64579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 probability</a:t>
            </a:r>
            <a:endParaRPr lang="en-US" sz="1300" dirty="0"/>
          </a:p>
        </p:txBody>
      </p:sp>
      <p:sp>
        <p:nvSpPr>
          <p:cNvPr id="15" name="Text 13"/>
          <p:cNvSpPr/>
          <p:nvPr/>
        </p:nvSpPr>
        <p:spPr>
          <a:xfrm>
            <a:off x="812800" y="45465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Every one of these has a small answer space you know before you ever call the model.</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A System One model answers typed questions</a:t>
            </a:r>
            <a:endParaRPr lang="en-US" sz="3600" dirty="0"/>
          </a:p>
        </p:txBody>
      </p:sp>
      <p:sp>
        <p:nvSpPr>
          <p:cNvPr id="3" name="Shape 1"/>
          <p:cNvSpPr/>
          <p:nvPr/>
        </p:nvSpPr>
        <p:spPr>
          <a:xfrm>
            <a:off x="812800" y="1671290"/>
            <a:ext cx="4775200" cy="2612380"/>
          </a:xfrm>
          <a:prstGeom prst="roundRect">
            <a:avLst>
              <a:gd name="adj" fmla="val 3889"/>
            </a:avLst>
          </a:prstGeom>
          <a:solidFill>
            <a:srgbClr val="1B1F26"/>
          </a:solidFill>
          <a:ln/>
        </p:spPr>
      </p:sp>
      <p:sp>
        <p:nvSpPr>
          <p:cNvPr id="4" name="Text 2"/>
          <p:cNvSpPr/>
          <p:nvPr/>
        </p:nvSpPr>
        <p:spPr>
          <a:xfrm>
            <a:off x="1066800" y="1925290"/>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In: state + questions</a:t>
            </a:r>
            <a:endParaRPr lang="en-US" sz="1600" dirty="0"/>
          </a:p>
        </p:txBody>
      </p:sp>
      <p:sp>
        <p:nvSpPr>
          <p:cNvPr id="5" name="Text 3"/>
          <p:cNvSpPr/>
          <p:nvPr/>
        </p:nvSpPr>
        <p:spPr>
          <a:xfrm>
            <a:off x="1066800" y="2296120"/>
            <a:ext cx="4395216" cy="17589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"state": "My name is Dana Whitfield</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and my account number is 88421.",</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"questions": {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"instructions": "Contains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pic>
        <p:nvPicPr>
          <p:cNvPr id="6" name="Image 0" descr="arrow-right">    </p:cNvPr>
          <p:cNvPicPr>
            <a:picLocks noChangeAspect="1"/>
          </p:cNvPicPr>
          <p:nvPr/>
        </p:nvPicPr>
        <p:blipFill>
          <a:blip r:embed="rId1"/>
          <a:srcRect l="0" r="0" t="0" b="0"/>
          <a:stretch/>
        </p:blipFill>
        <p:spPr>
          <a:xfrm>
            <a:off x="5791200" y="2825055"/>
            <a:ext cx="609600" cy="304800"/>
          </a:xfrm>
          <a:prstGeom prst="rect">
            <a:avLst/>
          </a:prstGeom>
        </p:spPr>
      </p:pic>
      <p:sp>
        <p:nvSpPr>
          <p:cNvPr id="7" name="Shape 4"/>
          <p:cNvSpPr/>
          <p:nvPr/>
        </p:nvSpPr>
        <p:spPr>
          <a:xfrm>
            <a:off x="6604000" y="1795115"/>
            <a:ext cx="4775200" cy="2364730"/>
          </a:xfrm>
          <a:prstGeom prst="roundRect">
            <a:avLst>
              <a:gd name="adj" fmla="val 4296"/>
            </a:avLst>
          </a:prstGeom>
          <a:solidFill>
            <a:srgbClr val="1B1F26"/>
          </a:solidFill>
          <a:ln/>
        </p:spPr>
      </p:sp>
      <p:sp>
        <p:nvSpPr>
          <p:cNvPr id="8" name="Text 5"/>
          <p:cNvSpPr/>
          <p:nvPr/>
        </p:nvSpPr>
        <p:spPr>
          <a:xfrm>
            <a:off x="6858000" y="2049115"/>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Out: a typed answer</a:t>
            </a:r>
            <a:endParaRPr lang="en-US" sz="1600" dirty="0"/>
          </a:p>
        </p:txBody>
      </p:sp>
      <p:sp>
        <p:nvSpPr>
          <p:cNvPr id="9" name="Text 6"/>
          <p:cNvSpPr/>
          <p:nvPr/>
        </p:nvSpPr>
        <p:spPr>
          <a:xfrm>
            <a:off x="6858000" y="2419945"/>
            <a:ext cx="4395216" cy="15113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"answers":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"noul": 0.814</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sp>
        <p:nvSpPr>
          <p:cNvPr id="10" name="Text 7"/>
          <p:cNvSpPr/>
          <p:nvPr/>
        </p:nvSpPr>
        <p:spPr>
          <a:xfrm>
            <a:off x="812800" y="463927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One pass. The answer space is fixed before inference. Every answer carries a probability.</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Example request and response from decisioncircuits.com · Decide in code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Jev put the idea on the market</a:t>
            </a:r>
            <a:endParaRPr lang="en-US" sz="3600" dirty="0"/>
          </a:p>
        </p:txBody>
      </p:sp>
      <p:sp>
        <p:nvSpPr>
          <p:cNvPr id="3" name="Shape 1"/>
          <p:cNvSpPr/>
          <p:nvPr/>
        </p:nvSpPr>
        <p:spPr>
          <a:xfrm>
            <a:off x="815975" y="1674465"/>
            <a:ext cx="3380284" cy="1997075"/>
          </a:xfrm>
          <a:prstGeom prst="roundRect">
            <a:avLst>
              <a:gd name="adj" fmla="val 4928"/>
            </a:avLst>
          </a:prstGeom>
          <a:solidFill>
            <a:srgbClr val="FBFAF6"/>
          </a:solidFill>
          <a:ln w="6350">
            <a:solidFill>
              <a:srgbClr val="D9D3C5"/>
            </a:solidFill>
            <a:prstDash val="solid"/>
          </a:ln>
        </p:spPr>
      </p:sp>
      <p:sp>
        <p:nvSpPr>
          <p:cNvPr id="4" name="Text 2"/>
          <p:cNvSpPr/>
          <p:nvPr/>
        </p:nvSpPr>
        <p:spPr>
          <a:xfrm>
            <a:off x="1073150" y="1931640"/>
            <a:ext cx="295191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Sep 15</a:t>
            </a:r>
            <a:endParaRPr lang="en-US" sz="4800" dirty="0"/>
          </a:p>
        </p:txBody>
      </p:sp>
      <p:sp>
        <p:nvSpPr>
          <p:cNvPr id="5" name="Text 3"/>
          <p:cNvSpPr/>
          <p:nvPr/>
        </p:nvSpPr>
        <p:spPr>
          <a:xfrm>
            <a:off x="1073150" y="2642840"/>
            <a:ext cx="295191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TypeSafe AI launches Jev, billed as the first System One model</a:t>
            </a:r>
            <a:endParaRPr lang="en-US" sz="1500" dirty="0"/>
          </a:p>
        </p:txBody>
      </p:sp>
      <p:sp>
        <p:nvSpPr>
          <p:cNvPr id="6" name="Shape 4"/>
          <p:cNvSpPr/>
          <p:nvPr/>
        </p:nvSpPr>
        <p:spPr>
          <a:xfrm>
            <a:off x="4405809" y="1674465"/>
            <a:ext cx="3380333" cy="1997075"/>
          </a:xfrm>
          <a:prstGeom prst="roundRect">
            <a:avLst>
              <a:gd name="adj" fmla="val 4928"/>
            </a:avLst>
          </a:prstGeom>
          <a:solidFill>
            <a:srgbClr val="FBFAF6"/>
          </a:solidFill>
          <a:ln w="6350">
            <a:solidFill>
              <a:srgbClr val="D9D3C5"/>
            </a:solidFill>
            <a:prstDash val="solid"/>
          </a:ln>
        </p:spPr>
      </p:sp>
      <p:sp>
        <p:nvSpPr>
          <p:cNvPr id="7" name="Text 5"/>
          <p:cNvSpPr/>
          <p:nvPr/>
        </p:nvSpPr>
        <p:spPr>
          <a:xfrm>
            <a:off x="4662984"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70–500</a:t>
            </a:r>
            <a:endParaRPr lang="en-US" sz="4800" dirty="0"/>
          </a:p>
        </p:txBody>
      </p:sp>
      <p:sp>
        <p:nvSpPr>
          <p:cNvPr id="8" name="Text 6"/>
          <p:cNvSpPr/>
          <p:nvPr/>
        </p:nvSpPr>
        <p:spPr>
          <a:xfrm>
            <a:off x="4662984"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milliseconds per call, end to end, by TypeSafe's own numbers</a:t>
            </a:r>
            <a:endParaRPr lang="en-US" sz="1500" dirty="0"/>
          </a:p>
        </p:txBody>
      </p:sp>
      <p:sp>
        <p:nvSpPr>
          <p:cNvPr id="9" name="Shape 7"/>
          <p:cNvSpPr/>
          <p:nvPr/>
        </p:nvSpPr>
        <p:spPr>
          <a:xfrm>
            <a:off x="7995692" y="1674465"/>
            <a:ext cx="3380333" cy="1997075"/>
          </a:xfrm>
          <a:prstGeom prst="roundRect">
            <a:avLst>
              <a:gd name="adj" fmla="val 4928"/>
            </a:avLst>
          </a:prstGeom>
          <a:solidFill>
            <a:srgbClr val="FBFAF6"/>
          </a:solidFill>
          <a:ln w="6350">
            <a:solidFill>
              <a:srgbClr val="D9D3C5"/>
            </a:solidFill>
            <a:prstDash val="solid"/>
          </a:ln>
        </p:spPr>
      </p:sp>
      <p:sp>
        <p:nvSpPr>
          <p:cNvPr id="10" name="Text 8"/>
          <p:cNvSpPr/>
          <p:nvPr/>
        </p:nvSpPr>
        <p:spPr>
          <a:xfrm>
            <a:off x="8252867"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0</a:t>
            </a:r>
            <a:endParaRPr lang="en-US" sz="4800" dirty="0"/>
          </a:p>
        </p:txBody>
      </p:sp>
      <p:sp>
        <p:nvSpPr>
          <p:cNvPr id="11" name="Text 9"/>
          <p:cNvSpPr/>
          <p:nvPr/>
        </p:nvSpPr>
        <p:spPr>
          <a:xfrm>
            <a:off x="8252867"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words of prose. Labels, scores and probabilities, each with a confidence</a:t>
            </a:r>
            <a:endParaRPr lang="en-US" sz="1500" dirty="0"/>
          </a:p>
        </p:txBody>
      </p:sp>
      <p:sp>
        <p:nvSpPr>
          <p:cNvPr id="12" name="Text 10"/>
          <p:cNvSpPr/>
          <p:nvPr/>
        </p:nvSpPr>
        <p:spPr>
          <a:xfrm>
            <a:off x="812800" y="4030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Early access, API only. It's two weeks old, and the benchmarks are vendor-reported.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Sources: TypeSafe AI launch post; community write-ups · Decide in code · 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it belongs in your architecture</a:t>
            </a:r>
            <a:endParaRPr lang="en-US" sz="3600" dirty="0"/>
          </a:p>
        </p:txBody>
      </p:sp>
      <p:sp>
        <p:nvSpPr>
          <p:cNvPr id="3" name="Shape 1"/>
          <p:cNvSpPr/>
          <p:nvPr/>
        </p:nvSpPr>
        <p:spPr>
          <a:xfrm>
            <a:off x="815975" y="1674465"/>
            <a:ext cx="5175250" cy="1409700"/>
          </a:xfrm>
          <a:prstGeom prst="roundRect">
            <a:avLst>
              <a:gd name="adj" fmla="val 6982"/>
            </a:avLst>
          </a:prstGeom>
          <a:solidFill>
            <a:srgbClr val="FBFAF6"/>
          </a:solidFill>
          <a:ln w="6350">
            <a:solidFill>
              <a:srgbClr val="D9D3C5"/>
            </a:solidFill>
            <a:prstDash val="solid"/>
          </a:ln>
        </p:spPr>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Fast and cheap</a:t>
            </a:r>
            <a:endParaRPr lang="en-US" sz="2000" dirty="0"/>
          </a:p>
        </p:txBody>
      </p:sp>
      <p:sp>
        <p:nvSpPr>
          <p:cNvPr id="5" name="Text 3"/>
          <p:cNvSpPr/>
          <p:nvPr/>
        </p:nvSpPr>
        <p:spPr>
          <a:xfrm>
            <a:off x="10731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One pass in hundreds of milliseconds, at a fraction of an LLM call's cost.</a:t>
            </a:r>
            <a:endParaRPr lang="en-US" sz="1500" dirty="0"/>
          </a:p>
        </p:txBody>
      </p:sp>
      <p:sp>
        <p:nvSpPr>
          <p:cNvPr id="6" name="Shape 4"/>
          <p:cNvSpPr/>
          <p:nvPr/>
        </p:nvSpPr>
        <p:spPr>
          <a:xfrm>
            <a:off x="6200775" y="1674465"/>
            <a:ext cx="5175250" cy="1409700"/>
          </a:xfrm>
          <a:prstGeom prst="roundRect">
            <a:avLst>
              <a:gd name="adj" fmla="val 6982"/>
            </a:avLst>
          </a:prstGeom>
          <a:solidFill>
            <a:srgbClr val="FBFAF6"/>
          </a:solidFill>
          <a:ln w="6350">
            <a:solidFill>
              <a:srgbClr val="D9D3C5"/>
            </a:solidFill>
            <a:prstDash val="solid"/>
          </a:ln>
        </p:spPr>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Always parseable</a:t>
            </a:r>
            <a:endParaRPr lang="en-US" sz="2000" dirty="0"/>
          </a:p>
        </p:txBody>
      </p:sp>
      <p:sp>
        <p:nvSpPr>
          <p:cNvPr id="8" name="Text 6"/>
          <p:cNvSpPr/>
          <p:nvPr/>
        </p:nvSpPr>
        <p:spPr>
          <a:xfrm>
            <a:off x="64579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It can't answer outside the questions you defined. No regex over prose.</a:t>
            </a:r>
            <a:endParaRPr lang="en-US" sz="1500" dirty="0"/>
          </a:p>
        </p:txBody>
      </p:sp>
      <p:sp>
        <p:nvSpPr>
          <p:cNvPr id="9" name="Shape 7"/>
          <p:cNvSpPr/>
          <p:nvPr/>
        </p:nvSpPr>
        <p:spPr>
          <a:xfrm>
            <a:off x="815975" y="3293715"/>
            <a:ext cx="5175250" cy="1409700"/>
          </a:xfrm>
          <a:prstGeom prst="roundRect">
            <a:avLst>
              <a:gd name="adj" fmla="val 6982"/>
            </a:avLst>
          </a:prstGeom>
          <a:solidFill>
            <a:srgbClr val="FBFAF6"/>
          </a:solidFill>
          <a:ln w="6350">
            <a:solidFill>
              <a:srgbClr val="D9D3C5"/>
            </a:solidFill>
            <a:prstDash val="solid"/>
          </a:ln>
        </p:spPr>
      </p:sp>
      <p:sp>
        <p:nvSpPr>
          <p:cNvPr id="10" name="Text 8"/>
          <p:cNvSpPr/>
          <p:nvPr/>
        </p:nvSpPr>
        <p:spPr>
          <a:xfrm>
            <a:off x="10731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Honest about doubt</a:t>
            </a:r>
            <a:endParaRPr lang="en-US" sz="2000" dirty="0"/>
          </a:p>
        </p:txBody>
      </p:sp>
      <p:sp>
        <p:nvSpPr>
          <p:cNvPr id="11" name="Text 9"/>
          <p:cNvSpPr/>
          <p:nvPr/>
        </p:nvSpPr>
        <p:spPr>
          <a:xfrm>
            <a:off x="10731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Every answer carries a probability you can put a threshold on.</a:t>
            </a:r>
            <a:endParaRPr lang="en-US" sz="1500" dirty="0"/>
          </a:p>
        </p:txBody>
      </p:sp>
      <p:sp>
        <p:nvSpPr>
          <p:cNvPr id="12" name="Shape 10"/>
          <p:cNvSpPr/>
          <p:nvPr/>
        </p:nvSpPr>
        <p:spPr>
          <a:xfrm>
            <a:off x="6200775" y="3293715"/>
            <a:ext cx="5175250" cy="1409700"/>
          </a:xfrm>
          <a:prstGeom prst="roundRect">
            <a:avLst>
              <a:gd name="adj" fmla="val 6982"/>
            </a:avLst>
          </a:prstGeom>
          <a:solidFill>
            <a:srgbClr val="FBFAF6"/>
          </a:solidFill>
          <a:ln w="6350">
            <a:solidFill>
              <a:srgbClr val="D9D3C5"/>
            </a:solidFill>
            <a:prstDash val="solid"/>
          </a:ln>
        </p:spPr>
      </p:sp>
      <p:sp>
        <p:nvSpPr>
          <p:cNvPr id="13" name="Text 11"/>
          <p:cNvSpPr/>
          <p:nvPr/>
        </p:nvSpPr>
        <p:spPr>
          <a:xfrm>
            <a:off x="64579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Auditable</a:t>
            </a:r>
            <a:endParaRPr lang="en-US" sz="2000" dirty="0"/>
          </a:p>
        </p:txBody>
      </p:sp>
      <p:sp>
        <p:nvSpPr>
          <p:cNvPr id="14" name="Text 12"/>
          <p:cNvSpPr/>
          <p:nvPr/>
        </p:nvSpPr>
        <p:spPr>
          <a:xfrm>
            <a:off x="64579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Question, probability, rule, outcome: a trace a risk team can actually read.</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793A"/>
        </a:solidFill>
      </p:bgPr>
    </p:bg>
    <p:spTree>
      <p:nvGrpSpPr>
        <p:cNvPr id="1" name=""/>
        <p:cNvGrpSpPr/>
        <p:nvPr/>
      </p:nvGrpSpPr>
      <p:grpSpPr>
        <a:xfrm>
          <a:off x="0" y="0"/>
          <a:ext cx="0" cy="0"/>
          <a:chOff x="0" y="0"/>
          <a:chExt cx="0" cy="0"/>
        </a:xfrm>
      </p:grpSpPr>
      <p:sp>
        <p:nvSpPr>
          <p:cNvPr id="2" name="Text 0"/>
          <p:cNvSpPr/>
          <p:nvPr/>
        </p:nvSpPr>
        <p:spPr>
          <a:xfrm>
            <a:off x="812800" y="177294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71C"/>
                </a:solidFill>
                <a:latin typeface="IBM Plex Mono" pitchFamily="34" charset="0"/>
                <a:ea typeface="IBM Plex Mono" pitchFamily="34" charset="-122"/>
                <a:cs typeface="IBM Plex Mono" pitchFamily="34" charset="-120"/>
              </a:rPr>
              <a:t>THE CATCH</a:t>
            </a:r>
            <a:endParaRPr lang="en-US" sz="1200" dirty="0"/>
          </a:p>
        </p:txBody>
      </p:sp>
      <p:sp>
        <p:nvSpPr>
          <p:cNvPr id="3" name="Text 1"/>
          <p:cNvSpPr/>
          <p:nvPr/>
        </p:nvSpPr>
        <p:spPr>
          <a:xfrm>
            <a:off x="812800" y="229106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171C"/>
                </a:solidFill>
                <a:latin typeface="Space Grotesk" pitchFamily="34" charset="0"/>
                <a:ea typeface="Space Grotesk" pitchFamily="34" charset="-122"/>
                <a:cs typeface="Space Grotesk" pitchFamily="34" charset="-120"/>
              </a:rPr>
              <a:t>Valid isn't correct.</a:t>
            </a:r>
            <a:endParaRPr lang="en-US" sz="6000" dirty="0"/>
          </a:p>
        </p:txBody>
      </p:sp>
      <p:sp>
        <p:nvSpPr>
          <p:cNvPr id="4" name="Text 2"/>
          <p:cNvSpPr/>
          <p:nvPr/>
        </p:nvSpPr>
        <p:spPr>
          <a:xfrm>
            <a:off x="812800" y="3357860"/>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4171C"/>
                </a:solidFill>
                <a:latin typeface="Space Grotesk" pitchFamily="34" charset="0"/>
                <a:ea typeface="Space Grotesk" pitchFamily="34" charset="-122"/>
                <a:cs typeface="Space Grotesk" pitchFamily="34" charset="-120"/>
              </a:rPr>
              <a:t>A System One model can return a confidently wrong probability that passes schema validation perfectly.</a:t>
            </a:r>
            <a:endParaRPr lang="en-US" sz="2000" dirty="0"/>
          </a:p>
        </p:txBody>
      </p:sp>
      <p:sp>
        <p:nvSpPr>
          <p:cNvPr id="5" name="Text 3"/>
          <p:cNvSpPr/>
          <p:nvPr/>
        </p:nvSpPr>
        <p:spPr>
          <a:xfrm>
            <a:off x="812800" y="4348460"/>
            <a:ext cx="91567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2A1A10"/>
                </a:solidFill>
                <a:latin typeface="Space Grotesk" pitchFamily="34" charset="0"/>
                <a:ea typeface="Space Grotesk" pitchFamily="34" charset="-122"/>
                <a:cs typeface="Space Grotesk" pitchFamily="34" charset="-120"/>
              </a:rPr>
              <a:t>On test items built to be undecidable, every model measured, Jev included, still answered with average confidence between 0.5 and 0.97.</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1A10"/>
                </a:solidFill>
                <a:latin typeface="Space Grotesk" pitchFamily="34" charset="0"/>
                <a:ea typeface="Space Grotesk" pitchFamily="34" charset="-122"/>
                <a:cs typeface="Space Grotesk" pitchFamily="34" charset="-120"/>
              </a:rPr>
              <a:t>Source: decisioncircuits.com scoreboard · Decide in code · 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It's not in Bedrock. Now what?</a:t>
            </a:r>
            <a:endParaRPr lang="en-US" sz="3600" dirty="0"/>
          </a:p>
        </p:txBody>
      </p:sp>
      <p:sp>
        <p:nvSpPr>
          <p:cNvPr id="3" name="Text 1"/>
          <p:cNvSpPr/>
          <p:nvPr/>
        </p:nvSpPr>
        <p:spPr>
          <a:xfrm>
            <a:off x="812800" y="16204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As of late September, Jev isn't in the Bedrock model catalog, and AWS hasn't announced a native integration. Three ways in:</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471390"/>
          <a:ext cx="10553700" cy="3159522"/>
        </p:xfrm>
        <a:graphic>
          <a:graphicData uri="http://schemas.openxmlformats.org/drawingml/2006/table">
            <a:tbl>
              <a:tblPr/>
              <a:tblGrid>
                <a:gridCol w="2638425"/>
                <a:gridCol w="2638425"/>
                <a:gridCol w="2638425"/>
                <a:gridCol w="2638425"/>
              </a:tblGrid>
              <a:tr h="540990">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Path</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What you run</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Data leaves your account?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Effort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1 · Vendor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Jev, through TypeSafe's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Low</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2 · Drop-in clone</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circuit-8b, hosted, same /v1/systemone contract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Swap one URL</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1038771">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3 · Own the weights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circuit-1.7b or 8b from Hugging Face on SageMaker or ECS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No</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Highest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open clones hold their own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235200"/>
        </p:xfrm>
        <a:graphic>
          <a:graphicData uri="http://schemas.openxmlformats.org/drawingml/2006/table">
            <a:tbl>
              <a:tblPr/>
              <a:tblGrid>
                <a:gridCol w="2110740"/>
                <a:gridCol w="2110740"/>
                <a:gridCol w="2110740"/>
                <a:gridCol w="2110740"/>
                <a:gridCol w="2110740"/>
              </a:tblGrid>
              <a:tr h="558800">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Model</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SMS spam</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151 intents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Utility calls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Latency</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Jev (TypeSafe)</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164 ms, API</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circuit-8b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95%</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93%</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178 ms, one A6000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circuit-1.7b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86%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92%</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175 ms, a laptop</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4" name="Text 1"/>
          <p:cNvSpPr/>
          <p:nvPr/>
        </p:nvSpPr>
        <p:spPr>
          <a:xfrm>
            <a:off x="812800" y="41731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circuit-1.7b was trained in 61 minutes on a single RTX 4090, and the weights are public on Hugging Face.</a:t>
            </a:r>
            <a:endParaRPr lang="en-US" sz="1500" dirty="0"/>
          </a:p>
        </p:txBody>
      </p:sp>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Author-reported accuracy, decisioncircuits.com. The circuit models trained on the spam and intent datasets; the utility calls are out of distribution.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Decision circuits: the model answers, code decides</a:t>
            </a:r>
            <a:endParaRPr lang="en-US" sz="3600" dirty="0"/>
          </a:p>
        </p:txBody>
      </p:sp>
      <p:sp>
        <p:nvSpPr>
          <p:cNvPr id="3" name="Text 1"/>
          <p:cNvSpPr/>
          <p:nvPr/>
        </p:nvSpPr>
        <p:spPr>
          <a:xfrm>
            <a:off x="812800" y="2174180"/>
            <a:ext cx="5969000" cy="2821732"/>
          </a:xfrm>
          <a:prstGeom prst="roundRect">
            <a:avLst>
              <a:gd name="adj" fmla="val 3601"/>
            </a:avLst>
          </a:prstGeom>
          <a:solidFill>
            <a:srgbClr val="1B1F26"/>
          </a:solidFill>
          <a:ln/>
        </p:spPr>
        <p:txBody>
          <a:bodyPr wrap="square" lIns="224242" tIns="224242" rIns="60412" bIns="224242" rtlCol="0" anchor="t">
            <a:normAutofit/>
          </a:bodyPr>
          <a:lstStyle/>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 = Circuit()</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c.noul("pii", "Contains personal info?")</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c.gate("redact", Q("pii") &gt;= 0.6,</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       band=0.1, on_uncertain="escalate")</a:t>
            </a:r>
            <a:endParaRPr lang="en-US" sz="1300" dirty="0"/>
          </a:p>
          <a:p>
            <a:pPr algn="l" indent="0" marL="0">
              <a:lnSpc>
                <a:spcPts val="2015"/>
              </a:lnSpc>
              <a:buNone/>
            </a:pP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out = c.run(api, msg, model="circuit-8b")</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{'value': True, 'p': 0.81,</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'outcome': 'decided'}</a:t>
            </a:r>
            <a:endParaRPr lang="en-US" sz="1300" dirty="0"/>
          </a:p>
        </p:txBody>
      </p:sp>
      <p:sp>
        <p:nvSpPr>
          <p:cNvPr id="4" name="Text 2"/>
          <p:cNvSpPr/>
          <p:nvPr/>
        </p:nvSpPr>
        <p:spPr>
          <a:xfrm>
            <a:off x="7035800" y="2174180"/>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Questions</a:t>
            </a:r>
            <a:endParaRPr lang="en-US" sz="1800" dirty="0"/>
          </a:p>
        </p:txBody>
      </p:sp>
      <p:sp>
        <p:nvSpPr>
          <p:cNvPr id="5" name="Text 3"/>
          <p:cNvSpPr/>
          <p:nvPr/>
        </p:nvSpPr>
        <p:spPr>
          <a:xfrm>
            <a:off x="7035800" y="249927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The model answers them with probabilities. It never sees the rules.</a:t>
            </a:r>
            <a:endParaRPr lang="en-US" sz="1400" dirty="0"/>
          </a:p>
        </p:txBody>
      </p:sp>
      <p:sp>
        <p:nvSpPr>
          <p:cNvPr id="6" name="Text 4"/>
          <p:cNvSpPr/>
          <p:nvPr/>
        </p:nvSpPr>
        <p:spPr>
          <a:xfrm>
            <a:off x="7035800" y="3182491"/>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Gates</a:t>
            </a:r>
            <a:endParaRPr lang="en-US" sz="1800" dirty="0"/>
          </a:p>
        </p:txBody>
      </p:sp>
      <p:sp>
        <p:nvSpPr>
          <p:cNvPr id="7" name="Text 5"/>
          <p:cNvSpPr/>
          <p:nvPr/>
        </p:nvSpPr>
        <p:spPr>
          <a:xfrm>
            <a:off x="7035800" y="350758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Thresholds, AND / OR / NOT, votes and checks, written in code.</a:t>
            </a:r>
            <a:endParaRPr lang="en-US" sz="1400" dirty="0"/>
          </a:p>
        </p:txBody>
      </p:sp>
      <p:sp>
        <p:nvSpPr>
          <p:cNvPr id="8" name="Text 6"/>
          <p:cNvSpPr/>
          <p:nvPr/>
        </p:nvSpPr>
        <p:spPr>
          <a:xfrm>
            <a:off x="7035800" y="4190802"/>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Traces</a:t>
            </a:r>
            <a:endParaRPr lang="en-US" sz="1800" dirty="0"/>
          </a:p>
        </p:txBody>
      </p:sp>
      <p:sp>
        <p:nvSpPr>
          <p:cNvPr id="9" name="Text 7"/>
          <p:cNvSpPr/>
          <p:nvPr/>
        </p:nvSpPr>
        <p:spPr>
          <a:xfrm>
            <a:off x="7035800" y="4515892"/>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Every decision keeps its probability, outcome and path.</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pip install decision-circuits · works with Jev or any model on the same API · Decide in code · 11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band is where people come back in</a:t>
            </a:r>
            <a:endParaRPr lang="en-US" sz="3600" dirty="0"/>
          </a:p>
        </p:txBody>
      </p:sp>
      <p:pic>
        <p:nvPicPr>
          <p:cNvPr id="3" name="Image 0" descr="A probability line from 0 to 1 with a threshold at 0.6 and an escalation band from 0.5 to 0.7. A probability of 0.81 is decided and redacted; 0.65 falls in the band and goes to a human.">    </p:cNvPr>
          <p:cNvPicPr>
            <a:picLocks noChangeAspect="1"/>
          </p:cNvPicPr>
          <p:nvPr/>
        </p:nvPicPr>
        <p:blipFill>
          <a:blip r:embed="rId1"/>
          <a:srcRect l="0" r="0" t="-55" b="-55"/>
          <a:stretch/>
        </p:blipFill>
        <p:spPr>
          <a:xfrm>
            <a:off x="812800" y="1671290"/>
            <a:ext cx="10566400" cy="2159000"/>
          </a:xfrm>
          <a:prstGeom prst="rect">
            <a:avLst/>
          </a:prstGeom>
        </p:spPr>
      </p:pic>
      <p:sp>
        <p:nvSpPr>
          <p:cNvPr id="4" name="Text 1"/>
          <p:cNvSpPr/>
          <p:nvPr/>
        </p:nvSpPr>
        <p:spPr>
          <a:xfrm>
            <a:off x="812800" y="418589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B1F26"/>
                </a:solidFill>
                <a:latin typeface="Space Grotesk" pitchFamily="34" charset="0"/>
                <a:ea typeface="Space Grotesk" pitchFamily="34" charset="-122"/>
                <a:cs typeface="Space Grotesk" pitchFamily="34" charset="-120"/>
              </a:rPr>
              <a:t>Near the line, the circuit says so instead of guessing. That's your human-in-the-loop, priced in a number the model actually reports.</a:t>
            </a:r>
            <a:endParaRPr lang="en-US" sz="1800" dirty="0"/>
          </a:p>
        </p:txBody>
      </p:sp>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Threshold 0.6, band ±0.1 · Decide in code · 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Tonight's demo: a PII and routing guard</a:t>
            </a:r>
            <a:endParaRPr lang="en-US" sz="3600" dirty="0"/>
          </a:p>
        </p:txBody>
      </p:sp>
      <p:pic>
        <p:nvPicPr>
          <p:cNvPr id="3" name="Image 0" descr="Architecture: a client calls API Gateway, which invokes a Lambda function. The Lambda reads an API key from Secrets Manager and sends typed questions to the hosted circuit-8b model. Decided messages are redacted or routed and logged with their trace in CloudWatch. Uncertain messages go to an SQS human-review queue, and Bedrock writes a summary for the reviewer.">    </p:cNvPr>
          <p:cNvPicPr>
            <a:picLocks noChangeAspect="1"/>
          </p:cNvPicPr>
          <p:nvPr/>
        </p:nvPicPr>
        <p:blipFill>
          <a:blip r:embed="rId1"/>
          <a:srcRect l="0" r="0" t="-31" b="-31"/>
          <a:stretch/>
        </p:blipFill>
        <p:spPr>
          <a:xfrm>
            <a:off x="812800" y="1620490"/>
            <a:ext cx="10566400" cy="3810000"/>
          </a:xfrm>
          <a:prstGeom prst="rect">
            <a:avLst/>
          </a:prstGeom>
        </p:spPr>
      </p:pic>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All of it defined in Terraform · Decide in code · 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18688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LIVE DEMO</a:t>
            </a:r>
            <a:endParaRPr lang="en-US" sz="1200" dirty="0"/>
          </a:p>
        </p:txBody>
      </p:sp>
      <p:sp>
        <p:nvSpPr>
          <p:cNvPr id="3" name="Text 1"/>
          <p:cNvSpPr/>
          <p:nvPr/>
        </p:nvSpPr>
        <p:spPr>
          <a:xfrm>
            <a:off x="812800" y="243780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4F1EA"/>
                </a:solidFill>
                <a:latin typeface="IBM Plex Mono" pitchFamily="34" charset="0"/>
                <a:ea typeface="IBM Plex Mono" pitchFamily="34" charset="-122"/>
                <a:cs typeface="IBM Plex Mono" pitchFamily="34" charset="-120"/>
              </a:rPr>
              <a:t>terraform apply</a:t>
            </a:r>
            <a:endParaRPr lang="en-US" sz="6000" dirty="0"/>
          </a:p>
        </p:txBody>
      </p:sp>
      <p:sp>
        <p:nvSpPr>
          <p:cNvPr id="4" name="Text 2"/>
          <p:cNvSpPr/>
          <p:nvPr/>
        </p:nvSpPr>
        <p:spPr>
          <a:xfrm>
            <a:off x="812800" y="355540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1</a:t>
            </a:r>
            <a:r>
              <a:rPr lang="en-US" sz="1800" dirty="0">
                <a:solidFill>
                  <a:srgbClr val="F4F1EA"/>
                </a:solidFill>
                <a:latin typeface="Space Grotesk" pitchFamily="34" charset="0"/>
                <a:ea typeface="Space Grotesk" pitchFamily="34" charset="-122"/>
                <a:cs typeface="Space Grotesk" pitchFamily="34" charset="-120"/>
              </a:rPr>
              <a:t>  A routine billing question: decided and routed</a:t>
            </a:r>
            <a:endParaRPr lang="en-US" sz="1800" dirty="0"/>
          </a:p>
        </p:txBody>
      </p:sp>
      <p:sp>
        <p:nvSpPr>
          <p:cNvPr id="5" name="Text 3"/>
          <p:cNvSpPr/>
          <p:nvPr/>
        </p:nvSpPr>
        <p:spPr>
          <a:xfrm>
            <a:off x="812800" y="401637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2</a:t>
            </a:r>
            <a:r>
              <a:rPr lang="en-US" sz="1800" dirty="0">
                <a:solidFill>
                  <a:srgbClr val="F4F1EA"/>
                </a:solidFill>
                <a:latin typeface="Space Grotesk" pitchFamily="34" charset="0"/>
                <a:ea typeface="Space Grotesk" pitchFamily="34" charset="-122"/>
                <a:cs typeface="Space Grotesk" pitchFamily="34" charset="-120"/>
              </a:rPr>
              <a:t>  A message with an account number: redacted</a:t>
            </a:r>
            <a:endParaRPr lang="en-US" sz="1800" dirty="0"/>
          </a:p>
        </p:txBody>
      </p:sp>
      <p:sp>
        <p:nvSpPr>
          <p:cNvPr id="6" name="Text 4"/>
          <p:cNvSpPr/>
          <p:nvPr/>
        </p:nvSpPr>
        <p:spPr>
          <a:xfrm>
            <a:off x="812800" y="447734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3</a:t>
            </a:r>
            <a:r>
              <a:rPr lang="en-US" sz="1800" dirty="0">
                <a:solidFill>
                  <a:srgbClr val="F4F1EA"/>
                </a:solidFill>
                <a:latin typeface="Space Grotesk" pitchFamily="34" charset="0"/>
                <a:ea typeface="Space Grotesk" pitchFamily="34" charset="-122"/>
                <a:cs typeface="Space Grotesk" pitchFamily="34" charset="-120"/>
              </a:rPr>
              <a:t>  A borderline one: sent to the review queue with a Bedrock summary</a:t>
            </a:r>
            <a:endParaRPr lang="en-US" sz="1800" dirty="0"/>
          </a:p>
        </p:txBody>
      </p:sp>
      <p:sp>
        <p:nvSpPr>
          <p:cNvPr id="8" name="Text 8"/>
          <p:cNvSpPr/>
          <p:nvPr/>
        </p:nvSpPr>
        <p:spPr>
          <a:xfrm>
            <a:off x="812800" y="4946904"/>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4</a:t>
            </a:r>
            <a:r>
              <a:rPr lang="en-US" sz="1800" dirty="0">
                <a:solidFill>
                  <a:srgbClr val="F4F1EA"/>
                </a:solidFill>
                <a:latin typeface="Space Grotesk" pitchFamily="34" charset="0"/>
                <a:ea typeface="Space Grotesk" pitchFamily="34" charset="-122"/>
                <a:cs typeface="Space Grotesk" pitchFamily="34" charset="-120"/>
              </a:rPr>
              <a:t>  Live change: add an “angry customer” question and gate, redeploy, try it</a:t>
            </a:r>
            <a:endParaRPr lang="en-US" sz="18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7ADB8"/>
                </a:solidFill>
                <a:latin typeface="Space Grotesk" pitchFamily="34" charset="0"/>
                <a:ea typeface="Space Grotesk" pitchFamily="34" charset="-122"/>
                <a:cs typeface="Space Grotesk" pitchFamily="34" charset="-120"/>
              </a:rPr>
              <a:t>Decide in code · 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Three things to take home</a:t>
            </a:r>
            <a:endParaRPr lang="en-US" sz="3600" dirty="0"/>
          </a:p>
        </p:txBody>
      </p:sp>
      <p:sp>
        <p:nvSpPr>
          <p:cNvPr id="3" name="Shape 1"/>
          <p:cNvSpPr/>
          <p:nvPr/>
        </p:nvSpPr>
        <p:spPr>
          <a:xfrm>
            <a:off x="815975" y="2425750"/>
            <a:ext cx="3380284" cy="1915071"/>
          </a:xfrm>
          <a:prstGeom prst="roundRect">
            <a:avLst>
              <a:gd name="adj" fmla="val 5139"/>
            </a:avLst>
          </a:prstGeom>
          <a:solidFill>
            <a:srgbClr val="FBFAF6"/>
          </a:solidFill>
          <a:ln w="6350">
            <a:solidFill>
              <a:srgbClr val="D9D3C5"/>
            </a:solidFill>
            <a:prstDash val="solid"/>
          </a:ln>
        </p:spPr>
      </p:sp>
      <p:sp>
        <p:nvSpPr>
          <p:cNvPr id="4" name="Text 2"/>
          <p:cNvSpPr/>
          <p:nvPr/>
        </p:nvSpPr>
        <p:spPr>
          <a:xfrm>
            <a:off x="1073150" y="2682925"/>
            <a:ext cx="295191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1</a:t>
            </a:r>
            <a:endParaRPr lang="en-US" sz="3600" dirty="0"/>
          </a:p>
        </p:txBody>
      </p:sp>
      <p:sp>
        <p:nvSpPr>
          <p:cNvPr id="5" name="Text 3"/>
          <p:cNvSpPr/>
          <p:nvPr/>
        </p:nvSpPr>
        <p:spPr>
          <a:xfrm>
            <a:off x="1073150" y="3241725"/>
            <a:ext cx="2951912" cy="58668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Find the decisions hiding in your LLM calls.</a:t>
            </a:r>
            <a:endParaRPr lang="en-US" sz="1700" dirty="0"/>
          </a:p>
        </p:txBody>
      </p:sp>
      <p:sp>
        <p:nvSpPr>
          <p:cNvPr id="6" name="Shape 4"/>
          <p:cNvSpPr/>
          <p:nvPr/>
        </p:nvSpPr>
        <p:spPr>
          <a:xfrm>
            <a:off x="4405809" y="2425750"/>
            <a:ext cx="3380333" cy="1915071"/>
          </a:xfrm>
          <a:prstGeom prst="roundRect">
            <a:avLst>
              <a:gd name="adj" fmla="val 5139"/>
            </a:avLst>
          </a:prstGeom>
          <a:solidFill>
            <a:srgbClr val="FBFAF6"/>
          </a:solidFill>
          <a:ln w="6350">
            <a:solidFill>
              <a:srgbClr val="D9D3C5"/>
            </a:solidFill>
            <a:prstDash val="solid"/>
          </a:ln>
        </p:spPr>
      </p:sp>
      <p:sp>
        <p:nvSpPr>
          <p:cNvPr id="7" name="Text 5"/>
          <p:cNvSpPr/>
          <p:nvPr/>
        </p:nvSpPr>
        <p:spPr>
          <a:xfrm>
            <a:off x="4662984"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2</a:t>
            </a:r>
            <a:endParaRPr lang="en-US" sz="3600" dirty="0"/>
          </a:p>
        </p:txBody>
      </p:sp>
      <p:sp>
        <p:nvSpPr>
          <p:cNvPr id="8" name="Text 6"/>
          <p:cNvSpPr/>
          <p:nvPr/>
        </p:nvSpPr>
        <p:spPr>
          <a:xfrm>
            <a:off x="4662984"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Let the model answer questions. Let code decide.</a:t>
            </a:r>
            <a:endParaRPr lang="en-US" sz="1700" dirty="0"/>
          </a:p>
        </p:txBody>
      </p:sp>
      <p:sp>
        <p:nvSpPr>
          <p:cNvPr id="9" name="Shape 7"/>
          <p:cNvSpPr/>
          <p:nvPr/>
        </p:nvSpPr>
        <p:spPr>
          <a:xfrm>
            <a:off x="7995692" y="2425750"/>
            <a:ext cx="3380333" cy="1915071"/>
          </a:xfrm>
          <a:prstGeom prst="roundRect">
            <a:avLst>
              <a:gd name="adj" fmla="val 5139"/>
            </a:avLst>
          </a:prstGeom>
          <a:solidFill>
            <a:srgbClr val="FBFAF6"/>
          </a:solidFill>
          <a:ln w="6350">
            <a:solidFill>
              <a:srgbClr val="D9D3C5"/>
            </a:solidFill>
            <a:prstDash val="solid"/>
          </a:ln>
        </p:spPr>
      </p:sp>
      <p:sp>
        <p:nvSpPr>
          <p:cNvPr id="10" name="Text 8"/>
          <p:cNvSpPr/>
          <p:nvPr/>
        </p:nvSpPr>
        <p:spPr>
          <a:xfrm>
            <a:off x="8252867"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3</a:t>
            </a:r>
            <a:endParaRPr lang="en-US" sz="3600" dirty="0"/>
          </a:p>
        </p:txBody>
      </p:sp>
      <p:sp>
        <p:nvSpPr>
          <p:cNvPr id="11" name="Text 9"/>
          <p:cNvSpPr/>
          <p:nvPr/>
        </p:nvSpPr>
        <p:spPr>
          <a:xfrm>
            <a:off x="8252867"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Don't wait for Bedrock: vendor API, drop-in clone, or your own weights.</a:t>
            </a:r>
            <a:endParaRPr lang="en-US" sz="1700" dirty="0"/>
          </a:p>
        </p:txBody>
      </p:sp>
      <p:sp>
        <p:nvSpPr>
          <p:cNvPr id="12" name="Text 10"/>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F26"/>
                </a:solidFill>
                <a:latin typeface="Space Grotesk" pitchFamily="34" charset="0"/>
                <a:ea typeface="Space Grotesk" pitchFamily="34" charset="-122"/>
                <a:cs typeface="Space Grotesk" pitchFamily="34" charset="-120"/>
              </a:rPr>
              <a:t>Questions?</a:t>
            </a:r>
            <a:endParaRPr lang="en-US" sz="2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decisioncircuits.com · typesafe.ai · Decide in code · 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“System One”?</a:t>
            </a:r>
            <a:endParaRPr lang="en-US" sz="3600" dirty="0"/>
          </a:p>
        </p:txBody>
      </p:sp>
      <p:sp>
        <p:nvSpPr>
          <p:cNvPr id="3" name="Shape 1"/>
          <p:cNvSpPr/>
          <p:nvPr/>
        </p:nvSpPr>
        <p:spPr>
          <a:xfrm>
            <a:off x="815975" y="1673352"/>
            <a:ext cx="5175250" cy="1783080"/>
          </a:xfrm>
          <a:prstGeom prst="roundRect">
            <a:avLst>
              <a:gd name="adj" fmla="val 8545"/>
            </a:avLst>
          </a:prstGeom>
          <a:solidFill>
            <a:srgbClr val="FBFAF6"/>
          </a:solidFill>
          <a:ln w="6350">
            <a:solidFill>
              <a:srgbClr val="D9D3C5"/>
            </a:solidFill>
            <a:prstDash val="solid"/>
          </a:ln>
        </p:spPr>
      </p:sp>
      <p:sp>
        <p:nvSpPr>
          <p:cNvPr id="4" name="Text 2"/>
          <p:cNvSpPr/>
          <p:nvPr/>
        </p:nvSpPr>
        <p:spPr>
          <a:xfrm>
            <a:off x="10731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2 · a chat LLM</a:t>
            </a:r>
            <a:endParaRPr lang="en-US" sz="2000" dirty="0"/>
          </a:p>
        </p:txBody>
      </p:sp>
      <p:sp>
        <p:nvSpPr>
          <p:cNvPr id="5" name="Text 3"/>
          <p:cNvSpPr/>
          <p:nvPr/>
        </p:nvSpPr>
        <p:spPr>
          <a:xfrm>
            <a:off x="10731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Writes its answer one token at a time. Great for language, slow for a yes/no, and you still have to parse what it wrote.</a:t>
            </a:r>
            <a:endParaRPr lang="en-US" sz="1400" dirty="0"/>
          </a:p>
        </p:txBody>
      </p:sp>
      <p:sp>
        <p:nvSpPr>
          <p:cNvPr id="6" name="Shape 4"/>
          <p:cNvSpPr/>
          <p:nvPr/>
        </p:nvSpPr>
        <p:spPr>
          <a:xfrm>
            <a:off x="6200775" y="1673352"/>
            <a:ext cx="5175250" cy="1783080"/>
          </a:xfrm>
          <a:prstGeom prst="roundRect">
            <a:avLst>
              <a:gd name="adj" fmla="val 8545"/>
            </a:avLst>
          </a:prstGeom>
          <a:solidFill>
            <a:srgbClr val="FBFAF6"/>
          </a:solidFill>
          <a:ln w="6350">
            <a:solidFill>
              <a:srgbClr val="D9D3C5"/>
            </a:solidFill>
            <a:prstDash val="solid"/>
          </a:ln>
        </p:spPr>
      </p:sp>
      <p:sp>
        <p:nvSpPr>
          <p:cNvPr id="7" name="Text 5"/>
          <p:cNvSpPr/>
          <p:nvPr/>
        </p:nvSpPr>
        <p:spPr>
          <a:xfrm>
            <a:off x="64579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One · Jev, circuit-8b</a:t>
            </a:r>
            <a:endParaRPr lang="en-US" sz="2000" dirty="0"/>
          </a:p>
        </p:txBody>
      </p:sp>
      <p:sp>
        <p:nvSpPr>
          <p:cNvPr id="8" name="Text 6"/>
          <p:cNvSpPr/>
          <p:nvPr/>
        </p:nvSpPr>
        <p:spPr>
          <a:xfrm>
            <a:off x="64579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Reads your state and questions once, then scores every allowed answer at the same time. Returns probabilities, never prose.</a:t>
            </a:r>
            <a:endParaRPr lang="en-US" sz="1400" dirty="0"/>
          </a:p>
        </p:txBody>
      </p:sp>
      <p:sp>
        <p:nvSpPr>
          <p:cNvPr id="9" name="Shape 7"/>
          <p:cNvSpPr/>
          <p:nvPr/>
        </p:nvSpPr>
        <p:spPr>
          <a:xfrm>
            <a:off x="815975" y="3657600"/>
            <a:ext cx="5175250" cy="1783080"/>
          </a:xfrm>
          <a:prstGeom prst="roundRect">
            <a:avLst>
              <a:gd name="adj" fmla="val 8545"/>
            </a:avLst>
          </a:prstGeom>
          <a:solidFill>
            <a:srgbClr val="FBFAF6"/>
          </a:solidFill>
          <a:ln w="6350">
            <a:solidFill>
              <a:srgbClr val="D9D3C5"/>
            </a:solidFill>
            <a:prstDash val="solid"/>
          </a:ln>
        </p:spPr>
      </p:sp>
      <p:sp>
        <p:nvSpPr>
          <p:cNvPr id="10" name="Text 8"/>
          <p:cNvSpPr/>
          <p:nvPr/>
        </p:nvSpPr>
        <p:spPr>
          <a:xfrm>
            <a:off x="10731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Under the hood (circuit-8b)</a:t>
            </a:r>
            <a:endParaRPr lang="en-US" sz="2000" dirty="0"/>
          </a:p>
        </p:txBody>
      </p:sp>
      <p:sp>
        <p:nvSpPr>
          <p:cNvPr id="11" name="Text 9"/>
          <p:cNvSpPr/>
          <p:nvPr/>
        </p:nvSpPr>
        <p:spPr>
          <a:xfrm>
            <a:off x="10731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An ordinary LLM body (Qwen3-8B) plus a small readout head. Each option gets a marker token; the head scores them all in one forward pass, then a softmax.</a:t>
            </a:r>
            <a:endParaRPr lang="en-US" sz="1400" dirty="0"/>
          </a:p>
        </p:txBody>
      </p:sp>
      <p:sp>
        <p:nvSpPr>
          <p:cNvPr id="12" name="Shape 10"/>
          <p:cNvSpPr/>
          <p:nvPr/>
        </p:nvSpPr>
        <p:spPr>
          <a:xfrm>
            <a:off x="6200775" y="3657600"/>
            <a:ext cx="5175250" cy="1783080"/>
          </a:xfrm>
          <a:prstGeom prst="roundRect">
            <a:avLst>
              <a:gd name="adj" fmla="val 8545"/>
            </a:avLst>
          </a:prstGeom>
          <a:solidFill>
            <a:srgbClr val="FBFAF6"/>
          </a:solidFill>
          <a:ln w="6350">
            <a:solidFill>
              <a:srgbClr val="D9D3C5"/>
            </a:solidFill>
            <a:prstDash val="solid"/>
          </a:ln>
        </p:spPr>
      </p:sp>
      <p:sp>
        <p:nvSpPr>
          <p:cNvPr id="13" name="Text 11"/>
          <p:cNvSpPr/>
          <p:nvPr/>
        </p:nvSpPr>
        <p:spPr>
          <a:xfrm>
            <a:off x="64579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Why the number is useful</a:t>
            </a:r>
            <a:endParaRPr lang="en-US" sz="2000" dirty="0"/>
          </a:p>
        </p:txBody>
      </p:sp>
      <p:sp>
        <p:nvSpPr>
          <p:cNvPr id="14" name="Text 12"/>
          <p:cNvSpPr/>
          <p:nvPr/>
        </p:nvSpPr>
        <p:spPr>
          <a:xfrm>
            <a:off x="64579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It's trained against real outcomes, so 0.8 should be right about 8 times in 10. That's what lets a threshold in code mean something.</a:t>
            </a:r>
            <a:endParaRPr lang="en-US" sz="1400" dirty="0"/>
          </a:p>
        </p:txBody>
      </p:sp>
      <p:sp>
        <p:nvSpPr>
          <p:cNvPr id="15" name="Text 13"/>
          <p:cNvSpPr/>
          <p:nvPr/>
        </p:nvSpPr>
        <p:spPr>
          <a:xfrm>
            <a:off x="812800" y="5650992"/>
            <a:ext cx="10883392" cy="36576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The name is Kahneman’s: System 1 answers fast, by instinct. System 2 reasons slowly, out loud.</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Kahneman, Thinking, Fast and Slow · circuit-8b model card, huggingface.co/jbarney · Decide in code · 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in Code: System One Models on AWS</dc:title>
  <dc:subject>PptxGenJS Presentation</dc:subject>
  <dc:creator>PptxGenJS</dc:creator>
  <cp:lastModifiedBy>PptxGenJS</cp:lastModifiedBy>
  <cp:revision>1</cp:revision>
  <dcterms:created xsi:type="dcterms:W3CDTF">2026-09-30T13:58:21Z</dcterms:created>
  <dcterms:modified xsi:type="dcterms:W3CDTF">2026-09-30T13:58:21Z</dcterms:modified>
</cp:coreProperties>
</file>