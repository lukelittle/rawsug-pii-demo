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1" r:id="rId22"/>
    <p:sldId id="257" r:id="rId3"/>
    <p:sldId id="258" r:id="rId4"/>
    <p:sldId id="259" r:id="rId5"/>
    <p:sldId id="270" r:id="rId21"/>
    <p:sldId id="272" r:id="rId23"/>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7.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 Id="rId22" Type="http://schemas.openxmlformats.org/officeDocument/2006/relationships/slide" Target="slides/slide2.xml"/><Relationship Id="rId2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Tonight is about a new kind of model that showed up two weeks ago, why it matters for anything you build with AI, and how to use it on AWS when it isn't in Bedrock. We'll finish with a live Terraform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Show of hands: who has a regex or a JSON parser wrapped around an LLM response in production? Keep your hand up if it has broken at least once. That's the smell this talk is about.</a:t>
            </a:r>
          </a:p>
          <a:p>
            <a:r>
              <a:t>We use a generative model, something built to write, and then we spend engineering time forcing its writing back into a single bit: yes or no, this team or that one. Tonight is about a kind of model that skips the writing entirely.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 Walk the four cards. Each is a real production call, and each has an answer space you knew before you called the model: yes/no, one of N teams, allow/block/ask, a probability.</a:t>
            </a:r>
          </a:p>
          <a:p>
            <a:r>
              <a:t>The point to land: if you already know every possible answer, you don't need the model to write one. You need it to tell you which one, and how sure it is. Keep this slide in mind; the next three explain how a model can do exactly that.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This is the whole interface. Walk it slowly, left then right.</a:t>
            </a:r>
          </a:p>
          <a:p>
            <a:r>
              <a:t>Left: you send two things. The state is whatever you're deciding about: a support message, a tool call, a JSON blob. The questions are typed: 'noul' is their name for a yes/no question; there's also 'choice' (pick one of a list) and 'score' (a level on a scale). You define the questions in plain English, per request.</a:t>
            </a:r>
          </a:p>
          <a:p>
            <a:r>
              <a:t>Right: you get back one number per answer. Here, 0.814 that this text contains PII. Not the word 'yes', not a paragraph: a probability.</a:t>
            </a:r>
          </a:p>
          <a:p>
            <a:r>
              <a:t>Say it plainly: nothing comes back that you didn't ask for, so there's nothing to parse and nothing to validate against a schema. One pass, and the answer space was fixed before the model ever ran.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 Now the market context. TypeSafe launched Jev on September 15 and coined 'System One model'. 70 to 500 milliseconds per call is their number, end to end. Zero words of prose: labels, scores and probabilities only.</a:t>
            </a:r>
          </a:p>
          <a:p>
            <a:r>
              <a:t>Be honest about maturity: it's two weeks old, early access, and the benchmarks are vendor-reported. The architecture idea is what's worth taking home, whoever's model you end up using.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 Four reasons an architect should care, one per card.</a:t>
            </a:r>
          </a:p>
          <a:p>
            <a:r>
              <a:t>Fast and cheap: one pass, no generation, hundreds of milliseconds.</a:t>
            </a:r>
          </a:p>
          <a:p>
            <a:r>
              <a:t>Always parseable: it cannot answer outside the questions you defined, so no regex over prose.</a:t>
            </a:r>
          </a:p>
          <a:p>
            <a:r>
              <a:t>Honest about doubt: every answer has a probability you can threshold. We'll use that in two slides.</a:t>
            </a:r>
          </a:p>
          <a:p>
            <a:r>
              <a:t>Auditable: question, probability, rule, outcome. For the financial-services folks: a model risk reviewer can read 'p = 0.81, threshold 0.6, decided' far more easily than a paragraph of chain-of-thought.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PIVOT. Slow down.</a:t>
            </a:r>
          </a:p>
          <a:p>
            <a:r>
              <a:t>Everything so far sounds like the model is trustworthy. Here's the catch: a schema guarantees shape, not truth. A System One model can return 0.9 on something it has no business being sure about, and that answer passes every validation check you have.</a:t>
            </a:r>
          </a:p>
          <a:p>
            <a:r>
              <a:t>The scoreboard number: on test items built to be undecidable, every model measured, Jev included, still answered with average confidence between 0.5 and 0.97. Calibrated on average doesn't mean right on this item.</a:t>
            </a:r>
          </a:p>
          <a:p>
            <a:r>
              <a:t>So the model shouldn't make the decision. It should answer questions, and your code should decide, with an explicit way to say 'I'm not sure, send it to a person'. That's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Whichever door you pick, the AWS pattern is the same: the model is a sidecar next to Bedrock, not a replacement. Key in Secrets Manager, a Lambda wrapper, thresholds before anything consequential. Path 3 is the answer for regulated shops that can't send customer data to a two-week-old vendor.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James Barney, who built these. Be fair about the footnote: the circuit models saw the public training splits for spam and intents, Jev presumably didn't. The utility-call column is the cleaner comparison, and Jev still leads it. The point isn't that the clone beats Jev; it's that a model you can host yourself is close enough to be a real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James's open-source library. Same idea as a policy engine: the model supplies evidence, your code applies the policy. Because the threshold lives in code, you can change it without retraining or re-prompting anything.</a:t>
            </a:r>
          </a:p>
          <a:p>
            <a:r>
              <a:t>The demo's redact gate is one step richer than this slide: it also asks 'are the identifying details about a business, not a person?' and redacts on (pii AND NOT business) &gt;= 0.6. The AND is just multiplication of the two probabilities; the trace shows it.</a:t>
            </a:r>
          </a:p>
          <a:p>
            <a:r>
              <a:t>Tie back to the System One slides: the questions here are exactly the typed questions from slide 5, and 'p' is the calibrated probability from slide 7. The gate is the part the model never sees.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This is where the calibrated number pays off.</a:t>
            </a:r>
          </a:p>
          <a:p>
            <a:r>
              <a:t>Threshold 0.6, band 0.1: anything clearly above 0.7 is decided 'redact', anything clearly below 0.5 is decided 'don't redact'. Between 0.5 and 0.7 the circuit refuses to guess and escalates to a human.</a:t>
            </a:r>
          </a:p>
          <a:p>
            <a:r>
              <a:t>0.81 is decided. 0.65 is in the band, so a person looks at it.</a:t>
            </a:r>
          </a:p>
          <a:p>
            <a:r>
              <a:t>Contrast with the usual trick of asking two LLMs and escalating when they disagree: disagreement was a stand-in for a confidence number we didn't have. Now we have the number, so the escalation rule is one line of code you can tune.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path left to right. The only thing outside AWS is the model call, and swapping it for Jev or a SageMaker endpoint is one Terraform value (model_endpoint).</a:t>
            </a:r>
            <a:endParaRPr lang="en-US" dirty="0"/>
          </a:p>
          <a:p>
            <a:r>
              <a:rPr lang="en-US" dirty="0"/>
              <a:t>Bedrock only runs on the uncertain cases, and only to write a two-sentence note for the human reviewer (Amazon Nova 2 Lite). The generative model never makes the decision; it explains one the circuit already made. The API key lives in Secrets Manager and never touches Terraform state; the route requires IAM-signed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TALK: the stack is already deployed. 30 minutes out, run scripts/preflight.sh (every line should say ok), then leave scripts/warmup.sh --keep-warm running in a second terminal. The hosted model scales to zero; a cold first call takes about a minute.</a:t>
            </a:r>
            <a:endParaRPr lang="en-US" dirty="0"/>
          </a:p>
          <a:p>
            <a:r>
              <a:rPr lang="en-US" dirty="0"/>
              <a:t>1-3: run scripts/demo.sh --step and press Enter before each message. Point at the gate probabilities in each response: 1 is routed (redact p is tiny), 2 is redacted and routed, 3 lands in the band and comes back 202 with the Nova summary. Then show the queue (aws sqs receive-message, in the README) or the trace in CloudWatch.</a:t>
            </a:r>
            <a:endParaRPr lang="en-US" dirty="0"/>
          </a:p>
          <a:p>
            <a:r>
              <a:rPr lang="en-US" dirty="0"/>
              <a:t>4: open lambda/circuit.py. Add c.noul("angry", "Is the customer angry?") and c.gate("angry_to_human", Q("angry") &gt;= 0.7, on_uncertain="escalate"), and set REVIEW_WHEN_TRUE = ["angry_to_human"]. Run scripts/deploy.sh: it compiles, runs the tests, then terraform apply, about 10 seconds. Then scripts/demo.sh "This is the THIRD time you've double charged me. Fix it today or I'm cancelling." It should come back 202, reason angry_to_human.</a:t>
            </a:r>
            <a:endParaRPr lang="en-US" dirty="0"/>
          </a:p>
          <a:p>
            <a:r>
              <a:rPr lang="en-US" dirty="0"/>
              <a:t>IF IT BREAKS: a 503 means the model went cold, so run scripts/warmup.sh and keep talking about the band slide. If the network is gone, fall back to the recorded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James for the models and the library. Point people at the Decision Circuits API if they want to try it tonight: free keys, no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 min] THE KEY SLIDE. Go slowly; the rest of the talk depends on it.</a:t>
            </a:r>
          </a:p>
          <a:p>
            <a:r>
              <a:t>The name is Kahneman's, from Thinking, Fast and Slow. System 2 is slow, deliberate reasoning: working out 17 x 24 in your head. System 1 is the snap judgment: you see a face and just know it's angry. You don't reason it out.</a:t>
            </a:r>
          </a:p>
          <a:p>
            <a:r>
              <a:t>A chat LLM writing an answer word by word is System 2 behaviour, even for a yes/no. A System One model is built for the snap judgment: it reads your state and questions once and scores every allowed answer at the same time.</a:t>
            </a:r>
          </a:p>
          <a:p>
            <a:r>
              <a:t>Bottom-left, how (circuit-8b is open, so we can look): an ordinary 8-billion-parameter language model with a small extra layer on top that turns its reading of the input into scores for each allowed answer. Next slide shows it step by step.</a:t>
            </a:r>
          </a:p>
          <a:p>
            <a:r>
              <a:t>Bottom-right, why the number is worth anything: the model is trained against real outcomes so its probabilities are calibrated. Calibration means that across everything it said 0.8 about, it's right about 80% of the time. That's what lets you put a threshold in code and have it mean something.</a:t>
            </a:r>
          </a:p>
          <a:p>
            <a:r>
              <a:t>If asked 'so it's a classifier?': yes, in spirit. The new part is that you define the classes per request, in English, with no training run.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seconds, max: they came for System One, not my resume. I run intelligent data and cloud at Ippon, which mostly means helping teams ship AI without giving compliance a heart attack. Why I care about tonight's topic: most of the AI calls I see in production are decisions dressed up as prose, and we keep parsing them with regex. The QR code is my LinkedIn if you want the repo or the slides afterwards. Okay: let's talk about why we keep hiring a novelist to answer yes-or-no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Walk the four steps, then point at the example.</a:t>
            </a:r>
          </a:p>
          <a:p>
            <a:r>
              <a:t>1 Pack: the state and all the questions, with their allowed answers, go in as one input. One call answers every question.</a:t>
            </a:r>
          </a:p>
          <a:p>
            <a:r>
              <a:t>2 Mark: each allowed answer is wrapped in special marker tokens, and the input ends with a 'decide' token. Think of the markers as slots the model will fill with a score.</a:t>
            </a:r>
          </a:p>
          <a:p>
            <a:r>
              <a:t>3 Read once: one forward pass. The model reads the input the way an LLM reads your prompt, but it never starts writing. That's where the speed comes from: an LLM spends most of its time generating tokens one after another; this skips that part completely.</a:t>
            </a:r>
          </a:p>
          <a:p>
            <a:r>
              <a:t>4 Score: a small extra layer compares each answer's marker with the decide token and gives it a score. A softmax turns the scores into probabilities that add up to 1.</a:t>
            </a:r>
          </a:p>
          <a:p>
            <a:r>
              <a:t>Right side: the support message 'charged twice, refund one'. Three numbers come back: billing 0.93, technical 0.05, other 0.02. Your code reads 0.93 and routes to billing. An LLM would have to write the word 'billing', and you'd hope it spelled it the way your router expects. (These numbers are illustrative; the live demo shows real ones.)</a:t>
            </a:r>
          </a:p>
          <a:p>
            <a:r>
              <a:t>This is circuit-8b's published design. Jev's internals aren't public; TypeSafe describes a 'parallel sampler' and a training method they call RLCD, aimed at calibrated decisions. Same contract, same idea.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RICHMOND AWS USER GROUP · OCTOBER 1, 2026</a:t>
            </a:r>
            <a:endParaRPr lang="en-US" sz="1200" dirty="0"/>
          </a:p>
        </p:txBody>
      </p:sp>
      <p:sp>
        <p:nvSpPr>
          <p:cNvPr id="3" name="Text 1"/>
          <p:cNvSpPr/>
          <p:nvPr/>
        </p:nvSpPr>
        <p:spPr>
          <a:xfrm>
            <a:off x="812800" y="2653010"/>
            <a:ext cx="10883392" cy="939800"/>
          </a:xfrm>
          <a:prstGeom prst="rect">
            <a:avLst/>
          </a:prstGeom>
          <a:noFill/>
          <a:ln/>
        </p:spPr>
        <p:txBody>
          <a:bodyPr wrap="square" lIns="0" tIns="0" rIns="0" bIns="0" rtlCol="0" anchor="t">
            <a:normAutofit/>
          </a:bodyPr>
          <a:lstStyle/>
          <a:p>
            <a:pPr algn="l" indent="0" marL="0">
              <a:lnSpc>
                <a:spcPts val="7200"/>
              </a:lnSpc>
              <a:buNone/>
            </a:pPr>
            <a:r>
              <a:rPr lang="en-US" sz="7200" b="1" dirty="0">
                <a:solidFill>
                  <a:srgbClr val="F4F1EA"/>
                </a:solidFill>
                <a:latin typeface="Space Grotesk" pitchFamily="34" charset="0"/>
                <a:ea typeface="Space Grotesk" pitchFamily="34" charset="-122"/>
                <a:cs typeface="Space Grotesk" pitchFamily="34" charset="-120"/>
              </a:rPr>
              <a:t>Decide in code.</a:t>
            </a:r>
            <a:endParaRPr lang="en-US" sz="7200" dirty="0"/>
          </a:p>
        </p:txBody>
      </p:sp>
      <p:sp>
        <p:nvSpPr>
          <p:cNvPr id="4" name="Text 2"/>
          <p:cNvSpPr/>
          <p:nvPr/>
        </p:nvSpPr>
        <p:spPr>
          <a:xfrm>
            <a:off x="812800" y="3821410"/>
            <a:ext cx="8502650" cy="355600"/>
          </a:xfrm>
          <a:prstGeom prst="rect">
            <a:avLst/>
          </a:prstGeom>
          <a:noFill/>
          <a:ln/>
        </p:spPr>
        <p:txBody>
          <a:bodyPr wrap="square" lIns="0" tIns="0" rIns="0" bIns="0" rtlCol="0" anchor="t">
            <a:normAutofit/>
          </a:bodyPr>
          <a:lstStyle/>
          <a:p>
            <a:pPr algn="l" indent="0" marL="0">
              <a:lnSpc>
                <a:spcPts val="2600"/>
              </a:lnSpc>
              <a:buNone/>
            </a:pPr>
            <a:r>
              <a:rPr lang="en-US" sz="2000" dirty="0">
                <a:solidFill>
                  <a:srgbClr val="C9CCD3"/>
                </a:solidFill>
                <a:latin typeface="Space Grotesk" pitchFamily="34" charset="0"/>
                <a:ea typeface="Space Grotesk" pitchFamily="34" charset="-122"/>
                <a:cs typeface="Space Grotesk" pitchFamily="34" charset="-120"/>
              </a:rPr>
              <a:t>System One models, and how to run one on AWS before AWS does</a:t>
            </a:r>
            <a:endParaRPr lang="en-US" sz="2000" dirty="0"/>
          </a:p>
        </p:txBody>
      </p:sp>
      <p:sp>
        <p:nvSpPr>
          <p:cNvPr id="5" name="Text 3"/>
          <p:cNvSpPr/>
          <p:nvPr/>
        </p:nvSpPr>
        <p:spPr>
          <a:xfrm>
            <a:off x="812800" y="57785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A7ADB8"/>
                </a:solidFill>
                <a:latin typeface="Space Grotesk" pitchFamily="34" charset="0"/>
                <a:ea typeface="Space Grotesk" pitchFamily="34" charset="-122"/>
                <a:cs typeface="Space Grotesk" pitchFamily="34" charset="-120"/>
              </a:rPr>
              <a:t>Lucas · Head of Intelligent Data &amp; Cloud, Ippon Technologies</a:t>
            </a:r>
            <a:endParaRPr lang="en-US" sz="15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566928"/>
            <a:ext cx="10515600" cy="274320"/>
          </a:xfrm>
          <a:prstGeom prst="rect">
            <a:avLst/>
          </a:prstGeom>
          <a:noFill/>
        </p:spPr>
        <p:txBody>
          <a:bodyPr wrap="square" anchor="t" lIns="0" rIns="0" tIns="0" bIns="0">
            <a:spAutoFit/>
          </a:bodyPr>
          <a:lstStyle/>
          <a:p>
            <a:r>
              <a:rPr sz="1200" b="1">
                <a:solidFill>
                  <a:srgbClr val="B4521A"/>
                </a:solidFill>
                <a:latin typeface="Space Grotesk"/>
              </a:rPr>
              <a:t>WHO'S TALKING AT YOU FOR THE NEXT 45 MINUTES</a:t>
            </a:r>
          </a:p>
        </p:txBody>
      </p:sp>
      <p:sp>
        <p:nvSpPr>
          <p:cNvPr id="3" name="TextBox 2"/>
          <p:cNvSpPr txBox="1"/>
          <p:nvPr/>
        </p:nvSpPr>
        <p:spPr>
          <a:xfrm>
            <a:off x="813816" y="868680"/>
            <a:ext cx="10515600" cy="731520"/>
          </a:xfrm>
          <a:prstGeom prst="rect">
            <a:avLst/>
          </a:prstGeom>
          <a:noFill/>
        </p:spPr>
        <p:txBody>
          <a:bodyPr wrap="square" anchor="t" lIns="0" rIns="0" tIns="0" bIns="0">
            <a:spAutoFit/>
          </a:bodyPr>
          <a:lstStyle/>
          <a:p>
            <a:r>
              <a:rPr sz="4000" b="1">
                <a:solidFill>
                  <a:srgbClr val="1B1F26"/>
                </a:solidFill>
                <a:latin typeface="Space Grotesk"/>
              </a:rPr>
              <a:t>Hi, I'm Lucas</a:t>
            </a:r>
          </a:p>
        </p:txBody>
      </p:sp>
      <p:pic>
        <p:nvPicPr>
          <p:cNvPr id="4" name="Photo of Lucas" descr="Lucas Little, mid-kick on a cobblestone street"/>
          <p:cNvPicPr>
            <a:picLocks noChangeAspect="1"/>
          </p:cNvPicPr>
          <p:nvPr/>
        </p:nvPicPr>
        <p:blipFill>
          <a:blip r:embed="rId2"/>
          <a:stretch>
            <a:fillRect/>
          </a:stretch>
        </p:blipFill>
        <p:spPr>
          <a:xfrm>
            <a:off x="813816" y="1783080"/>
            <a:ext cx="2729269" cy="4114800"/>
          </a:xfrm>
          <a:prstGeom prst="rect">
            <a:avLst/>
          </a:prstGeom>
        </p:spPr>
      </p:pic>
      <p:sp>
        <p:nvSpPr>
          <p:cNvPr id="5" name="Rounded Rectangle 4"/>
          <p:cNvSpPr/>
          <p:nvPr/>
        </p:nvSpPr>
        <p:spPr>
          <a:xfrm>
            <a:off x="3908845" y="1783080"/>
            <a:ext cx="5317450" cy="1280160"/>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64877" y="1947672"/>
            <a:ext cx="4860250" cy="1042415"/>
          </a:xfrm>
          <a:prstGeom prst="rect">
            <a:avLst/>
          </a:prstGeom>
          <a:noFill/>
        </p:spPr>
        <p:txBody>
          <a:bodyPr wrap="square" anchor="t" lIns="0" rIns="0" tIns="0" bIns="0">
            <a:spAutoFit/>
          </a:bodyPr>
          <a:lstStyle/>
          <a:p>
            <a:r>
              <a:rPr sz="1800" b="1">
                <a:solidFill>
                  <a:srgbClr val="1B1F26"/>
                </a:solidFill>
                <a:latin typeface="Space Grotesk"/>
              </a:rPr>
              <a:t>What I do</a:t>
            </a:r>
          </a:p>
          <a:p>
            <a:pPr>
              <a:spcBef>
                <a:spcPts val="200"/>
              </a:spcBef>
            </a:pPr>
            <a:r>
              <a:rPr sz="1200" b="0">
                <a:solidFill>
                  <a:srgbClr val="5B6270"/>
                </a:solidFill>
                <a:latin typeface="Space Grotesk"/>
              </a:rPr>
              <a:t>Head of Intelligent Data &amp; Cloud @ Ippon</a:t>
            </a:r>
          </a:p>
          <a:p>
            <a:pPr>
              <a:spcBef>
                <a:spcPts val="200"/>
              </a:spcBef>
            </a:pPr>
            <a:r>
              <a:rPr sz="1200" b="0">
                <a:solidFill>
                  <a:srgbClr val="5B6270"/>
                </a:solidFill>
                <a:latin typeface="Space Grotesk"/>
              </a:rPr>
              <a:t>Duke MBA Candidate · AWS SME</a:t>
            </a:r>
          </a:p>
          <a:p>
            <a:pPr>
              <a:spcBef>
                <a:spcPts val="200"/>
              </a:spcBef>
            </a:pPr>
            <a:r>
              <a:rPr sz="1200" b="0">
                <a:solidFill>
                  <a:srgbClr val="5B6270"/>
                </a:solidFill>
                <a:latin typeface="Space Grotesk"/>
              </a:rPr>
              <a:t>UNC Charlotte Alumni Board Director</a:t>
            </a:r>
          </a:p>
        </p:txBody>
      </p:sp>
      <p:sp>
        <p:nvSpPr>
          <p:cNvPr id="7" name="Rounded Rectangle 6"/>
          <p:cNvSpPr/>
          <p:nvPr/>
        </p:nvSpPr>
        <p:spPr>
          <a:xfrm>
            <a:off x="3908845" y="3209544"/>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4877" y="3374136"/>
            <a:ext cx="4860250" cy="694944"/>
          </a:xfrm>
          <a:prstGeom prst="rect">
            <a:avLst/>
          </a:prstGeom>
          <a:noFill/>
        </p:spPr>
        <p:txBody>
          <a:bodyPr wrap="square" anchor="t" lIns="0" rIns="0" tIns="0" bIns="0">
            <a:spAutoFit/>
          </a:bodyPr>
          <a:lstStyle/>
          <a:p>
            <a:r>
              <a:rPr sz="1800" b="1">
                <a:solidFill>
                  <a:srgbClr val="1B1F26"/>
                </a:solidFill>
                <a:latin typeface="Space Grotesk"/>
              </a:rPr>
              <a:t>Snipe me about</a:t>
            </a:r>
          </a:p>
          <a:p>
            <a:pPr>
              <a:spcBef>
                <a:spcPts val="200"/>
              </a:spcBef>
            </a:pPr>
            <a:r>
              <a:rPr sz="1200" b="0">
                <a:solidFill>
                  <a:srgbClr val="5B6270"/>
                </a:solidFill>
                <a:latin typeface="Space Grotesk"/>
              </a:rPr>
              <a:t>AWS · Bedrock · Minecraft · plant YouTubers · financial services</a:t>
            </a:r>
          </a:p>
        </p:txBody>
      </p:sp>
      <p:sp>
        <p:nvSpPr>
          <p:cNvPr id="9" name="Rounded Rectangle 8"/>
          <p:cNvSpPr/>
          <p:nvPr/>
        </p:nvSpPr>
        <p:spPr>
          <a:xfrm>
            <a:off x="3908845" y="4288536"/>
            <a:ext cx="5317450" cy="932688"/>
          </a:xfrm>
          <a:prstGeom prst="roundRect">
            <a:avLst>
              <a:gd name="adj" fmla="val 8000"/>
            </a:avLst>
          </a:prstGeom>
          <a:solidFill>
            <a:srgbClr val="FBFAF6"/>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64877" y="4453127"/>
            <a:ext cx="4860250" cy="694944"/>
          </a:xfrm>
          <a:prstGeom prst="rect">
            <a:avLst/>
          </a:prstGeom>
          <a:noFill/>
        </p:spPr>
        <p:txBody>
          <a:bodyPr wrap="square" anchor="t" lIns="0" rIns="0" tIns="0" bIns="0">
            <a:spAutoFit/>
          </a:bodyPr>
          <a:lstStyle/>
          <a:p>
            <a:r>
              <a:rPr sz="1800" b="1">
                <a:solidFill>
                  <a:srgbClr val="1B1F26"/>
                </a:solidFill>
                <a:latin typeface="Space Grotesk"/>
              </a:rPr>
              <a:t>Denied topics</a:t>
            </a:r>
          </a:p>
          <a:p>
            <a:pPr>
              <a:spcBef>
                <a:spcPts val="200"/>
              </a:spcBef>
            </a:pPr>
            <a:r>
              <a:rPr sz="1200" b="0">
                <a:solidFill>
                  <a:srgbClr val="5B6270"/>
                </a:solidFill>
                <a:latin typeface="Space Grotesk"/>
              </a:rPr>
              <a:t>Kubernetes · Azure · Roblox · my econ midterm</a:t>
            </a:r>
          </a:p>
        </p:txBody>
      </p:sp>
      <p:sp>
        <p:nvSpPr>
          <p:cNvPr id="11" name="Rounded Rectangle 10"/>
          <p:cNvSpPr/>
          <p:nvPr/>
        </p:nvSpPr>
        <p:spPr>
          <a:xfrm>
            <a:off x="9454896" y="1783080"/>
            <a:ext cx="1920240" cy="3438143"/>
          </a:xfrm>
          <a:prstGeom prst="roundRect">
            <a:avLst>
              <a:gd name="adj" fmla="val 8000"/>
            </a:avLst>
          </a:prstGeom>
          <a:solidFill>
            <a:srgbClr val="FFFFFF"/>
          </a:solidFill>
          <a:ln w="9525">
            <a:solidFill>
              <a:srgbClr val="D9D3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LinkedIn QR code" descr="QR code linking to linkedin.com/in/lucaslittle"/>
          <p:cNvPicPr>
            <a:picLocks noChangeAspect="1"/>
          </p:cNvPicPr>
          <p:nvPr/>
        </p:nvPicPr>
        <p:blipFill>
          <a:blip r:embed="rId3"/>
          <a:stretch>
            <a:fillRect/>
          </a:stretch>
        </p:blipFill>
        <p:spPr>
          <a:xfrm>
            <a:off x="9637776" y="2423159"/>
            <a:ext cx="1554480" cy="1554480"/>
          </a:xfrm>
          <a:prstGeom prst="rect">
            <a:avLst/>
          </a:prstGeom>
        </p:spPr>
      </p:pic>
      <p:sp>
        <p:nvSpPr>
          <p:cNvPr id="13" name="TextBox 12"/>
          <p:cNvSpPr txBox="1"/>
          <p:nvPr/>
        </p:nvSpPr>
        <p:spPr>
          <a:xfrm>
            <a:off x="9546336" y="4123944"/>
            <a:ext cx="1737360" cy="457200"/>
          </a:xfrm>
          <a:prstGeom prst="rect">
            <a:avLst/>
          </a:prstGeom>
          <a:noFill/>
        </p:spPr>
        <p:txBody>
          <a:bodyPr wrap="square" anchor="t" lIns="0" rIns="0" tIns="0" bIns="0">
            <a:spAutoFit/>
          </a:bodyPr>
          <a:lstStyle/>
          <a:p>
            <a:pPr algn="ctr"/>
            <a:r>
              <a:rPr sz="1300" b="1">
                <a:solidFill>
                  <a:srgbClr val="1B1F26"/>
                </a:solidFill>
                <a:latin typeface="Space Grotesk"/>
              </a:rPr>
              <a:t>Scan for LinkedIn</a:t>
            </a:r>
          </a:p>
          <a:p>
            <a:pPr algn="ctr"/>
            <a:r>
              <a:rPr sz="1100" b="0">
                <a:solidFill>
                  <a:srgbClr val="5B6270"/>
                </a:solidFill>
                <a:latin typeface="IBM Plex Mono"/>
              </a:rPr>
              <a:t>in/lucaslittle</a:t>
            </a:r>
          </a:p>
        </p:txBody>
      </p:sp>
      <p:sp>
        <p:nvSpPr>
          <p:cNvPr id="14" name="Rounded Rectangle 13"/>
          <p:cNvSpPr/>
          <p:nvPr/>
        </p:nvSpPr>
        <p:spPr>
          <a:xfrm>
            <a:off x="3908845" y="5422392"/>
            <a:ext cx="7466290" cy="475488"/>
          </a:xfrm>
          <a:prstGeom prst="roundRect">
            <a:avLst>
              <a:gd name="adj" fmla="val 50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83165" y="5422392"/>
            <a:ext cx="6917650" cy="475488"/>
          </a:xfrm>
          <a:prstGeom prst="rect">
            <a:avLst/>
          </a:prstGeom>
          <a:noFill/>
        </p:spPr>
        <p:txBody>
          <a:bodyPr wrap="square" anchor="ctr" lIns="0" rIns="0" tIns="0" bIns="0">
            <a:spAutoFit/>
          </a:bodyPr>
          <a:lstStyle/>
          <a:p>
            <a:r>
              <a:rPr sz="1400" b="1">
                <a:solidFill>
                  <a:srgbClr val="F4F1EA"/>
                </a:solidFill>
                <a:latin typeface="IBM Plex Mono"/>
              </a:rPr>
              <a:t>in/lucaslittle</a:t>
            </a:r>
            <a:r>
              <a:rPr sz="1400" b="0">
                <a:solidFill>
                  <a:srgbClr val="C3C0BB"/>
                </a:solidFill>
                <a:latin typeface="Space Grotesk"/>
              </a:rPr>
              <a:t>     ·     llittle@ipponusa.com     ·     Ask me anything after</a:t>
            </a:r>
          </a:p>
        </p:txBody>
      </p:sp>
      <p:sp>
        <p:nvSpPr>
          <p:cNvPr id="16" name="TextBox 15"/>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Decide in code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19490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21A"/>
                </a:solidFill>
                <a:latin typeface="IBM Plex Mono" pitchFamily="34" charset="0"/>
                <a:ea typeface="IBM Plex Mono" pitchFamily="34" charset="-122"/>
                <a:cs typeface="IBM Plex Mono" pitchFamily="34" charset="-120"/>
              </a:rPr>
              <a:t>THE PROBLEM</a:t>
            </a:r>
            <a:endParaRPr lang="en-US" sz="1200" dirty="0"/>
          </a:p>
        </p:txBody>
      </p:sp>
      <p:sp>
        <p:nvSpPr>
          <p:cNvPr id="3" name="Text 1"/>
          <p:cNvSpPr/>
          <p:nvPr/>
        </p:nvSpPr>
        <p:spPr>
          <a:xfrm>
            <a:off x="812800" y="2467124"/>
            <a:ext cx="9810750" cy="1342132"/>
          </a:xfrm>
          <a:prstGeom prst="rect">
            <a:avLst/>
          </a:prstGeom>
          <a:noFill/>
          <a:ln/>
        </p:spPr>
        <p:txBody>
          <a:bodyPr wrap="square" lIns="0" tIns="0" rIns="0" bIns="0" rtlCol="0" anchor="t">
            <a:normAutofit/>
          </a:bodyPr>
          <a:lstStyle/>
          <a:p>
            <a:pPr algn="l" indent="0" marL="0">
              <a:lnSpc>
                <a:spcPts val="5184"/>
              </a:lnSpc>
              <a:buNone/>
            </a:pPr>
            <a:r>
              <a:rPr lang="en-US" sz="4800" b="1" dirty="0">
                <a:solidFill>
                  <a:srgbClr val="1B1F26"/>
                </a:solidFill>
                <a:latin typeface="Space Grotesk" pitchFamily="34" charset="0"/>
                <a:ea typeface="Space Grotesk" pitchFamily="34" charset="-122"/>
                <a:cs typeface="Space Grotesk" pitchFamily="34" charset="-120"/>
              </a:rPr>
              <a:t>We keep hiring a novelist to answer yes-or-no questions.</a:t>
            </a:r>
            <a:endParaRPr lang="en-US" sz="4800" dirty="0"/>
          </a:p>
        </p:txBody>
      </p:sp>
      <p:sp>
        <p:nvSpPr>
          <p:cNvPr id="4" name="Text 2"/>
          <p:cNvSpPr/>
          <p:nvPr/>
        </p:nvSpPr>
        <p:spPr>
          <a:xfrm>
            <a:off x="812800" y="4088656"/>
            <a:ext cx="85026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5B6270"/>
                </a:solidFill>
                <a:latin typeface="Space Grotesk" pitchFamily="34" charset="0"/>
                <a:ea typeface="Space Grotesk" pitchFamily="34" charset="-122"/>
                <a:cs typeface="Space Grotesk" pitchFamily="34" charset="-120"/>
              </a:rPr>
              <a:t>Most production AI calls aren't asking for writing. They're asking for a decision. Then we parse the prose and hope.</a:t>
            </a:r>
            <a:endParaRPr lang="en-US" sz="18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Most AI calls are decisions in disguise</a:t>
            </a:r>
            <a:endParaRPr lang="en-US" sz="3600" dirty="0"/>
          </a:p>
        </p:txBody>
      </p:sp>
      <p:sp>
        <p:nvSpPr>
          <p:cNvPr id="3" name="Shape 1"/>
          <p:cNvSpPr/>
          <p:nvPr/>
        </p:nvSpPr>
        <p:spPr>
          <a:xfrm>
            <a:off x="8159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message spam?</a:t>
            </a:r>
            <a:endParaRPr lang="en-US" sz="2000" dirty="0"/>
          </a:p>
        </p:txBody>
      </p:sp>
      <p:sp>
        <p:nvSpPr>
          <p:cNvPr id="5" name="Text 3"/>
          <p:cNvSpPr/>
          <p:nvPr/>
        </p:nvSpPr>
        <p:spPr>
          <a:xfrm>
            <a:off x="10731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yes / no</a:t>
            </a:r>
            <a:endParaRPr lang="en-US" sz="1300" dirty="0"/>
          </a:p>
        </p:txBody>
      </p:sp>
      <p:sp>
        <p:nvSpPr>
          <p:cNvPr id="6" name="Shape 4"/>
          <p:cNvSpPr/>
          <p:nvPr/>
        </p:nvSpPr>
        <p:spPr>
          <a:xfrm>
            <a:off x="6200775" y="1674465"/>
            <a:ext cx="5175250" cy="11518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Which team gets this ticket?</a:t>
            </a:r>
            <a:endParaRPr lang="en-US" sz="2000" dirty="0"/>
          </a:p>
        </p:txBody>
      </p:sp>
      <p:sp>
        <p:nvSpPr>
          <p:cNvPr id="8" name="Text 6"/>
          <p:cNvSpPr/>
          <p:nvPr/>
        </p:nvSpPr>
        <p:spPr>
          <a:xfrm>
            <a:off x="6457950" y="233804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one of N options</a:t>
            </a:r>
            <a:endParaRPr lang="en-US" sz="1300" dirty="0"/>
          </a:p>
        </p:txBody>
      </p:sp>
      <p:sp>
        <p:nvSpPr>
          <p:cNvPr id="9" name="Shape 7"/>
          <p:cNvSpPr/>
          <p:nvPr/>
        </p:nvSpPr>
        <p:spPr>
          <a:xfrm>
            <a:off x="8159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Is this agent's tool call safe?</a:t>
            </a:r>
            <a:endParaRPr lang="en-US" sz="2000" dirty="0"/>
          </a:p>
        </p:txBody>
      </p:sp>
      <p:sp>
        <p:nvSpPr>
          <p:cNvPr id="11" name="Text 9"/>
          <p:cNvSpPr/>
          <p:nvPr/>
        </p:nvSpPr>
        <p:spPr>
          <a:xfrm>
            <a:off x="10731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allow / block / ask a human</a:t>
            </a:r>
            <a:endParaRPr lang="en-US" sz="1300" dirty="0"/>
          </a:p>
        </p:txBody>
      </p:sp>
      <p:sp>
        <p:nvSpPr>
          <p:cNvPr id="12" name="Shape 10"/>
          <p:cNvSpPr/>
          <p:nvPr/>
        </p:nvSpPr>
        <p:spPr>
          <a:xfrm>
            <a:off x="6200775" y="3035895"/>
            <a:ext cx="5175250" cy="11518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29307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Does this contain PII?</a:t>
            </a:r>
            <a:endParaRPr lang="en-US" sz="2000" dirty="0"/>
          </a:p>
        </p:txBody>
      </p:sp>
      <p:sp>
        <p:nvSpPr>
          <p:cNvPr id="14" name="Text 12"/>
          <p:cNvSpPr/>
          <p:nvPr/>
        </p:nvSpPr>
        <p:spPr>
          <a:xfrm>
            <a:off x="6457950" y="3699470"/>
            <a:ext cx="4800727"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F5D9E"/>
                </a:solidFill>
                <a:latin typeface="IBM Plex Mono" pitchFamily="34" charset="0"/>
                <a:ea typeface="IBM Plex Mono" pitchFamily="34" charset="-122"/>
                <a:cs typeface="IBM Plex Mono" pitchFamily="34" charset="-120"/>
              </a:rPr>
              <a:t>→ a probability</a:t>
            </a:r>
            <a:endParaRPr lang="en-US" sz="1300" dirty="0"/>
          </a:p>
        </p:txBody>
      </p:sp>
      <p:sp>
        <p:nvSpPr>
          <p:cNvPr id="15" name="Text 13"/>
          <p:cNvSpPr/>
          <p:nvPr/>
        </p:nvSpPr>
        <p:spPr>
          <a:xfrm>
            <a:off x="812800" y="454655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Every one of these has a small answer space you know before you ever call the model.</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A System One model answers typed questions</a:t>
            </a:r>
            <a:endParaRPr lang="en-US" sz="3600" dirty="0"/>
          </a:p>
        </p:txBody>
      </p:sp>
      <p:sp>
        <p:nvSpPr>
          <p:cNvPr id="3" name="Shape 1"/>
          <p:cNvSpPr/>
          <p:nvPr/>
        </p:nvSpPr>
        <p:spPr>
          <a:xfrm>
            <a:off x="812800" y="1671290"/>
            <a:ext cx="4775200" cy="2612380"/>
          </a:xfrm>
          <a:prstGeom prst="roundRect">
            <a:avLst>
              <a:gd name="adj" fmla="val 3889"/>
            </a:avLst>
          </a:prstGeom>
          <a:solidFill>
            <a:srgbClr val="1B1F26"/>
          </a:solidFill>
          <a:ln/>
        </p:spPr>
        <p:txBody>
          <a:bodyPr/>
          <a:p/>
        </p:txBody>
      </p:sp>
      <p:sp>
        <p:nvSpPr>
          <p:cNvPr id="4" name="Text 2"/>
          <p:cNvSpPr/>
          <p:nvPr/>
        </p:nvSpPr>
        <p:spPr>
          <a:xfrm>
            <a:off x="1066800" y="1925290"/>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In: state + questions</a:t>
            </a:r>
            <a:endParaRPr lang="en-US" sz="1600" dirty="0"/>
          </a:p>
        </p:txBody>
      </p:sp>
      <p:sp>
        <p:nvSpPr>
          <p:cNvPr id="5" name="Text 3"/>
          <p:cNvSpPr/>
          <p:nvPr/>
        </p:nvSpPr>
        <p:spPr>
          <a:xfrm>
            <a:off x="1066800" y="2296120"/>
            <a:ext cx="4395216" cy="17589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"state": "My name is Dana Whitfield</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and my account number is 88421.",</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"questions": {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"instructions": "Contains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pic>
        <p:nvPicPr>
          <p:cNvPr id="6" name="Image 0" descr="arrow-right">    </p:cNvPr>
          <p:cNvPicPr>
            <a:picLocks noChangeAspect="1"/>
          </p:cNvPicPr>
          <p:nvPr/>
        </p:nvPicPr>
        <p:blipFill>
          <a:blip r:embed="rId1"/>
          <a:srcRect l="0" r="0" t="0" b="0"/>
          <a:stretch/>
        </p:blipFill>
        <p:spPr>
          <a:xfrm>
            <a:off x="5791200" y="2825055"/>
            <a:ext cx="609600" cy="304800"/>
          </a:xfrm>
          <a:prstGeom prst="rect">
            <a:avLst/>
          </a:prstGeom>
        </p:spPr>
      </p:pic>
      <p:sp>
        <p:nvSpPr>
          <p:cNvPr id="7" name="Shape 4"/>
          <p:cNvSpPr/>
          <p:nvPr/>
        </p:nvSpPr>
        <p:spPr>
          <a:xfrm>
            <a:off x="6604000" y="1795115"/>
            <a:ext cx="4775200" cy="2364730"/>
          </a:xfrm>
          <a:prstGeom prst="roundRect">
            <a:avLst>
              <a:gd name="adj" fmla="val 4296"/>
            </a:avLst>
          </a:prstGeom>
          <a:solidFill>
            <a:srgbClr val="1B1F26"/>
          </a:solidFill>
          <a:ln/>
        </p:spPr>
        <p:txBody>
          <a:bodyPr/>
          <a:p/>
        </p:txBody>
      </p:sp>
      <p:sp>
        <p:nvSpPr>
          <p:cNvPr id="8" name="Text 5"/>
          <p:cNvSpPr/>
          <p:nvPr/>
        </p:nvSpPr>
        <p:spPr>
          <a:xfrm>
            <a:off x="6858000" y="2049115"/>
            <a:ext cx="439521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873F"/>
                </a:solidFill>
                <a:latin typeface="Space Grotesk" pitchFamily="34" charset="0"/>
                <a:ea typeface="Space Grotesk" pitchFamily="34" charset="-122"/>
                <a:cs typeface="Space Grotesk" pitchFamily="34" charset="-120"/>
              </a:rPr>
              <a:t>Out: a typed answer</a:t>
            </a:r>
            <a:endParaRPr lang="en-US" sz="1600" dirty="0"/>
          </a:p>
        </p:txBody>
      </p:sp>
      <p:sp>
        <p:nvSpPr>
          <p:cNvPr id="9" name="Text 6"/>
          <p:cNvSpPr/>
          <p:nvPr/>
        </p:nvSpPr>
        <p:spPr>
          <a:xfrm>
            <a:off x="6858000" y="2419945"/>
            <a:ext cx="4395216" cy="15113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"answers":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"pii":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"type": "noul",</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"noul": 0.814</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 }</a:t>
            </a:r>
            <a:endParaRPr lang="en-US" sz="1300" dirty="0"/>
          </a:p>
          <a:p>
            <a:pPr algn="l" indent="0" marL="0">
              <a:lnSpc>
                <a:spcPts val="1950"/>
              </a:lnSpc>
              <a:buNone/>
            </a:pPr>
            <a:r>
              <a:rPr lang="en-US" sz="1300" dirty="0">
                <a:solidFill>
                  <a:srgbClr val="E9E6DE"/>
                </a:solidFill>
                <a:latin typeface="IBM Plex Mono" pitchFamily="34" charset="0"/>
                <a:ea typeface="IBM Plex Mono" pitchFamily="34" charset="-122"/>
                <a:cs typeface="IBM Plex Mono" pitchFamily="34" charset="-120"/>
              </a:rPr>
              <a:t>}}</a:t>
            </a:r>
            <a:endParaRPr lang="en-US" sz="1300" dirty="0"/>
          </a:p>
        </p:txBody>
      </p:sp>
      <p:sp>
        <p:nvSpPr>
          <p:cNvPr id="10" name="Text 7"/>
          <p:cNvSpPr/>
          <p:nvPr/>
        </p:nvSpPr>
        <p:spPr>
          <a:xfrm>
            <a:off x="812800" y="463927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One pass. The answer space is fixed before inference. Every answer carries a probability.</a:t>
            </a:r>
            <a:endParaRPr lang="en-US" sz="1500" dirty="0"/>
          </a:p>
        </p:txBody>
      </p:sp>
      <p:sp>
        <p:nvSpPr>
          <p:cNvPr id="11"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Example request and response from decisioncircuits.com · Decide in code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“System One”?</a:t>
            </a:r>
            <a:endParaRPr lang="en-US" sz="3600" dirty="0"/>
          </a:p>
        </p:txBody>
      </p:sp>
      <p:sp>
        <p:nvSpPr>
          <p:cNvPr id="3" name="Shape 1"/>
          <p:cNvSpPr/>
          <p:nvPr/>
        </p:nvSpPr>
        <p:spPr>
          <a:xfrm>
            <a:off x="8159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4" name="Text 2"/>
          <p:cNvSpPr/>
          <p:nvPr/>
        </p:nvSpPr>
        <p:spPr>
          <a:xfrm>
            <a:off x="10731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2 · a chat LLM</a:t>
            </a:r>
            <a:endParaRPr lang="en-US" sz="2000" dirty="0"/>
          </a:p>
        </p:txBody>
      </p:sp>
      <p:sp>
        <p:nvSpPr>
          <p:cNvPr id="5" name="Text 3"/>
          <p:cNvSpPr/>
          <p:nvPr/>
        </p:nvSpPr>
        <p:spPr>
          <a:xfrm>
            <a:off x="10731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Writes its answer one token at a time. Great for language, slow for a yes/no, and you still have to parse what it wrote.</a:t>
            </a:r>
            <a:endParaRPr lang="en-US" sz="1400" dirty="0"/>
          </a:p>
        </p:txBody>
      </p:sp>
      <p:sp>
        <p:nvSpPr>
          <p:cNvPr id="6" name="Shape 4"/>
          <p:cNvSpPr/>
          <p:nvPr/>
        </p:nvSpPr>
        <p:spPr>
          <a:xfrm>
            <a:off x="6200775" y="1673352"/>
            <a:ext cx="5175250" cy="1783080"/>
          </a:xfrm>
          <a:prstGeom prst="roundRect">
            <a:avLst>
              <a:gd name="adj" fmla="val 8545"/>
            </a:avLst>
          </a:prstGeom>
          <a:solidFill>
            <a:srgbClr val="FBFAF6"/>
          </a:solidFill>
          <a:ln w="6350">
            <a:solidFill>
              <a:srgbClr val="D9D3C5"/>
            </a:solidFill>
            <a:prstDash val="solid"/>
          </a:ln>
        </p:spPr>
        <p:txBody>
          <a:bodyPr/>
          <a:p/>
        </p:txBody>
      </p:sp>
      <p:sp>
        <p:nvSpPr>
          <p:cNvPr id="7" name="Text 5"/>
          <p:cNvSpPr/>
          <p:nvPr/>
        </p:nvSpPr>
        <p:spPr>
          <a:xfrm>
            <a:off x="6457950" y="1901952"/>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System One · Jev, circuit-8b</a:t>
            </a:r>
            <a:endParaRPr lang="en-US" sz="2000" dirty="0"/>
          </a:p>
        </p:txBody>
      </p:sp>
      <p:sp>
        <p:nvSpPr>
          <p:cNvPr id="8" name="Text 6"/>
          <p:cNvSpPr/>
          <p:nvPr/>
        </p:nvSpPr>
        <p:spPr>
          <a:xfrm>
            <a:off x="6457950" y="2304288"/>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Reads your state and questions once, then scores every allowed answer at the same time. Returns probabilities, never prose.</a:t>
            </a:r>
            <a:endParaRPr lang="en-US" sz="1400" dirty="0"/>
          </a:p>
        </p:txBody>
      </p:sp>
      <p:sp>
        <p:nvSpPr>
          <p:cNvPr id="9" name="Shape 7"/>
          <p:cNvSpPr/>
          <p:nvPr/>
        </p:nvSpPr>
        <p:spPr>
          <a:xfrm>
            <a:off x="8159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0" name="Text 8"/>
          <p:cNvSpPr/>
          <p:nvPr/>
        </p:nvSpPr>
        <p:spPr>
          <a:xfrm>
            <a:off x="10731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Under the hood (circuit-8b)</a:t>
            </a:r>
            <a:endParaRPr lang="en-US" sz="2000" dirty="0"/>
          </a:p>
        </p:txBody>
      </p:sp>
      <p:sp>
        <p:nvSpPr>
          <p:cNvPr id="11" name="Text 9"/>
          <p:cNvSpPr/>
          <p:nvPr/>
        </p:nvSpPr>
        <p:spPr>
          <a:xfrm>
            <a:off x="10731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An ordinary LLM body (Qwen3-8B) plus a small readout head. Each option gets a marker token; the head scores them all in one forward pass, then a softmax.</a:t>
            </a:r>
            <a:endParaRPr lang="en-US" sz="1400" dirty="0"/>
          </a:p>
        </p:txBody>
      </p:sp>
      <p:sp>
        <p:nvSpPr>
          <p:cNvPr id="12" name="Shape 10"/>
          <p:cNvSpPr/>
          <p:nvPr/>
        </p:nvSpPr>
        <p:spPr>
          <a:xfrm>
            <a:off x="6200775" y="3657600"/>
            <a:ext cx="5175250" cy="1783080"/>
          </a:xfrm>
          <a:prstGeom prst="roundRect">
            <a:avLst>
              <a:gd name="adj" fmla="val 8545"/>
            </a:avLst>
          </a:prstGeom>
          <a:solidFill>
            <a:srgbClr val="FBFAF6"/>
          </a:solidFill>
          <a:ln w="6350">
            <a:solidFill>
              <a:srgbClr val="D9D3C5"/>
            </a:solidFill>
            <a:prstDash val="solid"/>
          </a:ln>
        </p:spPr>
        <p:txBody>
          <a:bodyPr/>
          <a:p/>
        </p:txBody>
      </p:sp>
      <p:sp>
        <p:nvSpPr>
          <p:cNvPr id="13" name="Text 11"/>
          <p:cNvSpPr/>
          <p:nvPr/>
        </p:nvSpPr>
        <p:spPr>
          <a:xfrm>
            <a:off x="6457950" y="388620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1F26"/>
                </a:solidFill>
                <a:latin typeface="Space Grotesk" pitchFamily="34" charset="0"/>
                <a:ea typeface="Space Grotesk" pitchFamily="34" charset="-122"/>
                <a:cs typeface="Space Grotesk" pitchFamily="34" charset="-120"/>
              </a:rPr>
              <a:t>Why the number is useful</a:t>
            </a:r>
            <a:endParaRPr lang="en-US" sz="2000" dirty="0"/>
          </a:p>
        </p:txBody>
      </p:sp>
      <p:sp>
        <p:nvSpPr>
          <p:cNvPr id="14" name="Text 12"/>
          <p:cNvSpPr/>
          <p:nvPr/>
        </p:nvSpPr>
        <p:spPr>
          <a:xfrm>
            <a:off x="6457950" y="4288536"/>
            <a:ext cx="4800727" cy="1005840"/>
          </a:xfrm>
          <a:prstGeom prst="rect">
            <a:avLst/>
          </a:prstGeom>
          <a:noFill/>
          <a:ln/>
        </p:spPr>
        <p:txBody>
          <a:bodyPr wrap="square" lIns="0" tIns="0" rIns="0" bIns="0" rtlCol="0" anchor="t">
            <a:normAutofit/>
          </a:bodyPr>
          <a:lstStyle/>
          <a:p>
            <a:pPr algn="l" indent="0" marL="0">
              <a:lnSpc>
                <a:spcPts val="1820"/>
              </a:lnSpc>
              <a:buNone/>
            </a:pPr>
            <a:r>
              <a:rPr lang="en-US" sz="1400" dirty="0">
                <a:solidFill>
                  <a:srgbClr val="5B6270"/>
                </a:solidFill>
                <a:latin typeface="IBM Plex Mono" pitchFamily="34" charset="0"/>
                <a:ea typeface="IBM Plex Mono" pitchFamily="34" charset="-122"/>
                <a:cs typeface="IBM Plex Mono" pitchFamily="34" charset="-120"/>
              </a:rPr>
              <a:t>It's trained against real outcomes, so 0.8 should be right about 8 times in 10. That's what lets a threshold in code mean something.</a:t>
            </a:r>
            <a:endParaRPr lang="en-US" sz="1400" dirty="0"/>
          </a:p>
        </p:txBody>
      </p:sp>
      <p:sp>
        <p:nvSpPr>
          <p:cNvPr id="15" name="Text 13"/>
          <p:cNvSpPr/>
          <p:nvPr/>
        </p:nvSpPr>
        <p:spPr>
          <a:xfrm>
            <a:off x="812800" y="5650992"/>
            <a:ext cx="10883392" cy="36576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The name is Kahneman’s: System 1 answers fast, by instinct. System 2 reasons slowly, out loud.</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Kahneman, Thinking, Fast and Slow · circuit-8b model card, huggingface.co/jbarney · Decide in code · 6</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1EA"/>
        </a:solidFill>
        <a:effectLst/>
      </p:bgPr>
    </p:bg>
    <p:spTree>
      <p:nvGrpSpPr>
        <p:cNvPr id="1" name=""/>
        <p:cNvGrpSpPr/>
        <p:nvPr/>
      </p:nvGrpSpPr>
      <p:grpSpPr/>
      <p:sp>
        <p:nvSpPr>
          <p:cNvPr id="2" name="TextBox 1"/>
          <p:cNvSpPr txBox="1"/>
          <p:nvPr/>
        </p:nvSpPr>
        <p:spPr>
          <a:xfrm>
            <a:off x="813816" y="813816"/>
            <a:ext cx="10881360" cy="548640"/>
          </a:xfrm>
          <a:prstGeom prst="rect">
            <a:avLst/>
          </a:prstGeom>
          <a:noFill/>
        </p:spPr>
        <p:txBody>
          <a:bodyPr wrap="square" anchor="t" lIns="0" rIns="0" tIns="0" bIns="0">
            <a:spAutoFit/>
          </a:bodyPr>
          <a:lstStyle/>
          <a:p>
            <a:r>
              <a:rPr sz="3600" b="1">
                <a:solidFill>
                  <a:srgbClr val="1B1F26"/>
                </a:solidFill>
                <a:latin typeface="Space Grotesk"/>
              </a:rPr>
              <a:t>Inside one System One call</a:t>
            </a:r>
          </a:p>
        </p:txBody>
      </p:sp>
      <p:sp>
        <p:nvSpPr>
          <p:cNvPr id="3" name="Oval 2"/>
          <p:cNvSpPr/>
          <p:nvPr/>
        </p:nvSpPr>
        <p:spPr>
          <a:xfrm>
            <a:off x="813816" y="166420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3816" y="166420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1</a:t>
            </a:r>
          </a:p>
        </p:txBody>
      </p:sp>
      <p:sp>
        <p:nvSpPr>
          <p:cNvPr id="5" name="TextBox 4"/>
          <p:cNvSpPr txBox="1"/>
          <p:nvPr/>
        </p:nvSpPr>
        <p:spPr>
          <a:xfrm>
            <a:off x="1499616" y="1645920"/>
            <a:ext cx="5120640" cy="914400"/>
          </a:xfrm>
          <a:prstGeom prst="rect">
            <a:avLst/>
          </a:prstGeom>
          <a:noFill/>
        </p:spPr>
        <p:txBody>
          <a:bodyPr wrap="square" anchor="t" lIns="0" rIns="0" tIns="0" bIns="0">
            <a:spAutoFit/>
          </a:bodyPr>
          <a:lstStyle/>
          <a:p>
            <a:r>
              <a:rPr sz="1700" b="1">
                <a:solidFill>
                  <a:srgbClr val="1B1F26"/>
                </a:solidFill>
                <a:latin typeface="Space Grotesk"/>
              </a:rPr>
              <a:t>Pack</a:t>
            </a:r>
          </a:p>
          <a:p>
            <a:pPr>
              <a:spcBef>
                <a:spcPts val="200"/>
              </a:spcBef>
            </a:pPr>
            <a:r>
              <a:rPr sz="1300" b="0">
                <a:solidFill>
                  <a:srgbClr val="5B6270"/>
                </a:solidFill>
                <a:latin typeface="Space Grotesk"/>
              </a:rPr>
              <a:t>The state, every question and each question's allowed answers go in as one input.</a:t>
            </a:r>
          </a:p>
        </p:txBody>
      </p:sp>
      <p:sp>
        <p:nvSpPr>
          <p:cNvPr id="6" name="Oval 5"/>
          <p:cNvSpPr/>
          <p:nvPr/>
        </p:nvSpPr>
        <p:spPr>
          <a:xfrm>
            <a:off x="813816" y="262432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262432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2</a:t>
            </a:r>
          </a:p>
        </p:txBody>
      </p:sp>
      <p:sp>
        <p:nvSpPr>
          <p:cNvPr id="8" name="TextBox 7"/>
          <p:cNvSpPr txBox="1"/>
          <p:nvPr/>
        </p:nvSpPr>
        <p:spPr>
          <a:xfrm>
            <a:off x="1499616" y="2606040"/>
            <a:ext cx="5120640" cy="914400"/>
          </a:xfrm>
          <a:prstGeom prst="rect">
            <a:avLst/>
          </a:prstGeom>
          <a:noFill/>
        </p:spPr>
        <p:txBody>
          <a:bodyPr wrap="square" anchor="t" lIns="0" rIns="0" tIns="0" bIns="0">
            <a:spAutoFit/>
          </a:bodyPr>
          <a:lstStyle/>
          <a:p>
            <a:r>
              <a:rPr sz="1700" b="1">
                <a:solidFill>
                  <a:srgbClr val="1B1F26"/>
                </a:solidFill>
                <a:latin typeface="Space Grotesk"/>
              </a:rPr>
              <a:t>Mark</a:t>
            </a:r>
          </a:p>
          <a:p>
            <a:pPr>
              <a:spcBef>
                <a:spcPts val="200"/>
              </a:spcBef>
            </a:pPr>
            <a:r>
              <a:rPr sz="1300" b="0">
                <a:solidFill>
                  <a:srgbClr val="5B6270"/>
                </a:solidFill>
                <a:latin typeface="Space Grotesk"/>
              </a:rPr>
              <a:t>Every allowed answer is wrapped in marker tokens. The input ends with a “decide” token.</a:t>
            </a:r>
          </a:p>
        </p:txBody>
      </p:sp>
      <p:sp>
        <p:nvSpPr>
          <p:cNvPr id="9" name="Oval 8"/>
          <p:cNvSpPr/>
          <p:nvPr/>
        </p:nvSpPr>
        <p:spPr>
          <a:xfrm>
            <a:off x="813816" y="358444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358444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3</a:t>
            </a:r>
          </a:p>
        </p:txBody>
      </p:sp>
      <p:sp>
        <p:nvSpPr>
          <p:cNvPr id="11" name="TextBox 10"/>
          <p:cNvSpPr txBox="1"/>
          <p:nvPr/>
        </p:nvSpPr>
        <p:spPr>
          <a:xfrm>
            <a:off x="1499616" y="3566160"/>
            <a:ext cx="5120640" cy="914400"/>
          </a:xfrm>
          <a:prstGeom prst="rect">
            <a:avLst/>
          </a:prstGeom>
          <a:noFill/>
        </p:spPr>
        <p:txBody>
          <a:bodyPr wrap="square" anchor="t" lIns="0" rIns="0" tIns="0" bIns="0">
            <a:spAutoFit/>
          </a:bodyPr>
          <a:lstStyle/>
          <a:p>
            <a:r>
              <a:rPr sz="1700" b="1">
                <a:solidFill>
                  <a:srgbClr val="1B1F26"/>
                </a:solidFill>
                <a:latin typeface="Space Grotesk"/>
              </a:rPr>
              <a:t>Read once</a:t>
            </a:r>
          </a:p>
          <a:p>
            <a:pPr>
              <a:spcBef>
                <a:spcPts val="200"/>
              </a:spcBef>
            </a:pPr>
            <a:r>
              <a:rPr sz="1300" b="0">
                <a:solidFill>
                  <a:srgbClr val="5B6270"/>
                </a:solidFill>
                <a:latin typeface="Space Grotesk"/>
              </a:rPr>
              <a:t>One forward pass over the whole input. No token is generated, ever.</a:t>
            </a:r>
          </a:p>
        </p:txBody>
      </p:sp>
      <p:sp>
        <p:nvSpPr>
          <p:cNvPr id="12" name="Oval 11"/>
          <p:cNvSpPr/>
          <p:nvPr/>
        </p:nvSpPr>
        <p:spPr>
          <a:xfrm>
            <a:off x="813816" y="4544568"/>
            <a:ext cx="457200" cy="457200"/>
          </a:xfrm>
          <a:prstGeom prst="ellipse">
            <a:avLst/>
          </a:prstGeom>
          <a:solidFill>
            <a:srgbClr val="B45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4544568"/>
            <a:ext cx="457200" cy="457200"/>
          </a:xfrm>
          <a:prstGeom prst="rect">
            <a:avLst/>
          </a:prstGeom>
          <a:noFill/>
        </p:spPr>
        <p:txBody>
          <a:bodyPr wrap="square" anchor="ctr" lIns="0" rIns="0" tIns="0" bIns="0">
            <a:spAutoFit/>
          </a:bodyPr>
          <a:lstStyle/>
          <a:p>
            <a:pPr algn="ctr"/>
            <a:r>
              <a:rPr sz="1600" b="1">
                <a:solidFill>
                  <a:srgbClr val="FFFFFF"/>
                </a:solidFill>
                <a:latin typeface="Space Grotesk"/>
              </a:rPr>
              <a:t>4</a:t>
            </a:r>
          </a:p>
        </p:txBody>
      </p:sp>
      <p:sp>
        <p:nvSpPr>
          <p:cNvPr id="14" name="TextBox 13"/>
          <p:cNvSpPr txBox="1"/>
          <p:nvPr/>
        </p:nvSpPr>
        <p:spPr>
          <a:xfrm>
            <a:off x="1499616" y="4526280"/>
            <a:ext cx="5120640" cy="914400"/>
          </a:xfrm>
          <a:prstGeom prst="rect">
            <a:avLst/>
          </a:prstGeom>
          <a:noFill/>
        </p:spPr>
        <p:txBody>
          <a:bodyPr wrap="square" anchor="t" lIns="0" rIns="0" tIns="0" bIns="0">
            <a:spAutoFit/>
          </a:bodyPr>
          <a:lstStyle/>
          <a:p>
            <a:r>
              <a:rPr sz="1700" b="1">
                <a:solidFill>
                  <a:srgbClr val="1B1F26"/>
                </a:solidFill>
                <a:latin typeface="Space Grotesk"/>
              </a:rPr>
              <a:t>Score</a:t>
            </a:r>
          </a:p>
          <a:p>
            <a:pPr>
              <a:spcBef>
                <a:spcPts val="200"/>
              </a:spcBef>
            </a:pPr>
            <a:r>
              <a:rPr sz="1300" b="0">
                <a:solidFill>
                  <a:srgbClr val="5B6270"/>
                </a:solidFill>
                <a:latin typeface="Space Grotesk"/>
              </a:rPr>
              <a:t>A small head scores each answer's marker against “decide”. A softmax makes them sum to 1.</a:t>
            </a:r>
          </a:p>
        </p:txBody>
      </p:sp>
      <p:sp>
        <p:nvSpPr>
          <p:cNvPr id="15" name="Rounded Rectangle 14"/>
          <p:cNvSpPr/>
          <p:nvPr/>
        </p:nvSpPr>
        <p:spPr>
          <a:xfrm>
            <a:off x="6903720" y="1645920"/>
            <a:ext cx="4471416" cy="3703320"/>
          </a:xfrm>
          <a:prstGeom prst="roundRect">
            <a:avLst>
              <a:gd name="adj" fmla="val 5000"/>
            </a:avLst>
          </a:prstGeom>
          <a:solidFill>
            <a:srgbClr val="1B1F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1874519"/>
            <a:ext cx="3922776" cy="274320"/>
          </a:xfrm>
          <a:prstGeom prst="rect">
            <a:avLst/>
          </a:prstGeom>
          <a:noFill/>
        </p:spPr>
        <p:txBody>
          <a:bodyPr wrap="square" anchor="t" lIns="0" rIns="0" tIns="0" bIns="0">
            <a:spAutoFit/>
          </a:bodyPr>
          <a:lstStyle/>
          <a:p>
            <a:r>
              <a:rPr sz="1300" b="1">
                <a:solidFill>
                  <a:srgbClr val="F0873F"/>
                </a:solidFill>
                <a:latin typeface="IBM Plex Mono"/>
              </a:rPr>
              <a:t>dept: which team should handle this?</a:t>
            </a:r>
          </a:p>
        </p:txBody>
      </p:sp>
      <p:sp>
        <p:nvSpPr>
          <p:cNvPr id="17" name="TextBox 16"/>
          <p:cNvSpPr txBox="1"/>
          <p:nvPr/>
        </p:nvSpPr>
        <p:spPr>
          <a:xfrm>
            <a:off x="7178040" y="2240280"/>
            <a:ext cx="3922776" cy="502920"/>
          </a:xfrm>
          <a:prstGeom prst="rect">
            <a:avLst/>
          </a:prstGeom>
          <a:noFill/>
        </p:spPr>
        <p:txBody>
          <a:bodyPr wrap="square" anchor="t" lIns="0" rIns="0" tIns="0" bIns="0">
            <a:spAutoFit/>
          </a:bodyPr>
          <a:lstStyle/>
          <a:p>
            <a:r>
              <a:rPr sz="1300" b="0">
                <a:solidFill>
                  <a:srgbClr val="F4F1EA"/>
                </a:solidFill>
                <a:latin typeface="Space Grotesk"/>
              </a:rPr>
              <a:t>“I was charged twice this month, please refund one.”</a:t>
            </a:r>
          </a:p>
        </p:txBody>
      </p:sp>
      <p:sp>
        <p:nvSpPr>
          <p:cNvPr id="18" name="TextBox 17"/>
          <p:cNvSpPr txBox="1"/>
          <p:nvPr/>
        </p:nvSpPr>
        <p:spPr>
          <a:xfrm>
            <a:off x="7178040" y="2971800"/>
            <a:ext cx="1097280" cy="310896"/>
          </a:xfrm>
          <a:prstGeom prst="rect">
            <a:avLst/>
          </a:prstGeom>
          <a:noFill/>
        </p:spPr>
        <p:txBody>
          <a:bodyPr wrap="square" anchor="ctr" lIns="0" rIns="0" tIns="0" bIns="0">
            <a:spAutoFit/>
          </a:bodyPr>
          <a:lstStyle/>
          <a:p>
            <a:r>
              <a:rPr sz="1300" b="0">
                <a:solidFill>
                  <a:srgbClr val="F4F1EA"/>
                </a:solidFill>
                <a:latin typeface="IBM Plex Mono"/>
              </a:rPr>
              <a:t>billing</a:t>
            </a:r>
          </a:p>
        </p:txBody>
      </p:sp>
      <p:sp>
        <p:nvSpPr>
          <p:cNvPr id="19" name="Rectangle 18"/>
          <p:cNvSpPr/>
          <p:nvPr/>
        </p:nvSpPr>
        <p:spPr>
          <a:xfrm>
            <a:off x="8321040" y="30358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21040" y="3035808"/>
            <a:ext cx="2032436" cy="182880"/>
          </a:xfrm>
          <a:prstGeom prst="rect">
            <a:avLst/>
          </a:prstGeom>
          <a:solidFill>
            <a:srgbClr val="F087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16183" y="2971800"/>
            <a:ext cx="640080" cy="310896"/>
          </a:xfrm>
          <a:prstGeom prst="rect">
            <a:avLst/>
          </a:prstGeom>
          <a:noFill/>
        </p:spPr>
        <p:txBody>
          <a:bodyPr wrap="square" anchor="ctr" lIns="0" rIns="0" tIns="0" bIns="0">
            <a:spAutoFit/>
          </a:bodyPr>
          <a:lstStyle/>
          <a:p>
            <a:r>
              <a:rPr sz="1300" b="1">
                <a:solidFill>
                  <a:srgbClr val="F4F1EA"/>
                </a:solidFill>
                <a:latin typeface="IBM Plex Mono"/>
              </a:rPr>
              <a:t>0.93</a:t>
            </a:r>
          </a:p>
        </p:txBody>
      </p:sp>
      <p:sp>
        <p:nvSpPr>
          <p:cNvPr id="22" name="TextBox 21"/>
          <p:cNvSpPr txBox="1"/>
          <p:nvPr/>
        </p:nvSpPr>
        <p:spPr>
          <a:xfrm>
            <a:off x="7178040" y="3429000"/>
            <a:ext cx="1097280" cy="310896"/>
          </a:xfrm>
          <a:prstGeom prst="rect">
            <a:avLst/>
          </a:prstGeom>
          <a:noFill/>
        </p:spPr>
        <p:txBody>
          <a:bodyPr wrap="square" anchor="ctr" lIns="0" rIns="0" tIns="0" bIns="0">
            <a:spAutoFit/>
          </a:bodyPr>
          <a:lstStyle/>
          <a:p>
            <a:r>
              <a:rPr sz="1300" b="0">
                <a:solidFill>
                  <a:srgbClr val="F4F1EA"/>
                </a:solidFill>
                <a:latin typeface="IBM Plex Mono"/>
              </a:rPr>
              <a:t>technical</a:t>
            </a:r>
          </a:p>
        </p:txBody>
      </p:sp>
      <p:sp>
        <p:nvSpPr>
          <p:cNvPr id="23" name="Rectangle 22"/>
          <p:cNvSpPr/>
          <p:nvPr/>
        </p:nvSpPr>
        <p:spPr>
          <a:xfrm>
            <a:off x="8321040" y="34930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21040" y="3493008"/>
            <a:ext cx="109270"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616183" y="3429000"/>
            <a:ext cx="640080" cy="310896"/>
          </a:xfrm>
          <a:prstGeom prst="rect">
            <a:avLst/>
          </a:prstGeom>
          <a:noFill/>
        </p:spPr>
        <p:txBody>
          <a:bodyPr wrap="square" anchor="ctr" lIns="0" rIns="0" tIns="0" bIns="0">
            <a:spAutoFit/>
          </a:bodyPr>
          <a:lstStyle/>
          <a:p>
            <a:r>
              <a:rPr sz="1300" b="1">
                <a:solidFill>
                  <a:srgbClr val="F4F1EA"/>
                </a:solidFill>
                <a:latin typeface="IBM Plex Mono"/>
              </a:rPr>
              <a:t>0.05</a:t>
            </a:r>
          </a:p>
        </p:txBody>
      </p:sp>
      <p:sp>
        <p:nvSpPr>
          <p:cNvPr id="26" name="TextBox 25"/>
          <p:cNvSpPr txBox="1"/>
          <p:nvPr/>
        </p:nvSpPr>
        <p:spPr>
          <a:xfrm>
            <a:off x="7178040" y="3886200"/>
            <a:ext cx="1097280" cy="310896"/>
          </a:xfrm>
          <a:prstGeom prst="rect">
            <a:avLst/>
          </a:prstGeom>
          <a:noFill/>
        </p:spPr>
        <p:txBody>
          <a:bodyPr wrap="square" anchor="ctr" lIns="0" rIns="0" tIns="0" bIns="0">
            <a:spAutoFit/>
          </a:bodyPr>
          <a:lstStyle/>
          <a:p>
            <a:r>
              <a:rPr sz="1300" b="0">
                <a:solidFill>
                  <a:srgbClr val="F4F1EA"/>
                </a:solidFill>
                <a:latin typeface="IBM Plex Mono"/>
              </a:rPr>
              <a:t>other</a:t>
            </a:r>
          </a:p>
        </p:txBody>
      </p:sp>
      <p:sp>
        <p:nvSpPr>
          <p:cNvPr id="27" name="Rectangle 26"/>
          <p:cNvSpPr/>
          <p:nvPr/>
        </p:nvSpPr>
        <p:spPr>
          <a:xfrm>
            <a:off x="8321040" y="3950208"/>
            <a:ext cx="2185415" cy="182880"/>
          </a:xfrm>
          <a:prstGeom prst="rect">
            <a:avLst/>
          </a:prstGeom>
          <a:solidFill>
            <a:srgbClr val="2B3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40" y="3950208"/>
            <a:ext cx="43708" cy="182880"/>
          </a:xfrm>
          <a:prstGeom prst="rect">
            <a:avLst/>
          </a:prstGeom>
          <a:solidFill>
            <a:srgbClr val="C3C0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16183" y="3886200"/>
            <a:ext cx="640080" cy="310896"/>
          </a:xfrm>
          <a:prstGeom prst="rect">
            <a:avLst/>
          </a:prstGeom>
          <a:noFill/>
        </p:spPr>
        <p:txBody>
          <a:bodyPr wrap="square" anchor="ctr" lIns="0" rIns="0" tIns="0" bIns="0">
            <a:spAutoFit/>
          </a:bodyPr>
          <a:lstStyle/>
          <a:p>
            <a:r>
              <a:rPr sz="1300" b="1">
                <a:solidFill>
                  <a:srgbClr val="F4F1EA"/>
                </a:solidFill>
                <a:latin typeface="IBM Plex Mono"/>
              </a:rPr>
              <a:t>0.02</a:t>
            </a:r>
          </a:p>
        </p:txBody>
      </p:sp>
      <p:sp>
        <p:nvSpPr>
          <p:cNvPr id="30" name="TextBox 29"/>
          <p:cNvSpPr txBox="1"/>
          <p:nvPr/>
        </p:nvSpPr>
        <p:spPr>
          <a:xfrm>
            <a:off x="7178040" y="4526280"/>
            <a:ext cx="3922776" cy="822960"/>
          </a:xfrm>
          <a:prstGeom prst="rect">
            <a:avLst/>
          </a:prstGeom>
          <a:noFill/>
        </p:spPr>
        <p:txBody>
          <a:bodyPr wrap="square" anchor="t" lIns="0" rIns="0" tIns="0" bIns="0">
            <a:spAutoFit/>
          </a:bodyPr>
          <a:lstStyle/>
          <a:p>
            <a:r>
              <a:rPr sz="1300" b="1">
                <a:solidFill>
                  <a:srgbClr val="F4F1EA"/>
                </a:solidFill>
                <a:latin typeface="Space Grotesk"/>
              </a:rPr>
              <a:t>Three numbers, one pass, nothing to parse. </a:t>
            </a:r>
            <a:r>
              <a:rPr sz="1300" b="0">
                <a:solidFill>
                  <a:srgbClr val="C3C0BB"/>
                </a:solidFill>
                <a:latin typeface="Space Grotesk"/>
              </a:rPr>
              <a:t>Your code reads 0.93 and routes it to billing.</a:t>
            </a:r>
          </a:p>
        </p:txBody>
      </p:sp>
      <p:sp>
        <p:nvSpPr>
          <p:cNvPr id="31" name="TextBox 30"/>
          <p:cNvSpPr txBox="1"/>
          <p:nvPr/>
        </p:nvSpPr>
        <p:spPr>
          <a:xfrm>
            <a:off x="813816" y="5596128"/>
            <a:ext cx="10515600" cy="365760"/>
          </a:xfrm>
          <a:prstGeom prst="rect">
            <a:avLst/>
          </a:prstGeom>
          <a:noFill/>
        </p:spPr>
        <p:txBody>
          <a:bodyPr wrap="square" anchor="t" lIns="0" rIns="0" tIns="0" bIns="0">
            <a:spAutoFit/>
          </a:bodyPr>
          <a:lstStyle/>
          <a:p>
            <a:r>
              <a:rPr sz="1500" b="0">
                <a:solidFill>
                  <a:srgbClr val="5B6270"/>
                </a:solidFill>
                <a:latin typeface="Space Grotesk"/>
              </a:rPr>
              <a:t>Same idea as a classifier, except you define the classes per request, in plain English.</a:t>
            </a:r>
          </a:p>
        </p:txBody>
      </p:sp>
      <p:sp>
        <p:nvSpPr>
          <p:cNvPr id="32" name="TextBox 31"/>
          <p:cNvSpPr txBox="1"/>
          <p:nvPr/>
        </p:nvSpPr>
        <p:spPr>
          <a:xfrm>
            <a:off x="813816" y="6236208"/>
            <a:ext cx="10881360" cy="237744"/>
          </a:xfrm>
          <a:prstGeom prst="rect">
            <a:avLst/>
          </a:prstGeom>
          <a:noFill/>
        </p:spPr>
        <p:txBody>
          <a:bodyPr wrap="square" anchor="t" lIns="0" rIns="0" tIns="0" bIns="0">
            <a:spAutoFit/>
          </a:bodyPr>
          <a:lstStyle/>
          <a:p>
            <a:r>
              <a:rPr sz="1200" b="0">
                <a:solidFill>
                  <a:srgbClr val="5B6270"/>
                </a:solidFill>
                <a:latin typeface="Space Grotesk"/>
              </a:rPr>
              <a:t>Mechanism: circuit-8b model card, huggingface.co/jbarney · illustrative numbers · Decide in code · 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Jev put the idea on the market</a:t>
            </a:r>
            <a:endParaRPr lang="en-US" sz="3600" dirty="0"/>
          </a:p>
        </p:txBody>
      </p:sp>
      <p:sp>
        <p:nvSpPr>
          <p:cNvPr id="3" name="Shape 1"/>
          <p:cNvSpPr/>
          <p:nvPr/>
        </p:nvSpPr>
        <p:spPr>
          <a:xfrm>
            <a:off x="815975" y="1674465"/>
            <a:ext cx="3380284" cy="1997075"/>
          </a:xfrm>
          <a:prstGeom prst="roundRect">
            <a:avLst>
              <a:gd name="adj" fmla="val 4928"/>
            </a:avLst>
          </a:prstGeom>
          <a:solidFill>
            <a:srgbClr val="FBFAF6"/>
          </a:solidFill>
          <a:ln w="6350">
            <a:solidFill>
              <a:srgbClr val="D9D3C5"/>
            </a:solidFill>
            <a:prstDash val="solid"/>
          </a:ln>
        </p:spPr>
        <p:txBody>
          <a:bodyPr/>
          <a:p/>
        </p:txBody>
      </p:sp>
      <p:sp>
        <p:nvSpPr>
          <p:cNvPr id="4" name="Text 2"/>
          <p:cNvSpPr/>
          <p:nvPr/>
        </p:nvSpPr>
        <p:spPr>
          <a:xfrm>
            <a:off x="1073150" y="1931640"/>
            <a:ext cx="2951912"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Sep 15</a:t>
            </a:r>
            <a:endParaRPr lang="en-US" sz="4800" dirty="0"/>
          </a:p>
        </p:txBody>
      </p:sp>
      <p:sp>
        <p:nvSpPr>
          <p:cNvPr id="5" name="Text 3"/>
          <p:cNvSpPr/>
          <p:nvPr/>
        </p:nvSpPr>
        <p:spPr>
          <a:xfrm>
            <a:off x="1073150" y="2642840"/>
            <a:ext cx="2951912"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TypeSafe AI launches Jev, billed as the first System One model</a:t>
            </a:r>
            <a:endParaRPr lang="en-US" sz="1500" dirty="0"/>
          </a:p>
        </p:txBody>
      </p:sp>
      <p:sp>
        <p:nvSpPr>
          <p:cNvPr id="6" name="Shape 4"/>
          <p:cNvSpPr/>
          <p:nvPr/>
        </p:nvSpPr>
        <p:spPr>
          <a:xfrm>
            <a:off x="4405809"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7" name="Text 5"/>
          <p:cNvSpPr/>
          <p:nvPr/>
        </p:nvSpPr>
        <p:spPr>
          <a:xfrm>
            <a:off x="4662984"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70–500</a:t>
            </a:r>
            <a:endParaRPr lang="en-US" sz="4800" dirty="0"/>
          </a:p>
        </p:txBody>
      </p:sp>
      <p:sp>
        <p:nvSpPr>
          <p:cNvPr id="8" name="Text 6"/>
          <p:cNvSpPr/>
          <p:nvPr/>
        </p:nvSpPr>
        <p:spPr>
          <a:xfrm>
            <a:off x="4662984"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milliseconds per call, end to end, by TypeSafe's own numbers</a:t>
            </a:r>
            <a:endParaRPr lang="en-US" sz="1500" dirty="0"/>
          </a:p>
        </p:txBody>
      </p:sp>
      <p:sp>
        <p:nvSpPr>
          <p:cNvPr id="9" name="Shape 7"/>
          <p:cNvSpPr/>
          <p:nvPr/>
        </p:nvSpPr>
        <p:spPr>
          <a:xfrm>
            <a:off x="7995692" y="1674465"/>
            <a:ext cx="3380333" cy="1997075"/>
          </a:xfrm>
          <a:prstGeom prst="roundRect">
            <a:avLst>
              <a:gd name="adj" fmla="val 4928"/>
            </a:avLst>
          </a:prstGeom>
          <a:solidFill>
            <a:srgbClr val="FBFAF6"/>
          </a:solidFill>
          <a:ln w="6350">
            <a:solidFill>
              <a:srgbClr val="D9D3C5"/>
            </a:solidFill>
            <a:prstDash val="solid"/>
          </a:ln>
        </p:spPr>
        <p:txBody>
          <a:bodyPr/>
          <a:p/>
        </p:txBody>
      </p:sp>
      <p:sp>
        <p:nvSpPr>
          <p:cNvPr id="10" name="Text 8"/>
          <p:cNvSpPr/>
          <p:nvPr/>
        </p:nvSpPr>
        <p:spPr>
          <a:xfrm>
            <a:off x="8252867" y="1931640"/>
            <a:ext cx="295196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B4521A"/>
                </a:solidFill>
                <a:latin typeface="Space Grotesk" pitchFamily="34" charset="0"/>
                <a:ea typeface="Space Grotesk" pitchFamily="34" charset="-122"/>
                <a:cs typeface="Space Grotesk" pitchFamily="34" charset="-120"/>
              </a:rPr>
              <a:t>0</a:t>
            </a:r>
            <a:endParaRPr lang="en-US" sz="4800" dirty="0"/>
          </a:p>
        </p:txBody>
      </p:sp>
      <p:sp>
        <p:nvSpPr>
          <p:cNvPr id="11" name="Text 9"/>
          <p:cNvSpPr/>
          <p:nvPr/>
        </p:nvSpPr>
        <p:spPr>
          <a:xfrm>
            <a:off x="8252867" y="2642840"/>
            <a:ext cx="2951963"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words of prose. Labels, scores and probabilities, each with a confidence</a:t>
            </a:r>
            <a:endParaRPr lang="en-US" sz="1500" dirty="0"/>
          </a:p>
        </p:txBody>
      </p:sp>
      <p:sp>
        <p:nvSpPr>
          <p:cNvPr id="12" name="Text 10"/>
          <p:cNvSpPr/>
          <p:nvPr/>
        </p:nvSpPr>
        <p:spPr>
          <a:xfrm>
            <a:off x="812800" y="4030315"/>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Early access, API only. It's two weeks old, and the benchmarks are vendor-reported.</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Sources: TypeSafe AI launch post; community write-ups · Decide in code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Why it belongs in your architecture</a:t>
            </a:r>
            <a:endParaRPr lang="en-US" sz="3600" dirty="0"/>
          </a:p>
        </p:txBody>
      </p:sp>
      <p:sp>
        <p:nvSpPr>
          <p:cNvPr id="3" name="Shape 1"/>
          <p:cNvSpPr/>
          <p:nvPr/>
        </p:nvSpPr>
        <p:spPr>
          <a:xfrm>
            <a:off x="8159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4" name="Text 2"/>
          <p:cNvSpPr/>
          <p:nvPr/>
        </p:nvSpPr>
        <p:spPr>
          <a:xfrm>
            <a:off x="10731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Fast and cheap</a:t>
            </a:r>
            <a:endParaRPr lang="en-US" sz="2000" dirty="0"/>
          </a:p>
        </p:txBody>
      </p:sp>
      <p:sp>
        <p:nvSpPr>
          <p:cNvPr id="5" name="Text 3"/>
          <p:cNvSpPr/>
          <p:nvPr/>
        </p:nvSpPr>
        <p:spPr>
          <a:xfrm>
            <a:off x="10731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One pass in hundreds of milliseconds, at a fraction of an LLM call's cost.</a:t>
            </a:r>
            <a:endParaRPr lang="en-US" sz="1500" dirty="0"/>
          </a:p>
        </p:txBody>
      </p:sp>
      <p:sp>
        <p:nvSpPr>
          <p:cNvPr id="6" name="Shape 4"/>
          <p:cNvSpPr/>
          <p:nvPr/>
        </p:nvSpPr>
        <p:spPr>
          <a:xfrm>
            <a:off x="6200775" y="1674465"/>
            <a:ext cx="5175250" cy="1409700"/>
          </a:xfrm>
          <a:prstGeom prst="roundRect">
            <a:avLst>
              <a:gd name="adj" fmla="val 6982"/>
            </a:avLst>
          </a:prstGeom>
          <a:solidFill>
            <a:srgbClr val="FBFAF6"/>
          </a:solidFill>
          <a:ln w="6350">
            <a:solidFill>
              <a:srgbClr val="D9D3C5"/>
            </a:solidFill>
            <a:prstDash val="solid"/>
          </a:ln>
        </p:spPr>
        <p:txBody>
          <a:bodyPr/>
          <a:p/>
        </p:txBody>
      </p:sp>
      <p:sp>
        <p:nvSpPr>
          <p:cNvPr id="7" name="Text 5"/>
          <p:cNvSpPr/>
          <p:nvPr/>
        </p:nvSpPr>
        <p:spPr>
          <a:xfrm>
            <a:off x="6457950" y="193164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Always parseable</a:t>
            </a:r>
            <a:endParaRPr lang="en-US" sz="2000" dirty="0"/>
          </a:p>
        </p:txBody>
      </p:sp>
      <p:sp>
        <p:nvSpPr>
          <p:cNvPr id="8" name="Text 6"/>
          <p:cNvSpPr/>
          <p:nvPr/>
        </p:nvSpPr>
        <p:spPr>
          <a:xfrm>
            <a:off x="6457950" y="231264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It can't answer outside the questions you defined. No regex over prose.</a:t>
            </a:r>
            <a:endParaRPr lang="en-US" sz="1500" dirty="0"/>
          </a:p>
        </p:txBody>
      </p:sp>
      <p:sp>
        <p:nvSpPr>
          <p:cNvPr id="9" name="Shape 7"/>
          <p:cNvSpPr/>
          <p:nvPr/>
        </p:nvSpPr>
        <p:spPr>
          <a:xfrm>
            <a:off x="8159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0" name="Text 8"/>
          <p:cNvSpPr/>
          <p:nvPr/>
        </p:nvSpPr>
        <p:spPr>
          <a:xfrm>
            <a:off x="10731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Honest about doubt</a:t>
            </a:r>
            <a:endParaRPr lang="en-US" sz="2000" dirty="0"/>
          </a:p>
        </p:txBody>
      </p:sp>
      <p:sp>
        <p:nvSpPr>
          <p:cNvPr id="11" name="Text 9"/>
          <p:cNvSpPr/>
          <p:nvPr/>
        </p:nvSpPr>
        <p:spPr>
          <a:xfrm>
            <a:off x="10731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Every answer carries a probability you can put a threshold on.</a:t>
            </a:r>
            <a:endParaRPr lang="en-US" sz="1500" dirty="0"/>
          </a:p>
        </p:txBody>
      </p:sp>
      <p:sp>
        <p:nvSpPr>
          <p:cNvPr id="12" name="Shape 10"/>
          <p:cNvSpPr/>
          <p:nvPr/>
        </p:nvSpPr>
        <p:spPr>
          <a:xfrm>
            <a:off x="6200775" y="3293715"/>
            <a:ext cx="5175250" cy="1409700"/>
          </a:xfrm>
          <a:prstGeom prst="roundRect">
            <a:avLst>
              <a:gd name="adj" fmla="val 6982"/>
            </a:avLst>
          </a:prstGeom>
          <a:solidFill>
            <a:srgbClr val="FBFAF6"/>
          </a:solidFill>
          <a:ln w="6350">
            <a:solidFill>
              <a:srgbClr val="D9D3C5"/>
            </a:solidFill>
            <a:prstDash val="solid"/>
          </a:ln>
        </p:spPr>
        <p:txBody>
          <a:bodyPr/>
          <a:p/>
        </p:txBody>
      </p:sp>
      <p:sp>
        <p:nvSpPr>
          <p:cNvPr id="13" name="Text 11"/>
          <p:cNvSpPr/>
          <p:nvPr/>
        </p:nvSpPr>
        <p:spPr>
          <a:xfrm>
            <a:off x="6457950" y="3550890"/>
            <a:ext cx="480072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2F5D9E"/>
                </a:solidFill>
                <a:latin typeface="Space Grotesk" pitchFamily="34" charset="0"/>
                <a:ea typeface="Space Grotesk" pitchFamily="34" charset="-122"/>
                <a:cs typeface="Space Grotesk" pitchFamily="34" charset="-120"/>
              </a:rPr>
              <a:t>Auditable</a:t>
            </a:r>
            <a:endParaRPr lang="en-US" sz="2000" dirty="0"/>
          </a:p>
        </p:txBody>
      </p:sp>
      <p:sp>
        <p:nvSpPr>
          <p:cNvPr id="14" name="Text 12"/>
          <p:cNvSpPr/>
          <p:nvPr/>
        </p:nvSpPr>
        <p:spPr>
          <a:xfrm>
            <a:off x="6457950" y="3931890"/>
            <a:ext cx="4800727"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1B1F26"/>
                </a:solidFill>
                <a:latin typeface="Space Grotesk" pitchFamily="34" charset="0"/>
                <a:ea typeface="Space Grotesk" pitchFamily="34" charset="-122"/>
                <a:cs typeface="Space Grotesk" pitchFamily="34" charset="-120"/>
              </a:rPr>
              <a:t>Question, probability, rule, outcome: a trace a risk team can actually read.</a:t>
            </a:r>
            <a:endParaRPr lang="en-US" sz="1500" dirty="0"/>
          </a:p>
        </p:txBody>
      </p:sp>
      <p:sp>
        <p:nvSpPr>
          <p:cNvPr id="15" name="Text 1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8793A"/>
        </a:solidFill>
      </p:bgPr>
    </p:bg>
    <p:spTree>
      <p:nvGrpSpPr>
        <p:cNvPr id="1" name=""/>
        <p:cNvGrpSpPr/>
        <p:nvPr/>
      </p:nvGrpSpPr>
      <p:grpSpPr>
        <a:xfrm>
          <a:off x="0" y="0"/>
          <a:ext cx="0" cy="0"/>
          <a:chOff x="0" y="0"/>
          <a:chExt cx="0" cy="0"/>
        </a:xfrm>
      </p:grpSpPr>
      <p:sp>
        <p:nvSpPr>
          <p:cNvPr id="2" name="Text 0"/>
          <p:cNvSpPr/>
          <p:nvPr/>
        </p:nvSpPr>
        <p:spPr>
          <a:xfrm>
            <a:off x="812800" y="177294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4171C"/>
                </a:solidFill>
                <a:latin typeface="IBM Plex Mono" pitchFamily="34" charset="0"/>
                <a:ea typeface="IBM Plex Mono" pitchFamily="34" charset="-122"/>
                <a:cs typeface="IBM Plex Mono" pitchFamily="34" charset="-120"/>
              </a:rPr>
              <a:t>THE CATCH</a:t>
            </a:r>
            <a:endParaRPr lang="en-US" sz="1200" dirty="0"/>
          </a:p>
        </p:txBody>
      </p:sp>
      <p:sp>
        <p:nvSpPr>
          <p:cNvPr id="3" name="Text 1"/>
          <p:cNvSpPr/>
          <p:nvPr/>
        </p:nvSpPr>
        <p:spPr>
          <a:xfrm>
            <a:off x="812800" y="2291060"/>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14171C"/>
                </a:solidFill>
                <a:latin typeface="Space Grotesk" pitchFamily="34" charset="0"/>
                <a:ea typeface="Space Grotesk" pitchFamily="34" charset="-122"/>
                <a:cs typeface="Space Grotesk" pitchFamily="34" charset="-120"/>
              </a:rPr>
              <a:t>Valid isn't correct.</a:t>
            </a:r>
            <a:endParaRPr lang="en-US" sz="6000" dirty="0"/>
          </a:p>
        </p:txBody>
      </p:sp>
      <p:sp>
        <p:nvSpPr>
          <p:cNvPr id="4" name="Text 2"/>
          <p:cNvSpPr/>
          <p:nvPr/>
        </p:nvSpPr>
        <p:spPr>
          <a:xfrm>
            <a:off x="812800" y="3357860"/>
            <a:ext cx="9156700" cy="711200"/>
          </a:xfrm>
          <a:prstGeom prst="rect">
            <a:avLst/>
          </a:prstGeom>
          <a:noFill/>
          <a:ln/>
        </p:spPr>
        <p:txBody>
          <a:bodyPr wrap="square" lIns="0" tIns="0" rIns="0" bIns="0" rtlCol="0" anchor="t">
            <a:normAutofit/>
          </a:bodyPr>
          <a:lstStyle/>
          <a:p>
            <a:pPr algn="l" indent="0" marL="0">
              <a:lnSpc>
                <a:spcPts val="2700"/>
              </a:lnSpc>
              <a:buNone/>
            </a:pPr>
            <a:r>
              <a:rPr lang="en-US" sz="2000" dirty="0">
                <a:solidFill>
                  <a:srgbClr val="14171C"/>
                </a:solidFill>
                <a:latin typeface="Space Grotesk" pitchFamily="34" charset="0"/>
                <a:ea typeface="Space Grotesk" pitchFamily="34" charset="-122"/>
                <a:cs typeface="Space Grotesk" pitchFamily="34" charset="-120"/>
              </a:rPr>
              <a:t>A System One model can return a confidently wrong probability that passes schema validation perfectly.</a:t>
            </a:r>
            <a:endParaRPr lang="en-US" sz="2000" dirty="0"/>
          </a:p>
        </p:txBody>
      </p:sp>
      <p:sp>
        <p:nvSpPr>
          <p:cNvPr id="5" name="Text 3"/>
          <p:cNvSpPr/>
          <p:nvPr/>
        </p:nvSpPr>
        <p:spPr>
          <a:xfrm>
            <a:off x="812800" y="4348460"/>
            <a:ext cx="91567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2A1A10"/>
                </a:solidFill>
                <a:latin typeface="Space Grotesk" pitchFamily="34" charset="0"/>
                <a:ea typeface="Space Grotesk" pitchFamily="34" charset="-122"/>
                <a:cs typeface="Space Grotesk" pitchFamily="34" charset="-120"/>
              </a:rPr>
              <a:t>On test items built to be undecidable, every model measured, Jev included, still answered with average confidence between 0.5 and 0.97.</a:t>
            </a:r>
            <a:endParaRPr lang="en-US" sz="1500" dirty="0"/>
          </a:p>
        </p:txBody>
      </p:sp>
      <p:sp>
        <p:nvSpPr>
          <p:cNvPr id="6"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A1A10"/>
                </a:solidFill>
                <a:latin typeface="Space Grotesk" pitchFamily="34" charset="0"/>
                <a:ea typeface="Space Grotesk" pitchFamily="34" charset="-122"/>
                <a:cs typeface="Space Grotesk" pitchFamily="34" charset="-120"/>
              </a:rPr>
              <a:t>Source: decisioncircuits.com scoreboard · Decide in code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It's not in Bedrock. Now what?</a:t>
            </a:r>
            <a:endParaRPr lang="en-US" sz="3600" dirty="0"/>
          </a:p>
        </p:txBody>
      </p:sp>
      <p:sp>
        <p:nvSpPr>
          <p:cNvPr id="3" name="Text 1"/>
          <p:cNvSpPr/>
          <p:nvPr/>
        </p:nvSpPr>
        <p:spPr>
          <a:xfrm>
            <a:off x="812800" y="16204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As of late September, Jev isn't in the Bedrock model catalog, and AWS hasn't announced a native integration. Three ways in:</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471390"/>
          <a:ext cx="10553700" cy="3159522"/>
        </p:xfrm>
        <a:graphic>
          <a:graphicData uri="http://schemas.openxmlformats.org/drawingml/2006/table">
            <a:tbl>
              <a:tblPr/>
              <a:tblGrid>
                <a:gridCol w="2638425"/>
                <a:gridCol w="2638425"/>
                <a:gridCol w="2638425"/>
                <a:gridCol w="2638425"/>
              </a:tblGrid>
              <a:tr h="540990">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Path</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What you run</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Data leaves your account?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1960"/>
                        </a:lnSpc>
                        <a:buNone/>
                      </a:pPr>
                      <a:r>
                        <a:rPr lang="en-US" sz="1400" b="1" dirty="0">
                          <a:solidFill>
                            <a:srgbClr val="F4F1EA"/>
                          </a:solidFill>
                          <a:latin typeface="Space Grotesk" pitchFamily="34" charset="0"/>
                          <a:ea typeface="Space Grotesk" pitchFamily="34" charset="-122"/>
                          <a:cs typeface="Space Grotesk" pitchFamily="34" charset="-120"/>
                        </a:rPr>
                        <a:t>Effort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1 · Vendor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Jev, through TypeSafe's API</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Low</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789880">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2 · Drop-in clone</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circuit-8b, hosted, same /v1/systemone contract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Yes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Swap one URL</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1038771">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3 · Own the weights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circuit-1.7b or 8b from Hugging Face on SageMaker or ECS</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No</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1960"/>
                        </a:lnSpc>
                        <a:buNone/>
                      </a:pPr>
                      <a:r>
                        <a:rPr lang="en-US" sz="1400" dirty="0">
                          <a:solidFill>
                            <a:srgbClr val="1B1F26"/>
                          </a:solidFill>
                          <a:latin typeface="Space Grotesk" pitchFamily="34" charset="0"/>
                          <a:ea typeface="Space Grotesk" pitchFamily="34" charset="-122"/>
                          <a:cs typeface="Space Grotesk" pitchFamily="34" charset="-120"/>
                        </a:rPr>
                        <a:t>Highest</a:t>
                      </a:r>
                      <a:endParaRPr lang="en-US" sz="14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Decide in code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open clones hold their own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5500" y="1633190"/>
          <a:ext cx="10553700" cy="2235200"/>
        </p:xfrm>
        <a:graphic>
          <a:graphicData uri="http://schemas.openxmlformats.org/drawingml/2006/table">
            <a:tbl>
              <a:tblPr/>
              <a:tblGrid>
                <a:gridCol w="2110740"/>
                <a:gridCol w="2110740"/>
                <a:gridCol w="2110740"/>
                <a:gridCol w="2110740"/>
                <a:gridCol w="2110740"/>
              </a:tblGrid>
              <a:tr h="558800">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Model</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SMS spam</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151 intents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Utility calls</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c>
                  <a:txBody>
                    <a:bodyPr/>
                    <a:lstStyle/>
                    <a:p>
                      <a:pPr indent="0" marL="0">
                        <a:lnSpc>
                          <a:spcPts val="2100"/>
                        </a:lnSpc>
                        <a:buNone/>
                      </a:pPr>
                      <a:r>
                        <a:rPr lang="en-US" sz="1500" b="1" dirty="0">
                          <a:solidFill>
                            <a:srgbClr val="F4F1EA"/>
                          </a:solidFill>
                          <a:latin typeface="Space Grotesk" pitchFamily="34" charset="0"/>
                          <a:ea typeface="Space Grotesk" pitchFamily="34" charset="-122"/>
                          <a:cs typeface="Space Grotesk" pitchFamily="34" charset="-120"/>
                        </a:rPr>
                        <a:t>Latency</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B5B2AD"/>
                      </a:solidFill>
                      <a:prstDash val="solid"/>
                      <a:round/>
                      <a:headEnd type="none" w="med" len="med"/>
                      <a:tailEnd type="none" w="med" len="med"/>
                    </a:lnL>
                    <a:lnR w="12700" cap="flat" cmpd="sng" algn="ctr">
                      <a:solidFill>
                        <a:srgbClr val="B5B2AD"/>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B5B2AD"/>
                      </a:solidFill>
                      <a:prstDash val="solid"/>
                      <a:round/>
                      <a:headEnd type="none" w="med" len="med"/>
                      <a:tailEnd type="none" w="med" len="med"/>
                    </a:lnB>
                    <a:solidFill>
                      <a:srgbClr val="1B1F26"/>
                    </a:solidFill>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Jev (TypeSafe)</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164 ms, API</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B5B2AD"/>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circuit-8b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95%</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93%</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178 ms, one A6000</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r h="558800">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circuit-1.7b</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98%</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86%</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92%</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c>
                  <a:txBody>
                    <a:bodyPr/>
                    <a:lstStyle/>
                    <a:p>
                      <a:pPr indent="0" marL="0">
                        <a:lnSpc>
                          <a:spcPts val="2100"/>
                        </a:lnSpc>
                        <a:buNone/>
                      </a:pPr>
                      <a:r>
                        <a:rPr lang="en-US" sz="1500" dirty="0">
                          <a:solidFill>
                            <a:srgbClr val="1B1F26"/>
                          </a:solidFill>
                          <a:latin typeface="Space Grotesk" pitchFamily="34" charset="0"/>
                          <a:ea typeface="Space Grotesk" pitchFamily="34" charset="-122"/>
                          <a:cs typeface="Space Grotesk" pitchFamily="34" charset="-120"/>
                        </a:rPr>
                        <a:t>175 ms, a laptop</a:t>
                      </a:r>
                      <a:endParaRPr lang="en-US" sz="1500" dirty="0">
                        <a:latin typeface="Space Grotesk" charset="0"/>
                        <a:ea typeface="Space Grotesk" charset="0"/>
                        <a:cs typeface="Space Grotesk" charset="0"/>
                      </a:endParaRPr>
                    </a:p>
                  </a:txBody>
                  <a:tcPr marL="152400" marR="152400" marT="139700" marB="139700" anchor="t">
                    <a:lnL w="12700" cap="flat" cmpd="sng" algn="ctr">
                      <a:solidFill>
                        <a:srgbClr val="C3C0BB"/>
                      </a:solidFill>
                      <a:prstDash val="solid"/>
                      <a:round/>
                      <a:headEnd type="none" w="med" len="med"/>
                      <a:tailEnd type="none" w="med" len="med"/>
                    </a:lnL>
                    <a:lnR w="12700" cap="flat" cmpd="sng" algn="ctr">
                      <a:solidFill>
                        <a:srgbClr val="C3C0BB"/>
                      </a:solidFill>
                      <a:prstDash val="solid"/>
                      <a:round/>
                      <a:headEnd type="none" w="med" len="med"/>
                      <a:tailEnd type="none" w="med" len="med"/>
                    </a:lnR>
                    <a:lnT w="12700" cap="flat" cmpd="sng" algn="ctr">
                      <a:solidFill>
                        <a:srgbClr val="C3C0BB"/>
                      </a:solidFill>
                      <a:prstDash val="solid"/>
                      <a:round/>
                      <a:headEnd type="none" w="med" len="med"/>
                      <a:tailEnd type="none" w="med" len="med"/>
                    </a:lnT>
                    <a:lnB w="12700" cap="flat" cmpd="sng" algn="ctr">
                      <a:solidFill>
                        <a:srgbClr val="C3C0BB"/>
                      </a:solidFill>
                      <a:prstDash val="solid"/>
                      <a:round/>
                      <a:headEnd type="none" w="med" len="med"/>
                      <a:tailEnd type="none" w="med" len="med"/>
                    </a:lnB>
                  </a:tcPr>
                </a:tc>
              </a:tr>
            </a:tbl>
          </a:graphicData>
        </a:graphic>
      </p:graphicFrame>
      <p:sp>
        <p:nvSpPr>
          <p:cNvPr id="4" name="Text 1"/>
          <p:cNvSpPr/>
          <p:nvPr/>
        </p:nvSpPr>
        <p:spPr>
          <a:xfrm>
            <a:off x="812800" y="4173190"/>
            <a:ext cx="981075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5B6270"/>
                </a:solidFill>
                <a:latin typeface="Space Grotesk" pitchFamily="34" charset="0"/>
                <a:ea typeface="Space Grotesk" pitchFamily="34" charset="-122"/>
                <a:cs typeface="Space Grotesk" pitchFamily="34" charset="-120"/>
              </a:rPr>
              <a:t>circuit-1.7b was trained in 61 minutes on a single RTX 4090, and the weights are public on Hugging Face.</a:t>
            </a:r>
            <a:endParaRPr lang="en-US" sz="1500" dirty="0"/>
          </a:p>
        </p:txBody>
      </p:sp>
      <p:sp>
        <p:nvSpPr>
          <p:cNvPr id="5" name="Text 2"/>
          <p:cNvSpPr/>
          <p:nvPr/>
        </p:nvSpPr>
        <p:spPr>
          <a:xfrm>
            <a:off x="812800" y="6024959"/>
            <a:ext cx="1088339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Author-reported accuracy, decisioncircuits.com. The circuit models trained on the spam and intent datasets; the utility calls are out of distribution.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Decision circuits: the model answers, code decides</a:t>
            </a:r>
            <a:endParaRPr lang="en-US" sz="3600" dirty="0"/>
          </a:p>
        </p:txBody>
      </p:sp>
      <p:sp>
        <p:nvSpPr>
          <p:cNvPr id="3" name="Text 1"/>
          <p:cNvSpPr/>
          <p:nvPr/>
        </p:nvSpPr>
        <p:spPr>
          <a:xfrm>
            <a:off x="812800" y="2174180"/>
            <a:ext cx="5969000" cy="2821732"/>
          </a:xfrm>
          <a:prstGeom prst="roundRect">
            <a:avLst>
              <a:gd name="adj" fmla="val 3601"/>
            </a:avLst>
          </a:prstGeom>
          <a:solidFill>
            <a:srgbClr val="1B1F26"/>
          </a:solidFill>
          <a:ln/>
        </p:spPr>
        <p:txBody>
          <a:bodyPr wrap="square" lIns="224242" tIns="224242" rIns="60412" bIns="224242" rtlCol="0" anchor="t">
            <a:normAutofit/>
          </a:bodyPr>
          <a:lstStyle/>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 = Circuit()</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c.noul("pii", "Contains personal info?")</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c.gate("redact", Q("pii") &gt;= 0.6,</a:t>
            </a: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       band=0.1, on_uncertain="escalate")</a:t>
            </a:r>
            <a:endParaRPr lang="en-US" sz="1300" dirty="0"/>
          </a:p>
          <a:p>
            <a:pPr algn="l" indent="0" marL="0">
              <a:lnSpc>
                <a:spcPts val="2015"/>
              </a:lnSpc>
              <a:buNone/>
            </a:pPr>
            <a:endParaRPr lang="en-US" sz="1300" dirty="0"/>
          </a:p>
          <a:p>
            <a:pPr algn="l" indent="0" marL="0">
              <a:lnSpc>
                <a:spcPts val="2015"/>
              </a:lnSpc>
              <a:buNone/>
            </a:pPr>
            <a:r>
              <a:rPr lang="en-US" sz="1300" dirty="0">
                <a:solidFill>
                  <a:srgbClr val="E9E6DE"/>
                </a:solidFill>
                <a:latin typeface="IBM Plex Mono" pitchFamily="34" charset="0"/>
                <a:ea typeface="IBM Plex Mono" pitchFamily="34" charset="-122"/>
                <a:cs typeface="IBM Plex Mono" pitchFamily="34" charset="-120"/>
              </a:rPr>
              <a:t>out = c.run(api, msg, model="circuit-8b")</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{'value': True, 'p': 0.81,</a:t>
            </a:r>
            <a:endParaRPr lang="en-US" sz="1300" dirty="0"/>
          </a:p>
          <a:p>
            <a:pPr algn="l" indent="0" marL="0">
              <a:lnSpc>
                <a:spcPts val="2015"/>
              </a:lnSpc>
              <a:buNone/>
            </a:pPr>
            <a:r>
              <a:rPr lang="en-US" sz="1300" dirty="0">
                <a:solidFill>
                  <a:srgbClr val="F0873F"/>
                </a:solidFill>
                <a:latin typeface="IBM Plex Mono" pitchFamily="34" charset="0"/>
                <a:ea typeface="IBM Plex Mono" pitchFamily="34" charset="-122"/>
                <a:cs typeface="IBM Plex Mono" pitchFamily="34" charset="-120"/>
              </a:rPr>
              <a:t>#  'outcome': 'decided'}</a:t>
            </a:r>
            <a:endParaRPr lang="en-US" sz="1300" dirty="0"/>
          </a:p>
        </p:txBody>
      </p:sp>
      <p:sp>
        <p:nvSpPr>
          <p:cNvPr id="4" name="Text 2"/>
          <p:cNvSpPr/>
          <p:nvPr/>
        </p:nvSpPr>
        <p:spPr>
          <a:xfrm>
            <a:off x="7035800" y="2174180"/>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Questions</a:t>
            </a:r>
            <a:endParaRPr lang="en-US" sz="1800" dirty="0"/>
          </a:p>
        </p:txBody>
      </p:sp>
      <p:sp>
        <p:nvSpPr>
          <p:cNvPr id="5" name="Text 3"/>
          <p:cNvSpPr/>
          <p:nvPr/>
        </p:nvSpPr>
        <p:spPr>
          <a:xfrm>
            <a:off x="7035800" y="249927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The model answers them with probabilities. It never sees the rules.</a:t>
            </a:r>
            <a:endParaRPr lang="en-US" sz="1400" dirty="0"/>
          </a:p>
        </p:txBody>
      </p:sp>
      <p:sp>
        <p:nvSpPr>
          <p:cNvPr id="6" name="Text 4"/>
          <p:cNvSpPr/>
          <p:nvPr/>
        </p:nvSpPr>
        <p:spPr>
          <a:xfrm>
            <a:off x="7035800" y="3182491"/>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Gates</a:t>
            </a:r>
            <a:endParaRPr lang="en-US" sz="1800" dirty="0"/>
          </a:p>
        </p:txBody>
      </p:sp>
      <p:sp>
        <p:nvSpPr>
          <p:cNvPr id="7" name="Text 5"/>
          <p:cNvSpPr/>
          <p:nvPr/>
        </p:nvSpPr>
        <p:spPr>
          <a:xfrm>
            <a:off x="7035800" y="3507581"/>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Thresholds, AND / OR / NOT, votes and checks, written in code.</a:t>
            </a:r>
            <a:endParaRPr lang="en-US" sz="1400" dirty="0"/>
          </a:p>
        </p:txBody>
      </p:sp>
      <p:sp>
        <p:nvSpPr>
          <p:cNvPr id="8" name="Text 6"/>
          <p:cNvSpPr/>
          <p:nvPr/>
        </p:nvSpPr>
        <p:spPr>
          <a:xfrm>
            <a:off x="7035800" y="4190802"/>
            <a:ext cx="4473702" cy="29969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5D9E"/>
                </a:solidFill>
                <a:latin typeface="Space Grotesk" pitchFamily="34" charset="0"/>
                <a:ea typeface="Space Grotesk" pitchFamily="34" charset="-122"/>
                <a:cs typeface="Space Grotesk" pitchFamily="34" charset="-120"/>
              </a:rPr>
              <a:t>Traces</a:t>
            </a:r>
            <a:endParaRPr lang="en-US" sz="1800" dirty="0"/>
          </a:p>
        </p:txBody>
      </p:sp>
      <p:sp>
        <p:nvSpPr>
          <p:cNvPr id="9" name="Text 7"/>
          <p:cNvSpPr/>
          <p:nvPr/>
        </p:nvSpPr>
        <p:spPr>
          <a:xfrm>
            <a:off x="7035800" y="4515892"/>
            <a:ext cx="4473702" cy="5054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F26"/>
                </a:solidFill>
                <a:latin typeface="Space Grotesk" pitchFamily="34" charset="0"/>
                <a:ea typeface="Space Grotesk" pitchFamily="34" charset="-122"/>
                <a:cs typeface="Space Grotesk" pitchFamily="34" charset="-120"/>
              </a:rPr>
              <a:t>Every decision keeps its probability, outcome and path.</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pip install decision-circuits · works with Jev or any model on the same API · Decide in code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The band is where people come back in</a:t>
            </a:r>
            <a:endParaRPr lang="en-US" sz="3600" dirty="0"/>
          </a:p>
        </p:txBody>
      </p:sp>
      <p:pic>
        <p:nvPicPr>
          <p:cNvPr id="3" name="Image 0" descr="A probability line from 0 to 1 with a threshold at 0.6 and an escalation band from 0.5 to 0.7. A probability of 0.81 is decided and redacted; 0.65 falls in the band and goes to a human.">    </p:cNvPr>
          <p:cNvPicPr>
            <a:picLocks noChangeAspect="1"/>
          </p:cNvPicPr>
          <p:nvPr/>
        </p:nvPicPr>
        <p:blipFill>
          <a:blip r:embed="rId1"/>
          <a:srcRect l="0" r="0" t="-55" b="-55"/>
          <a:stretch/>
        </p:blipFill>
        <p:spPr>
          <a:xfrm>
            <a:off x="812800" y="1671290"/>
            <a:ext cx="10566400" cy="2159000"/>
          </a:xfrm>
          <a:prstGeom prst="rect">
            <a:avLst/>
          </a:prstGeom>
        </p:spPr>
      </p:pic>
      <p:sp>
        <p:nvSpPr>
          <p:cNvPr id="4" name="Text 1"/>
          <p:cNvSpPr/>
          <p:nvPr/>
        </p:nvSpPr>
        <p:spPr>
          <a:xfrm>
            <a:off x="812800" y="418589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1B1F26"/>
                </a:solidFill>
                <a:latin typeface="Space Grotesk" pitchFamily="34" charset="0"/>
                <a:ea typeface="Space Grotesk" pitchFamily="34" charset="-122"/>
                <a:cs typeface="Space Grotesk" pitchFamily="34" charset="-120"/>
              </a:rPr>
              <a:t>Near the line, the circuit says so instead of guessing. That's your human-in-the-loop, priced in a number the model actually reports.</a:t>
            </a:r>
            <a:endParaRPr lang="en-US" sz="1800" dirty="0"/>
          </a:p>
        </p:txBody>
      </p:sp>
      <p:sp>
        <p:nvSpPr>
          <p:cNvPr id="5" name="Text 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Threshold 0.6, band ±0.1 · Decide in code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Tonight's demo: a PII and routing guard</a:t>
            </a:r>
            <a:endParaRPr lang="en-US" sz="3600" dirty="0"/>
          </a:p>
        </p:txBody>
      </p:sp>
      <p:pic>
        <p:nvPicPr>
          <p:cNvPr id="3" name="Image 0" descr="Architecture: a client calls API Gateway, which invokes a Lambda function. The Lambda reads an API key from Secrets Manager and sends typed questions to the hosted circuit-8b model. Decided messages are redacted or routed and logged with their trace in CloudWatch. Uncertain messages go to an SQS human-review queue, and Bedrock writes a summary for the reviewer.">    </p:cNvPr>
          <p:cNvPicPr>
            <a:picLocks noChangeAspect="1"/>
          </p:cNvPicPr>
          <p:nvPr/>
        </p:nvPicPr>
        <p:blipFill>
          <a:blip r:embed="rId1"/>
          <a:srcRect l="0" r="0" t="-31" b="-31"/>
          <a:stretch/>
        </p:blipFill>
        <p:spPr>
          <a:xfrm>
            <a:off x="812800" y="1620490"/>
            <a:ext cx="10566400" cy="3810000"/>
          </a:xfrm>
          <a:prstGeom prst="rect">
            <a:avLst/>
          </a:prstGeom>
        </p:spPr>
      </p:pic>
      <p:sp>
        <p:nvSpPr>
          <p:cNvPr id="4" name="Text 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All of it defined in Terraform · Decide in code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4171C"/>
        </a:solidFill>
      </p:bgPr>
    </p:bg>
    <p:spTree>
      <p:nvGrpSpPr>
        <p:cNvPr id="1" name=""/>
        <p:cNvGrpSpPr/>
        <p:nvPr/>
      </p:nvGrpSpPr>
      <p:grpSpPr>
        <a:xfrm>
          <a:off x="0" y="0"/>
          <a:ext cx="0" cy="0"/>
          <a:chOff x="0" y="0"/>
          <a:chExt cx="0" cy="0"/>
        </a:xfrm>
      </p:grpSpPr>
      <p:sp>
        <p:nvSpPr>
          <p:cNvPr id="2" name="Text 0"/>
          <p:cNvSpPr/>
          <p:nvPr/>
        </p:nvSpPr>
        <p:spPr>
          <a:xfrm>
            <a:off x="812800" y="18688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0873F"/>
                </a:solidFill>
                <a:latin typeface="IBM Plex Mono" pitchFamily="34" charset="0"/>
                <a:ea typeface="IBM Plex Mono" pitchFamily="34" charset="-122"/>
                <a:cs typeface="IBM Plex Mono" pitchFamily="34" charset="-120"/>
              </a:rPr>
              <a:t>LIVE DEMO</a:t>
            </a:r>
            <a:endParaRPr lang="en-US" sz="1200" dirty="0"/>
          </a:p>
        </p:txBody>
      </p:sp>
      <p:sp>
        <p:nvSpPr>
          <p:cNvPr id="3" name="Text 1"/>
          <p:cNvSpPr/>
          <p:nvPr/>
        </p:nvSpPr>
        <p:spPr>
          <a:xfrm>
            <a:off x="812800" y="2437805"/>
            <a:ext cx="10883392" cy="787400"/>
          </a:xfrm>
          <a:prstGeom prst="rect">
            <a:avLst/>
          </a:prstGeom>
          <a:noFill/>
          <a:ln/>
        </p:spPr>
        <p:txBody>
          <a:bodyPr wrap="square" lIns="0" tIns="0" rIns="0" bIns="0" rtlCol="0" anchor="t">
            <a:normAutofit/>
          </a:bodyPr>
          <a:lstStyle/>
          <a:p>
            <a:pPr algn="l" indent="0" marL="0">
              <a:lnSpc>
                <a:spcPts val="6000"/>
              </a:lnSpc>
              <a:buNone/>
            </a:pPr>
            <a:r>
              <a:rPr lang="en-US" sz="6000" b="1" dirty="0">
                <a:solidFill>
                  <a:srgbClr val="F4F1EA"/>
                </a:solidFill>
                <a:latin typeface="IBM Plex Mono" pitchFamily="34" charset="0"/>
                <a:ea typeface="IBM Plex Mono" pitchFamily="34" charset="-122"/>
                <a:cs typeface="IBM Plex Mono" pitchFamily="34" charset="-120"/>
              </a:rPr>
              <a:t>terraform apply</a:t>
            </a:r>
            <a:endParaRPr lang="en-US" sz="6000" dirty="0"/>
          </a:p>
        </p:txBody>
      </p:sp>
      <p:sp>
        <p:nvSpPr>
          <p:cNvPr id="4" name="Text 2"/>
          <p:cNvSpPr/>
          <p:nvPr/>
        </p:nvSpPr>
        <p:spPr>
          <a:xfrm>
            <a:off x="812800" y="355540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1</a:t>
            </a:r>
            <a:r>
              <a:rPr lang="en-US" sz="1800" dirty="0">
                <a:solidFill>
                  <a:srgbClr val="F4F1EA"/>
                </a:solidFill>
                <a:latin typeface="Space Grotesk" pitchFamily="34" charset="0"/>
                <a:ea typeface="Space Grotesk" pitchFamily="34" charset="-122"/>
                <a:cs typeface="Space Grotesk" pitchFamily="34" charset="-120"/>
              </a:rPr>
              <a:t>  A routine billing question: decided and routed</a:t>
            </a:r>
            <a:endParaRPr lang="en-US" sz="1800" dirty="0"/>
          </a:p>
        </p:txBody>
      </p:sp>
      <p:sp>
        <p:nvSpPr>
          <p:cNvPr id="5" name="Text 3"/>
          <p:cNvSpPr/>
          <p:nvPr/>
        </p:nvSpPr>
        <p:spPr>
          <a:xfrm>
            <a:off x="812800" y="401637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2</a:t>
            </a:r>
            <a:r>
              <a:rPr lang="en-US" sz="1800" dirty="0">
                <a:solidFill>
                  <a:srgbClr val="F4F1EA"/>
                </a:solidFill>
                <a:latin typeface="Space Grotesk" pitchFamily="34" charset="0"/>
                <a:ea typeface="Space Grotesk" pitchFamily="34" charset="-122"/>
                <a:cs typeface="Space Grotesk" pitchFamily="34" charset="-120"/>
              </a:rPr>
              <a:t>  A message with an account number: redacted</a:t>
            </a:r>
            <a:endParaRPr lang="en-US" sz="1800" dirty="0"/>
          </a:p>
        </p:txBody>
      </p:sp>
      <p:sp>
        <p:nvSpPr>
          <p:cNvPr id="6" name="Text 4"/>
          <p:cNvSpPr/>
          <p:nvPr/>
        </p:nvSpPr>
        <p:spPr>
          <a:xfrm>
            <a:off x="812800" y="4477345"/>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3</a:t>
            </a:r>
            <a:r>
              <a:rPr lang="en-US" sz="1800" dirty="0">
                <a:solidFill>
                  <a:srgbClr val="F4F1EA"/>
                </a:solidFill>
                <a:latin typeface="Space Grotesk" pitchFamily="34" charset="0"/>
                <a:ea typeface="Space Grotesk" pitchFamily="34" charset="-122"/>
                <a:cs typeface="Space Grotesk" pitchFamily="34" charset="-120"/>
              </a:rPr>
              <a:t>  A borderline one: sent to the review queue with a Bedrock summary</a:t>
            </a:r>
            <a:endParaRPr lang="en-US" sz="1800" dirty="0"/>
          </a:p>
        </p:txBody>
      </p:sp>
      <p:sp>
        <p:nvSpPr>
          <p:cNvPr id="8" name="Text 8"/>
          <p:cNvSpPr/>
          <p:nvPr/>
        </p:nvSpPr>
        <p:spPr>
          <a:xfrm>
            <a:off x="812800" y="4946904"/>
            <a:ext cx="10883392" cy="333970"/>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F0873F"/>
                </a:solidFill>
                <a:latin typeface="Space Grotesk" pitchFamily="34" charset="0"/>
                <a:ea typeface="Space Grotesk" pitchFamily="34" charset="-122"/>
                <a:cs typeface="Space Grotesk" pitchFamily="34" charset="-120"/>
              </a:rPr>
              <a:t>4</a:t>
            </a:r>
            <a:r>
              <a:rPr lang="en-US" sz="1800" dirty="0">
                <a:solidFill>
                  <a:srgbClr val="F4F1EA"/>
                </a:solidFill>
                <a:latin typeface="Space Grotesk" pitchFamily="34" charset="0"/>
                <a:ea typeface="Space Grotesk" pitchFamily="34" charset="-122"/>
                <a:cs typeface="Space Grotesk" pitchFamily="34" charset="-120"/>
              </a:rPr>
              <a:t>  Live change: add an “angry customer” question and gate, redeploy, try it</a:t>
            </a:r>
            <a:endParaRPr lang="en-US" sz="18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7ADB8"/>
                </a:solidFill>
                <a:latin typeface="Space Grotesk" pitchFamily="34" charset="0"/>
                <a:ea typeface="Space Grotesk" pitchFamily="34" charset="-122"/>
                <a:cs typeface="Space Grotesk" pitchFamily="34" charset="-120"/>
              </a:rPr>
              <a:t>Decide in code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B1F26"/>
                </a:solidFill>
                <a:latin typeface="Space Grotesk" pitchFamily="34" charset="0"/>
                <a:ea typeface="Space Grotesk" pitchFamily="34" charset="-122"/>
                <a:cs typeface="Space Grotesk" pitchFamily="34" charset="-120"/>
              </a:rPr>
              <a:t>Three things to take home</a:t>
            </a:r>
            <a:endParaRPr lang="en-US" sz="3600" dirty="0"/>
          </a:p>
        </p:txBody>
      </p:sp>
      <p:sp>
        <p:nvSpPr>
          <p:cNvPr id="3" name="Shape 1"/>
          <p:cNvSpPr/>
          <p:nvPr/>
        </p:nvSpPr>
        <p:spPr>
          <a:xfrm>
            <a:off x="815975" y="2425750"/>
            <a:ext cx="3380284" cy="1915071"/>
          </a:xfrm>
          <a:prstGeom prst="roundRect">
            <a:avLst>
              <a:gd name="adj" fmla="val 5139"/>
            </a:avLst>
          </a:prstGeom>
          <a:solidFill>
            <a:srgbClr val="FBFAF6"/>
          </a:solidFill>
          <a:ln w="6350">
            <a:solidFill>
              <a:srgbClr val="D9D3C5"/>
            </a:solidFill>
            <a:prstDash val="solid"/>
          </a:ln>
        </p:spPr>
        <p:txBody>
          <a:bodyPr/>
          <a:p/>
        </p:txBody>
      </p:sp>
      <p:sp>
        <p:nvSpPr>
          <p:cNvPr id="4" name="Text 2"/>
          <p:cNvSpPr/>
          <p:nvPr/>
        </p:nvSpPr>
        <p:spPr>
          <a:xfrm>
            <a:off x="1073150" y="2682925"/>
            <a:ext cx="2951912"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1</a:t>
            </a:r>
            <a:endParaRPr lang="en-US" sz="3600" dirty="0"/>
          </a:p>
        </p:txBody>
      </p:sp>
      <p:sp>
        <p:nvSpPr>
          <p:cNvPr id="5" name="Text 3"/>
          <p:cNvSpPr/>
          <p:nvPr/>
        </p:nvSpPr>
        <p:spPr>
          <a:xfrm>
            <a:off x="1073150" y="3241725"/>
            <a:ext cx="2951912" cy="586680"/>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Find the decisions hiding in your LLM calls.</a:t>
            </a:r>
            <a:endParaRPr lang="en-US" sz="1700" dirty="0"/>
          </a:p>
        </p:txBody>
      </p:sp>
      <p:sp>
        <p:nvSpPr>
          <p:cNvPr id="6" name="Shape 4"/>
          <p:cNvSpPr/>
          <p:nvPr/>
        </p:nvSpPr>
        <p:spPr>
          <a:xfrm>
            <a:off x="4405809"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7" name="Text 5"/>
          <p:cNvSpPr/>
          <p:nvPr/>
        </p:nvSpPr>
        <p:spPr>
          <a:xfrm>
            <a:off x="4662984"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2</a:t>
            </a:r>
            <a:endParaRPr lang="en-US" sz="3600" dirty="0"/>
          </a:p>
        </p:txBody>
      </p:sp>
      <p:sp>
        <p:nvSpPr>
          <p:cNvPr id="8" name="Text 6"/>
          <p:cNvSpPr/>
          <p:nvPr/>
        </p:nvSpPr>
        <p:spPr>
          <a:xfrm>
            <a:off x="4662984"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Let the model answer questions. Let code decide.</a:t>
            </a:r>
            <a:endParaRPr lang="en-US" sz="1700" dirty="0"/>
          </a:p>
        </p:txBody>
      </p:sp>
      <p:sp>
        <p:nvSpPr>
          <p:cNvPr id="9" name="Shape 7"/>
          <p:cNvSpPr/>
          <p:nvPr/>
        </p:nvSpPr>
        <p:spPr>
          <a:xfrm>
            <a:off x="7995692" y="2425750"/>
            <a:ext cx="3380333" cy="1915071"/>
          </a:xfrm>
          <a:prstGeom prst="roundRect">
            <a:avLst>
              <a:gd name="adj" fmla="val 5139"/>
            </a:avLst>
          </a:prstGeom>
          <a:solidFill>
            <a:srgbClr val="FBFAF6"/>
          </a:solidFill>
          <a:ln w="6350">
            <a:solidFill>
              <a:srgbClr val="D9D3C5"/>
            </a:solidFill>
            <a:prstDash val="solid"/>
          </a:ln>
        </p:spPr>
        <p:txBody>
          <a:bodyPr/>
          <a:p/>
        </p:txBody>
      </p:sp>
      <p:sp>
        <p:nvSpPr>
          <p:cNvPr id="10" name="Text 8"/>
          <p:cNvSpPr/>
          <p:nvPr/>
        </p:nvSpPr>
        <p:spPr>
          <a:xfrm>
            <a:off x="8252867" y="2682925"/>
            <a:ext cx="2951963"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B4521A"/>
                </a:solidFill>
                <a:latin typeface="Space Grotesk" pitchFamily="34" charset="0"/>
                <a:ea typeface="Space Grotesk" pitchFamily="34" charset="-122"/>
                <a:cs typeface="Space Grotesk" pitchFamily="34" charset="-120"/>
              </a:rPr>
              <a:t>3</a:t>
            </a:r>
            <a:endParaRPr lang="en-US" sz="3600" dirty="0"/>
          </a:p>
        </p:txBody>
      </p:sp>
      <p:sp>
        <p:nvSpPr>
          <p:cNvPr id="11" name="Text 9"/>
          <p:cNvSpPr/>
          <p:nvPr/>
        </p:nvSpPr>
        <p:spPr>
          <a:xfrm>
            <a:off x="8252867" y="3241725"/>
            <a:ext cx="2951963" cy="86732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1B1F26"/>
                </a:solidFill>
                <a:latin typeface="Space Grotesk" pitchFamily="34" charset="0"/>
                <a:ea typeface="Space Grotesk" pitchFamily="34" charset="-122"/>
                <a:cs typeface="Space Grotesk" pitchFamily="34" charset="-120"/>
              </a:rPr>
              <a:t>Don't wait for Bedrock: vendor API, drop-in clone, or your own weights.</a:t>
            </a:r>
            <a:endParaRPr lang="en-US" sz="1700" dirty="0"/>
          </a:p>
        </p:txBody>
      </p:sp>
      <p:sp>
        <p:nvSpPr>
          <p:cNvPr id="12" name="Text 10"/>
          <p:cNvSpPr/>
          <p:nvPr/>
        </p:nvSpPr>
        <p:spPr>
          <a:xfrm>
            <a:off x="812800" y="54508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1B1F26"/>
                </a:solidFill>
                <a:latin typeface="Space Grotesk" pitchFamily="34" charset="0"/>
                <a:ea typeface="Space Grotesk" pitchFamily="34" charset="-122"/>
                <a:cs typeface="Space Grotesk" pitchFamily="34" charset="-120"/>
              </a:rPr>
              <a:t>Questions?</a:t>
            </a:r>
            <a:endParaRPr lang="en-US" sz="22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6270"/>
                </a:solidFill>
                <a:latin typeface="Space Grotesk" pitchFamily="34" charset="0"/>
                <a:ea typeface="Space Grotesk" pitchFamily="34" charset="-122"/>
                <a:cs typeface="Space Grotesk" pitchFamily="34" charset="-120"/>
              </a:rPr>
              <a:t>decisioncircuits.com · typesafe.ai · Decide in code · 17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Decide in Code: System One Models on AWS</dc:title>
  <dc:subject>PptxGenJS Presentation</dc:subject>
  <dc:creator>PptxGenJS</dc:creator>
  <cp:lastModifiedBy>PptxGenJS</cp:lastModifiedBy>
  <cp:revision>1</cp:revision>
  <dcterms:created xsi:type="dcterms:W3CDTF">2026-09-30T13:58:21Z</dcterms:created>
  <dcterms:modified xsi:type="dcterms:W3CDTF">2026-09-30T13:58:21Z</dcterms:modified>
</cp:coreProperties>
</file>