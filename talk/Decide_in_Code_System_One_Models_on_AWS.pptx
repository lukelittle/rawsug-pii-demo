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22"/>
    <p:sldId id="257" r:id="rId3"/>
    <p:sldId id="258" r:id="rId4"/>
    <p:sldId id="259" r:id="rId5"/>
    <p:sldId id="270" r:id="rId21"/>
    <p:sldId id="275" r:id="rId26"/>
    <p:sldId id="276" r:id="rId27"/>
    <p:sldId id="277" r:id="rId28"/>
    <p:sldId id="272" r:id="rId23"/>
    <p:sldId id="260" r:id="rId6"/>
    <p:sldId id="261" r:id="rId7"/>
    <p:sldId id="262" r:id="rId8"/>
    <p:sldId id="263" r:id="rId9"/>
    <p:sldId id="264" r:id="rId10"/>
    <p:sldId id="265" r:id="rId11"/>
    <p:sldId id="266" r:id="rId12"/>
    <p:sldId id="273" r:id="rId24"/>
    <p:sldId id="267" r:id="rId13"/>
    <p:sldId id="274" r:id="rId25"/>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6.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6.xml"/><Relationship Id="rId22" Type="http://schemas.openxmlformats.org/officeDocument/2006/relationships/slide" Target="slides/slide2.xml"/><Relationship Id="rId23" Type="http://schemas.openxmlformats.org/officeDocument/2006/relationships/slide" Target="slides/slide7.xml"/><Relationship Id="rId24" Type="http://schemas.openxmlformats.org/officeDocument/2006/relationships/slide" Target="slides/slide15.xml"/><Relationship Id="rId25" Type="http://schemas.openxmlformats.org/officeDocument/2006/relationships/slide" Target="slides/slide17.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 30 sec]</a:t>
            </a:r>
          </a:p>
          <a:p>
            <a:r>
              <a:t>DO: Have this slide up while people sit down. scripts/warmup.sh --keep-warm is already running in a hidden terminal; the GUI is open in another window.</a:t>
            </a:r>
          </a:p>
          <a:p>
            <a:r>
              <a:t>SAY: "Hi everyone, thanks for coming. Tonight is about a new kind of AI model that showed up about two weeks ago, why it matters for almost anything you build with AI, and how to run one on AWS today, even though it isn't in Bedrock. We'll finish with a live demo on AWS, and I'll change its logic live on stage."</a:t>
            </a:r>
          </a:p>
          <a:p>
            <a:r>
              <a:t>NEXT: "Quick intro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 1 min]</a:t>
            </a:r>
          </a:p>
          <a:p>
            <a:r>
              <a:t>DO: Ask for hands.</a:t>
            </a:r>
          </a:p>
          <a:p>
            <a:r>
              <a:t>SAY: "Show of hands: who has a regex or a JSON parser wrapped around an LLM response in production? Keep your hand up if it has broken at least once."</a:t>
            </a:r>
          </a:p>
          <a:p>
            <a:r>
              <a:t>DO: Let the laugh happen.</a:t>
            </a:r>
          </a:p>
          <a:p>
            <a:r>
              <a:t>SAY: "That's the smell this talk is about. We use a model built to write, a novelist, and then we spend engineering time forcing its writing back into a single bit: yes or no, this team or that team. Tonight is about a kind of model that skips the writing entirely."</a:t>
            </a:r>
          </a:p>
          <a:p>
            <a:r>
              <a:t>NEXT: "Let me show you how common this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 · 1.5 min]</a:t>
            </a:r>
          </a:p>
          <a:p>
            <a:r>
              <a:t>SAY: "Here are four calls I see in almost every AI project." DO: Point at each card.</a:t>
            </a:r>
          </a:p>
          <a:p>
            <a:r>
              <a:t>SAY: "Is this spam? Yes or no. Which team gets this ticket? One of N. Is this agent's tool call safe? Allow, block, or ask a human. Does this contain PII? A probability."</a:t>
            </a:r>
          </a:p>
          <a:p>
            <a:r>
              <a:t>SAY: "Notice what they have in common: you knew every possible answer before you ever called the model. So you don't need the model to write an answer. You need it to tell you which answer, and how sure it is."</a:t>
            </a:r>
          </a:p>
          <a:p>
            <a:r>
              <a:t>NEXT: "There's now a kind of model built for exactly that. Here's what talking to one looks like."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[3:30 · 2 min]</a:t>
            </a:r>
          </a:p>
          <a:p>
            <a:r>
              <a:t>DO: Point left box, then right box. Go slowly.</a:t>
            </a:r>
          </a:p>
          <a:p>
            <a:r>
              <a:t>SAY: "On the left is the whole request. Two things. The state: whatever you're deciding about, here a sentence with a name and an account number. And the questions: typed questions you write in plain English. This one is a 'noul', their name for a yes/no question. There's also 'choice', pick one from a list, and 'score', a level on a scale."</a:t>
            </a:r>
          </a:p>
          <a:p>
            <a:r>
              <a:t>SAY: "On the right is the whole response. Not 'yes', not a paragraph. A number: 0.814 that this contains PII."</a:t>
            </a:r>
          </a:p>
          <a:p>
            <a:r>
              <a:t>SAY: "Nothing comes back that you didn't ask for. So there's nothing to parse, nothing to validate against a schema. One pass, and the answer space was fixed before the model ran."</a:t>
            </a:r>
          </a:p>
          <a:p>
            <a:r>
              <a:t>NEXT: "Why is it called System One? This is the slide that makes the rest of the talk make sense."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[13:00 · 1 min]</a:t>
            </a:r>
          </a:p>
          <a:p>
            <a:r>
              <a:t>SAY: "On September 15th TypeSafe launched Jev and coined the term 'System One model'. 70 to 500 milliseconds per call, end to end, by their numbers. Zero words of prose: labels, scores and probabilities."</a:t>
            </a:r>
          </a:p>
          <a:p>
            <a:r>
              <a:t>SAY: "I'll be honest about maturity: it's two weeks old, early access, and the benchmarks are the vendor's own. The architecture idea is the thing to take home, whoever's model you use."</a:t>
            </a:r>
          </a:p>
          <a:p>
            <a:r>
              <a:t>NEXT: "So why should an architect care?"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[14:00 · 1 min]</a:t>
            </a:r>
          </a:p>
          <a:p>
            <a:r>
              <a:t>DO: One card at a time.</a:t>
            </a:r>
          </a:p>
          <a:p>
            <a:r>
              <a:t>SAY: "Fast and cheap: one pass, no generation, hundreds of milliseconds."</a:t>
            </a:r>
          </a:p>
          <a:p>
            <a:r>
              <a:t>SAY: "Always parseable: it can't answer outside the questions you defined. No regex over prose."</a:t>
            </a:r>
          </a:p>
          <a:p>
            <a:r>
              <a:t>SAY: "Honest about doubt: every answer has a probability you can put a threshold on. We'll use that in a few minutes."</a:t>
            </a:r>
          </a:p>
          <a:p>
            <a:r>
              <a:t>SAY: "And auditable. For the financial-services folks in the room: a model risk reviewer can read 'p = 0.81, threshold 0.6, decided' far more easily than a paragraph of chain-of-thought."</a:t>
            </a:r>
          </a:p>
          <a:p>
            <a:r>
              <a:t>NEXT: "So far this sounds perfect. It isn't."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[15:00 · 2 min] THE PIVOT. Slow down, let it land.</a:t>
            </a:r>
          </a:p>
          <a:p>
            <a:r>
              <a:t>SAY: "Valid isn't correct. A schema guarantees the shape of an answer, not the truth of it. A System One model can say 0.9 about something it has no business being sure of, and that answer passes every validation check you have."</a:t>
            </a:r>
          </a:p>
          <a:p>
            <a:r>
              <a:t>SAY: "The scoreboard number: on test items deliberately built to be undecidable, every model measured, Jev included, still answered with average confidence between 0.5 and 0.97. Calibrated on average does not mean right on this item."</a:t>
            </a:r>
          </a:p>
          <a:p>
            <a:r>
              <a:t>SAY: "So the model shouldn't be the one making the decision. It should answer questions, and your code should decide, with an explicit way to say 'I'm not sure, send this to a person.' That's the rest of the talk."</a:t>
            </a:r>
          </a:p>
          <a:p>
            <a:r>
              <a:t>NEXT: "But first, the AWS question everyone's thinking: can I get this in Bedrock?"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[17:00 · 2 min]</a:t>
            </a:r>
          </a:p>
          <a:p>
            <a:r>
              <a:t>SAY: "Not yet. As of late September, Jev isn't in the Bedrock catalog and AWS hasn't announced anything. So there are three ways in."</a:t>
            </a:r>
          </a:p>
          <a:p>
            <a:r>
              <a:t>DO: Walk the rows. SAY: "One: call TypeSafe's API directly. Easy, but data leaves your account. Two: a drop-in clone, circuit-8b, hosted, speaking the exact same API. Swapping between them is one URL. Three: own the weights. Run circuit-1.7b or 8b from Hugging Face on SageMaker or ECS, and the data never leaves your account. That's the answer for regulated shops."</a:t>
            </a:r>
          </a:p>
          <a:p>
            <a:r>
              <a:t>SAY: "Whichever door you pick, the AWS pattern is the same: the model sits next to Bedrock, not instead of it. Key in Secrets Manager, a Lambda wrapper, thresholds before anything consequential."</a:t>
            </a:r>
          </a:p>
          <a:p>
            <a:r>
              <a:t>NEXT: "Are the open clones any good?"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[19:00 · 1.5 min]</a:t>
            </a:r>
          </a:p>
          <a:p>
            <a:r>
              <a:t>SAY: "Surprisingly good. These are the author's reported numbers." DO: Point at the table.</a:t>
            </a:r>
          </a:p>
          <a:p>
            <a:r>
              <a:t>SAY: "On spam and on 151 intents, the circuit models hold their own. Be fair about the footnote: the circuit models trained on the public spam and intent data, and Jev presumably didn't. The utility-calls column is the cleaner comparison, and Jev still leads it."</a:t>
            </a:r>
          </a:p>
          <a:p>
            <a:r>
              <a:t>SAY: "The point isn't that the clone beats Jev. It's that a model you can host yourself is close enough to be a real option. circuit-1.7b was trained in 61 minutes on one gaming GPU, and the weights are public. These are James Barney's models; I'll give him proper credit in a minute."</a:t>
            </a:r>
          </a:p>
          <a:p>
            <a:r>
              <a:t>NEXT: "Now, how do you make the model answer while your code decides?"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[20:30 · 3 min]</a:t>
            </a:r>
          </a:p>
          <a:p>
            <a:r>
              <a:t>DO: Point at the code, line by line.</a:t>
            </a:r>
          </a:p>
          <a:p>
            <a:r>
              <a:t>SAY: "This is decision-circuits, James Barney's open-source library. Three ideas."</a:t>
            </a:r>
          </a:p>
          <a:p>
            <a:r>
              <a:t>SAY: "Questions: you ask them, and the model answers with probabilities. It never sees the rules."</a:t>
            </a:r>
          </a:p>
          <a:p>
            <a:r>
              <a:t>SAY: "Gates: thresholds, AND, OR, NOT, votes, written in plain code. This one says redact if the probability of PII is at least 0.6, with a band of 0.1, and escalate if it's uncertain."</a:t>
            </a:r>
          </a:p>
          <a:p>
            <a:r>
              <a:t>SAY: "Traces: every decision keeps its probability, its outcome and the path that produced it."</a:t>
            </a:r>
          </a:p>
          <a:p>
            <a:r>
              <a:t>SAY: "Same idea as a policy engine: the model supplies evidence, your code applies policy. Because the threshold lives in code, you change it in a pull request, not by retraining or re-prompting."</a:t>
            </a:r>
          </a:p>
          <a:p>
            <a:r>
              <a:t>NOTE: the demo's redact gate is one step richer: it also asks 'are the details about a business, not a person?' and redacts on (pii AND NOT business) &gt;= 0.6. AND is just multiplying the two probabilities.</a:t>
            </a:r>
          </a:p>
          <a:p>
            <a:r>
              <a:t>NEXT: "And that 'band' is the most important number on this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[23:30 · 2 min]</a:t>
            </a:r>
          </a:p>
          <a:p>
            <a:r>
              <a:t>DO: Point at the line, then the shaded box, then each dot.</a:t>
            </a:r>
          </a:p>
          <a:p>
            <a:r>
              <a:t>SAY: "Threshold 0.6, band 0.1. Clearly above 0.7: decided, redact. Clearly below 0.5: decided, don't redact. Anything between 0.5 and 0.7, the circuit refuses to guess. It escalates to a human."</a:t>
            </a:r>
          </a:p>
          <a:p>
            <a:r>
              <a:t>SAY: "So 0.81 is decided. 0.65 is in the band, so a person looks at it."</a:t>
            </a:r>
          </a:p>
          <a:p>
            <a:r>
              <a:t>SAY: "Compare that with the usual trick of asking two LLMs and escalating when they disagree. Disagreement was a stand-in for a confidence number we didn't have. Now we have the number, so the human-in-the-loop rule is one line of code you can tune."</a:t>
            </a:r>
          </a:p>
          <a:p>
            <a:r>
              <a:t>NEXT: "Before the demo, I owe someone a thank-you."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[26:30 · 1.5 min]</a:t>
            </a:r>
          </a:p>
          <a:p>
            <a:r>
              <a:t>DO: Walk the diagram left to right.</a:t>
            </a:r>
          </a:p>
          <a:p>
            <a:r>
              <a:t>SAY: "A client calls API Gateway. The route requires IAM-signed requests, so nobody who sees the URL on a slide can hit it. API Gateway invokes a Lambda that runs the circuit. The Lambda reads the model's API key from Secrets Manager and asks circuit-8b its questions: is there personal info, is it about a business, which team. Probabilities come back."</a:t>
            </a:r>
          </a:p>
          <a:p>
            <a:r>
              <a:t>SAY: "If every gate decides, the message is redacted or routed and the full trace goes to CloudWatch. If any gate is uncertain, the message goes to an SQS human-review queue, and Bedrock, Amazon Nova here, writes a two-sentence note for the reviewer."</a:t>
            </a:r>
          </a:p>
          <a:p>
            <a:r>
              <a:t>SAY: "Two things to notice. The only thing outside AWS is the model call, and swapping it for Jev or a SageMaker endpoint is one Terraform value. And Bedrock only runs on the uncertain slice, so the generative model does the one job that actually needs language. It never makes the decision. All of it is in Terraform, tagged, with least-privilege IAM."</a:t>
            </a:r>
          </a:p>
          <a:p>
            <a:r>
              <a:t>NEXT: "Here's the full picture." (or skip slide 20 and go straight to the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[29:00 · 11 min, or 28:00 if you skipped slide 20] LIVE DEMO</a:t>
            </a:r>
          </a:p>
          <a:p>
            <a:r>
              <a:t>BEFORE THE TALK: stack deployed; scripts/preflight.sh all "ok" 30 min before; scripts/warmup.sh --keep-warm running; the GUI open in the browser (scripts/gui.sh, or the AWS-hosted page), full screen, zoom about 125%; lambda/circuit.py open in the editor; a big-font terminal open in the repo.</a:t>
            </a:r>
          </a:p>
          <a:p>
            <a:r>
              <a:t>DO: Switch to the browser.</a:t>
            </a:r>
          </a:p>
          <a:p>
            <a:r>
              <a:t>1. DO: Click "Routine billing", then Send.</a:t>
            </a:r>
          </a:p>
          <a:p>
            <a:r>
              <a:t>   SAY: "A routine question. Verdict: routed to billing. Look left: the model said PII 0.02. Look right: the code held that against 0.6 and decided. The model never saw that rule."</a:t>
            </a:r>
          </a:p>
          <a:p>
            <a:r>
              <a:t>2. DO: Click "Account number", then Send.</a:t>
            </a:r>
          </a:p>
          <a:p>
            <a:r>
              <a:t>   SAY: "This one has an account number, an SSN and a phone number, and says it's a personal account. PII is high, 'about a business' is low, so the redact dot lands right of the band: decided, redact. And look at what the support team sees: [ACCOUNT], [SSN], [PHONE]. The model decided whether to redact; plain code decided which characters."</a:t>
            </a:r>
          </a:p>
          <a:p>
            <a:r>
              <a:t>3. DO: Click "Borderline", then Send.</a:t>
            </a:r>
          </a:p>
          <a:p>
            <a:r>
              <a:t>   SAY: "Now a hard one: someone asking which email is on file for their husband's account. Is that personal info about a private individual? The model isn't sure. Look at the dot: it's inside the shaded band. That's the band slide, live. The circuit didn't guess. It sent this to a human, and only now did Bedrock run, to write this note for the reviewer." DO: Read Nova's note aloud. Point at the queue counter going up.</a:t>
            </a:r>
          </a:p>
          <a:p>
            <a:r>
              <a:t>4. LIVE CHANGE. DO: Switch to the editor, lambda/circuit.py, scroll to the bottom. Type:</a:t>
            </a:r>
          </a:p>
          <a:p>
            <a:r>
              <a:t>     c.noul("angry", "Is the customer angry?")</a:t>
            </a:r>
          </a:p>
          <a:p>
            <a:r>
              <a:t>     c.gate("angry_to_human", Q("angry") &gt;= 0.7, on_uncertain="escalate")</a:t>
            </a:r>
          </a:p>
          <a:p>
            <a:r>
              <a:t>   and change the last line to: REVIEW_WHEN_TRUE: list[str] = ["angry_to_human"]</a:t>
            </a:r>
          </a:p>
          <a:p>
            <a:r>
              <a:t>   SAY while typing: "New requirement from the business: angry customers go to a human. One question for the model. One gate in code. One line saying this gate means human review."</a:t>
            </a:r>
          </a:p>
          <a:p>
            <a:r>
              <a:t>   DO: In the terminal: scripts/deploy.sh. SAY while it runs (~10 s): "That runs the tests and then terraform apply. Only the function code changes, a few kilobytes."</a:t>
            </a:r>
          </a:p>
          <a:p>
            <a:r>
              <a:t>   DO: Back to the browser. Click "Angry customer", then Send.</a:t>
            </a:r>
          </a:p>
          <a:p>
            <a:r>
              <a:t>   SAY: "Human review, because of angry_to_human. Look: a new question on the left, a new gate on the right with its 0.7 threshold, and I didn't touch the page. Three lines. No prompt changed, no model retrained, no UI changed. The policy is code."</a:t>
            </a:r>
          </a:p>
          <a:p>
            <a:r>
              <a:t>IF IT BREAKS: a 503 or "model cold" means the model went to sleep. Run scripts/warmup.sh in the terminal and talk over it: "This is the scale-to-zero cold start I warned you about; give it a minute." No network: play the recorded run. The terminal version, scripts/demo.sh --step, does the same thing if the browser misbehaves.</a:t>
            </a:r>
          </a:p>
          <a:p>
            <a:r>
              <a:t>NEXT: "So, three things to take home."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[40:00 · 1.5 min, then Q&amp;A to 45:00]</a:t>
            </a:r>
          </a:p>
          <a:p>
            <a:r>
              <a:t>SAY: "One: find the decisions hiding in your LLM calls. If you know the possible answers up front, you probably don't need a model to write one."</a:t>
            </a:r>
          </a:p>
          <a:p>
            <a:r>
              <a:t>SAY: "Two: let the model answer questions and let code decide, with a band that sends the uncertain cases to a person."</a:t>
            </a:r>
          </a:p>
          <a:p>
            <a:r>
              <a:t>SAY: "Three: don't wait for Bedrock. Vendor API, drop-in clone, or your own weights on SageMaker. The pattern on AWS is the same."</a:t>
            </a:r>
          </a:p>
          <a:p>
            <a:r>
              <a:t>SAY: "Thanks again to James Barney for the models, the library and the API. decisioncircuits.com has free keys if you want to try this tonight. The repo with everything you saw, Terraform included, is on my LinkedIn. Questions?"</a:t>
            </a:r>
          </a:p>
          <a:p>
            <a:r>
              <a:t>LIKELY QUESTIONS (details in talk/RUN_OF_SHOW.md):</a:t>
            </a:r>
          </a:p>
          <a:p>
            <a:r>
              <a:t>- Why not an LLM with JSON or logprobs? You can approximate it, but chat models aren't trained so their probabilities are calibrated, and you're still generating text.</a:t>
            </a:r>
          </a:p>
          <a:p>
            <a:r>
              <a:t>- Does data leave AWS? With the hosted model, yes. Path 3, open weights on SageMaker, keeps it in your account; here that's one Terraform value.</a:t>
            </a:r>
          </a:p>
          <a:p>
            <a:r>
              <a:t>- How do you pick 0.6 and the band? Start conservative, run real traffic, look at where the mistakes cluster, then adjust. They're code, so they're reviewed and versioned like code.</a:t>
            </a:r>
          </a:p>
          <a:p>
            <a:r>
              <a:t>- Cost? One small-model call per message; Bedrock only on the uncertain slice. This whole demo costs about a dollar a month to leave running.</a:t>
            </a:r>
          </a:p>
          <a:p>
            <a:r>
              <a:t>AFTER: terraform -chdir=terraform destroy when you're done with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[5:30 · 2.5 min] THE KEY SLIDE. Slow down.</a:t>
            </a:r>
          </a:p>
          <a:p>
            <a:r>
              <a:t>SAY: "The name comes from Daniel Kahneman's book Thinking, Fast and Slow. Your brain has two modes. System 2 is slow and deliberate: work out 17 times 24 in your head. System 1 is the snap judgment: you see a face and just know it's angry. You don't reason it out."</a:t>
            </a:r>
          </a:p>
          <a:p>
            <a:r>
              <a:t>DO: Point top-left. SAY: "A chat model writing an answer word by word is doing System 2, even for a yes/no question."</a:t>
            </a:r>
          </a:p>
          <a:p>
            <a:r>
              <a:t>DO: Point top-right. SAY: "A System One model is built for the snap judgment. It reads your data and your questions once, and scores every allowed answer at the same time."</a:t>
            </a:r>
          </a:p>
          <a:p>
            <a:r>
              <a:t>DO: Point bottom-left. SAY: "How? I'll use circuit-8b, because it's open and we can look inside. It's an ordinary 8-billion-parameter language model with one small extra layer on top that scores each allowed answer. In a moment I'll open both kinds of model up."</a:t>
            </a:r>
          </a:p>
          <a:p>
            <a:r>
              <a:t>DO: Point bottom-right. SAY: "And why is the number worth anything? It's trained against real outcomes, so it's calibrated: across everything it said 0.8 about, it's right about 80% of the time. That's what lets you put a threshold on it in code."</a:t>
            </a:r>
          </a:p>
          <a:p>
            <a:r>
              <a:t>IF ASKED "isn't that just a classifier?": "Yes, in spirit. The difference is that you define the classes per request, in plain English, with no training run."</a:t>
            </a:r>
          </a:p>
          <a:p>
            <a:r>
              <a:t>NEXT: "First, how a normal LLM answers a question."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30 sec]</a:t>
            </a:r>
          </a:p>
          <a:p>
            <a:r>
              <a:t>SAY: "I'm Lucas. I lead Intelligent Data and Cloud at Ippon, which mostly means helping teams ship AI without giving their compliance department a heart attack. Snipe me about AWS, Bedrock, Minecraft or plant YouTubers. Denied topics are on the slide."</a:t>
            </a:r>
          </a:p>
          <a:p>
            <a:r>
              <a:t>SAY: "The QR code is my LinkedIn. Scan it now or at the end; I'll share the repo and slides there."</a:t>
            </a:r>
          </a:p>
          <a:p>
            <a:r>
              <a:t>DO: Pause two seconds for phones, then move on. Keep this under 30 seconds.</a:t>
            </a:r>
          </a:p>
          <a:p>
            <a:r>
              <a:t>NEXT: "So, a confession about how we use AI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 · 1 min]</a:t>
            </a:r>
          </a:p>
          <a:p>
            <a:r>
              <a:t>DO: Keep this one quick; slides 7–9 did the heavy lifting. Walk the four steps, then point at the dark card.</a:t>
            </a:r>
          </a:p>
          <a:p>
            <a:r>
              <a:t>SAY: "Here's what that decision head looks like in circuit-8b specifically."</a:t>
            </a:r>
          </a:p>
          <a:p>
            <a:r>
              <a:t>SAY: "Step one, pack: the data, every question and every allowed answer go in as one input. One call answers all the questions."</a:t>
            </a:r>
          </a:p>
          <a:p>
            <a:r>
              <a:t>SAY: "Step two, mark: each allowed answer gets wrapped in special marker tokens, and the input ends with a 'decide' token. Think of the markers as slots the model fills with a score."</a:t>
            </a:r>
          </a:p>
          <a:p>
            <a:r>
              <a:t>SAY: "Step three, read once: one forward pass. It reads your input the way an LLM reads your prompt, but it never starts writing. That's where the speed comes from. An LLM spends most of its time generating tokens one after another; this skips that completely."</a:t>
            </a:r>
          </a:p>
          <a:p>
            <a:r>
              <a:t>SAY: "Step four, score: a small layer scores each marker against 'decide', and a softmax turns those scores into probabilities that add up to one."</a:t>
            </a:r>
          </a:p>
          <a:p>
            <a:r>
              <a:t>DO: Point at the bars. SAY: "So 'I was charged twice, please refund one' comes back billing 0.93, technical 0.05, other 0.02. Your code reads 0.93 and routes it. An LLM would have to write the word 'billing', and you'd hope it spelled it the way your router expects."</a:t>
            </a:r>
          </a:p>
          <a:p>
            <a:r>
              <a:t>NOTE (if asked): these numbers are illustrative; the demo shows real ones. This is circuit-8b's published design; Jev's internals aren't public. TypeSafe describes a 'parallel sampler' and a training method they call RLCD.</a:t>
            </a:r>
          </a:p>
          <a:p>
            <a:r>
              <a:t>NEXT: "This idea hit the market two weeks ago."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[25:30 · 1 min]</a:t>
            </a:r>
          </a:p>
          <a:p>
            <a:r>
              <a:t>SAY: "Everything you're about to see runs on work by James Barney, and he built it in the open."</a:t>
            </a:r>
          </a:p>
          <a:p>
            <a:r>
              <a:t>DO: One card at a time.</a:t>
            </a:r>
          </a:p>
          <a:p>
            <a:r>
              <a:t>SAY: "The circuit models: open-weights System One models, plus the code that trains them. decision-circuits: the library behind every question, gate and band in tonight's demo. And the hosted API at decisioncircuits.com: that's the model answering every message you're about to see. He let us use it for tonight, so thank you, James."</a:t>
            </a:r>
          </a:p>
          <a:p>
            <a:r>
              <a:t>SAY: "If any of this is useful to you: star the repos, grab a free key, and tell him Richmond says thanks."</a:t>
            </a:r>
          </a:p>
          <a:p>
            <a:r>
              <a:t>DO: Lead a quick round of applause if the room is up for it.</a:t>
            </a:r>
          </a:p>
          <a:p>
            <a:r>
              <a:t>NEXT: "Here's what we built on top of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[28:00 · 1 min] OPTIONAL: skip it if you're running behind; the previous slide told the story.</a:t>
            </a:r>
          </a:p>
          <a:p>
            <a:r>
              <a:t>SAY: "Here's the full picture, exactly what Terraform deploys. Two ways in on the left: the page you're about to see is served from CloudFront and S3, and it gets short-lived guest credentials from Cognito that can do exactly one thing, call POST /messages. Or my laptop signs the request with my own AWS credentials."</a:t>
            </a:r>
          </a:p>
          <a:p>
            <a:r>
              <a:t>DO: Point at the dashed orange box top right. SAY: "The only thing outside AWS is the model itself, James's circuit-8b. Everything inside the dashed frame is one Terraform stack: tagged, least-privilege, one KMS key encrypting the secret, the queue and the logs."</a:t>
            </a:r>
          </a:p>
          <a:p>
            <a:r>
              <a:t>SAY: "And notice the two exits from the Lambda: decided goes straight back with a trace; uncertain goes to Nova and then a human."</a:t>
            </a:r>
          </a:p>
          <a:p>
            <a:r>
              <a:t>NEXT: "Enough boxes. Let's run it."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 · 1.5 min]</a:t>
            </a:r>
          </a:p>
          <a:p>
            <a:r>
              <a:t>SAY: "To see why that's different, here's how a normal LLM answers 'is this spam?'"</a:t>
            </a:r>
          </a:p>
          <a:p>
            <a:r>
              <a:t>DO: Walk the five cards left to right.</a:t>
            </a:r>
          </a:p>
          <a:p>
            <a:r>
              <a:t>SAY: "It breaks your prompt into tokens, turns each one into a vector of numbers, and runs them through a stack of transformer layers, thirty to eighty of them, so every token can look at the others. Then the last layer scores every token in its vocabulary, a hundred thousand or more, to pick the next word."</a:t>
            </a:r>
          </a:p>
          <a:p>
            <a:r>
              <a:t>DO: Point at the blue bars. SAY: "That's one step. It picks a token, sticks it on the end of the input, and runs the whole stack again. Once per word."</a:t>
            </a:r>
          </a:p>
          <a:p>
            <a:r>
              <a:t>DO: Point at the dark card. SAY: "So to answer a yes/no question, it writes a sentence. Then your code goes looking for the word 'spam' in that sentence."</a:t>
            </a:r>
          </a:p>
          <a:p>
            <a:r>
              <a:t>NEXT: "Now the same question, System One style."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[9:30 · 1.5 min]</a:t>
            </a:r>
          </a:p>
          <a:p>
            <a:r>
              <a:t>SAY: "Same question. Look at how much stays the same."</a:t>
            </a:r>
          </a:p>
          <a:p>
            <a:r>
              <a:t>DO: Point at cards 1 to 3. SAY: "Tokenize, embed, the transformer layers: the same kind of machinery. circuit-8b's body literally is an 8-billion-parameter language model. Two differences: the input includes the question and its allowed answers, and the stack runs once."</a:t>
            </a:r>
          </a:p>
          <a:p>
            <a:r>
              <a:t>DO: Point at card 4. SAY: "Here's the change. Instead of scoring the whole vocabulary to pick a next word, a small decision head scores only the answers you allowed. Spam, not spam."</a:t>
            </a:r>
          </a:p>
          <a:p>
            <a:r>
              <a:t>DO: Point at card 5 and the bars. SAY: "A softmax turns those scores into probabilities that add up to one. 0.92 spam. Done. Nothing generated, no loop."</a:t>
            </a:r>
          </a:p>
          <a:p>
            <a:r>
              <a:t>DO: Point at the dark card. SAY: "You get numbers back, not prose. Your code compares 0.92 to a threshold and decides. Same body, different head. That's really the whole idea."</a:t>
            </a:r>
          </a:p>
          <a:p>
            <a:r>
              <a:t>IF ASKED about Jev: "Jev's internals aren't public. TypeSafe describes a parallel sampler and a training method they call RLCD. circuit-8b's design is published, which is why I'm using it to explain."</a:t>
            </a:r>
          </a:p>
          <a:p>
            <a:r>
              <a:t>NEXT: "Side by side."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 · 1 min]</a:t>
            </a:r>
          </a:p>
          <a:p>
            <a:r>
              <a:t>DO: Read across the rows quickly; don't read every cell.</a:t>
            </a:r>
          </a:p>
          <a:p>
            <a:r>
              <a:t>SAY: "Same engine, different job. An LLM produces text, one pass per token, scoring the whole vocabulary, trained to predict the next token. Great for writing and open-ended work."</a:t>
            </a:r>
          </a:p>
          <a:p>
            <a:r>
              <a:t>SAY: "A System One model produces a probability per allowed answer, one pass for everything, trained against real outcomes so the numbers are calibrated. Great for classify, route, flag, gate."</a:t>
            </a:r>
          </a:p>
          <a:p>
            <a:r>
              <a:t>DO: Point at the last row. SAY: "And each has a catch. The LLM drifts out of format and you pay per token. The System One model needs you to know the answers up front, and, as we'll see in a few minutes, a valid answer isn't necessarily a correct one."</a:t>
            </a:r>
          </a:p>
          <a:p>
            <a:r>
              <a:t>SAY: "So use both. The demo does exactly that: System One decides, and Bedrock only writes a note when a human needs one."</a:t>
            </a:r>
          </a:p>
          <a:p>
            <a:r>
              <a:t>NEXT: "Let me zoom into one real call."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73F"/>
                </a:solidFill>
                <a:latin typeface="IBM Plex Mono" pitchFamily="34" charset="0"/>
                <a:ea typeface="IBM Plex Mono" pitchFamily="34" charset="-122"/>
                <a:cs typeface="IBM Plex Mono" pitchFamily="34" charset="-120"/>
              </a:rPr>
              <a:t>RICHMOND AWS USER GROUP · OCTOBER 1, 2026</a:t>
            </a:r>
            <a:endParaRPr lang="en-US" sz="1200" dirty="0"/>
          </a:p>
        </p:txBody>
      </p:sp>
      <p:sp>
        <p:nvSpPr>
          <p:cNvPr id="3" name="Text 1"/>
          <p:cNvSpPr/>
          <p:nvPr/>
        </p:nvSpPr>
        <p:spPr>
          <a:xfrm>
            <a:off x="812800" y="2653010"/>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F4F1EA"/>
                </a:solidFill>
                <a:latin typeface="Space Grotesk" pitchFamily="34" charset="0"/>
                <a:ea typeface="Space Grotesk" pitchFamily="34" charset="-122"/>
                <a:cs typeface="Space Grotesk" pitchFamily="34" charset="-120"/>
              </a:rPr>
              <a:t>Decide in code.</a:t>
            </a:r>
            <a:endParaRPr lang="en-US" sz="7200" dirty="0"/>
          </a:p>
        </p:txBody>
      </p:sp>
      <p:sp>
        <p:nvSpPr>
          <p:cNvPr id="4" name="Text 2"/>
          <p:cNvSpPr/>
          <p:nvPr/>
        </p:nvSpPr>
        <p:spPr>
          <a:xfrm>
            <a:off x="812800" y="3821410"/>
            <a:ext cx="850265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CCD3"/>
                </a:solidFill>
                <a:latin typeface="Space Grotesk" pitchFamily="34" charset="0"/>
                <a:ea typeface="Space Grotesk" pitchFamily="34" charset="-122"/>
                <a:cs typeface="Space Grotesk" pitchFamily="34" charset="-120"/>
              </a:rPr>
              <a:t>System One models, and how to run one on AWS before AWS does</a:t>
            </a:r>
            <a:endParaRPr lang="en-US" sz="2000" dirty="0"/>
          </a:p>
        </p:txBody>
      </p:sp>
      <p:sp>
        <p:nvSpPr>
          <p:cNvPr id="5"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7ADB8"/>
                </a:solidFill>
                <a:latin typeface="Space Grotesk" pitchFamily="34" charset="0"/>
                <a:ea typeface="Space Grotesk" pitchFamily="34" charset="-122"/>
                <a:cs typeface="Space Grotesk" pitchFamily="34" charset="-120"/>
              </a:rPr>
              <a:t>Lucas · Head of Intelligent Data &amp; Cloud, Ippon Technologies</a:t>
            </a:r>
            <a:endParaRPr lang="en-US" sz="15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3816" y="566928"/>
            <a:ext cx="10515600" cy="274320"/>
          </a:xfrm>
          <a:prstGeom prst="rect">
            <a:avLst/>
          </a:prstGeom>
          <a:noFill/>
        </p:spPr>
        <p:txBody>
          <a:bodyPr wrap="square" anchor="t" lIns="0" rIns="0" tIns="0" bIns="0">
            <a:spAutoFit/>
          </a:bodyPr>
          <a:lstStyle/>
          <a:p>
            <a:r>
              <a:rPr sz="1200" b="1">
                <a:solidFill>
                  <a:srgbClr val="B4521A"/>
                </a:solidFill>
                <a:latin typeface="Space Grotesk"/>
              </a:rPr>
              <a:t>WHO'S TALKING AT YOU FOR THE NEXT 45 MINUTES</a:t>
            </a:r>
          </a:p>
        </p:txBody>
      </p:sp>
      <p:sp>
        <p:nvSpPr>
          <p:cNvPr id="3" name="TextBox 2"/>
          <p:cNvSpPr txBox="1"/>
          <p:nvPr/>
        </p:nvSpPr>
        <p:spPr>
          <a:xfrm>
            <a:off x="813816" y="868680"/>
            <a:ext cx="10515600" cy="731520"/>
          </a:xfrm>
          <a:prstGeom prst="rect">
            <a:avLst/>
          </a:prstGeom>
          <a:noFill/>
        </p:spPr>
        <p:txBody>
          <a:bodyPr wrap="square" anchor="t" lIns="0" rIns="0" tIns="0" bIns="0">
            <a:spAutoFit/>
          </a:bodyPr>
          <a:lstStyle/>
          <a:p>
            <a:r>
              <a:rPr sz="4000" b="1">
                <a:solidFill>
                  <a:srgbClr val="1B1F26"/>
                </a:solidFill>
                <a:latin typeface="Space Grotesk"/>
              </a:rPr>
              <a:t>Hi, I'm Lucas</a:t>
            </a:r>
          </a:p>
        </p:txBody>
      </p:sp>
      <p:pic>
        <p:nvPicPr>
          <p:cNvPr id="4" name="Photo of Lucas" descr="Lucas Little, mid-kick on a cobblestone street"/>
          <p:cNvPicPr>
            <a:picLocks noChangeAspect="1"/>
          </p:cNvPicPr>
          <p:nvPr/>
        </p:nvPicPr>
        <p:blipFill>
          <a:blip r:embed="rId2"/>
          <a:stretch>
            <a:fillRect/>
          </a:stretch>
        </p:blipFill>
        <p:spPr>
          <a:xfrm>
            <a:off x="813816" y="1783080"/>
            <a:ext cx="2729269" cy="4114800"/>
          </a:xfrm>
          <a:prstGeom prst="rect">
            <a:avLst/>
          </a:prstGeom>
        </p:spPr>
      </p:pic>
      <p:sp>
        <p:nvSpPr>
          <p:cNvPr id="5" name="Rounded Rectangle 4"/>
          <p:cNvSpPr/>
          <p:nvPr/>
        </p:nvSpPr>
        <p:spPr>
          <a:xfrm>
            <a:off x="3908845" y="1783080"/>
            <a:ext cx="5317450" cy="1280160"/>
          </a:xfrm>
          <a:prstGeom prst="roundRect">
            <a:avLst>
              <a:gd name="adj" fmla="val 8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64877" y="1947672"/>
            <a:ext cx="4860250" cy="1042415"/>
          </a:xfrm>
          <a:prstGeom prst="rect">
            <a:avLst/>
          </a:prstGeom>
          <a:noFill/>
        </p:spPr>
        <p:txBody>
          <a:bodyPr wrap="square" anchor="t" lIns="0" rIns="0" tIns="0" bIns="0">
            <a:spAutoFit/>
          </a:bodyPr>
          <a:lstStyle/>
          <a:p>
            <a:r>
              <a:rPr sz="1800" b="1">
                <a:solidFill>
                  <a:srgbClr val="1B1F26"/>
                </a:solidFill>
                <a:latin typeface="Space Grotesk"/>
              </a:rPr>
              <a:t>What I do</a:t>
            </a:r>
          </a:p>
          <a:p>
            <a:pPr>
              <a:spcBef>
                <a:spcPts val="200"/>
              </a:spcBef>
            </a:pPr>
            <a:r>
              <a:rPr sz="1200" b="0">
                <a:solidFill>
                  <a:srgbClr val="5B6270"/>
                </a:solidFill>
                <a:latin typeface="Space Grotesk"/>
              </a:rPr>
              <a:t>Head of Intelligent Data &amp; Cloud @ Ippon</a:t>
            </a:r>
          </a:p>
          <a:p>
            <a:pPr>
              <a:spcBef>
                <a:spcPts val="200"/>
              </a:spcBef>
            </a:pPr>
            <a:r>
              <a:rPr sz="1200" b="0">
                <a:solidFill>
                  <a:srgbClr val="5B6270"/>
                </a:solidFill>
                <a:latin typeface="Space Grotesk"/>
              </a:rPr>
              <a:t>Duke MBA Candidate · AWS SME</a:t>
            </a:r>
          </a:p>
          <a:p>
            <a:pPr>
              <a:spcBef>
                <a:spcPts val="200"/>
              </a:spcBef>
            </a:pPr>
            <a:r>
              <a:rPr sz="1200" b="0">
                <a:solidFill>
                  <a:srgbClr val="5B6270"/>
                </a:solidFill>
                <a:latin typeface="Space Grotesk"/>
              </a:rPr>
              <a:t>UNC Charlotte Alumni Board Director</a:t>
            </a:r>
          </a:p>
        </p:txBody>
      </p:sp>
      <p:sp>
        <p:nvSpPr>
          <p:cNvPr id="7" name="Rounded Rectangle 6"/>
          <p:cNvSpPr/>
          <p:nvPr/>
        </p:nvSpPr>
        <p:spPr>
          <a:xfrm>
            <a:off x="3908845" y="3209544"/>
            <a:ext cx="5317450" cy="932688"/>
          </a:xfrm>
          <a:prstGeom prst="roundRect">
            <a:avLst>
              <a:gd name="adj" fmla="val 8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64877" y="3374136"/>
            <a:ext cx="4860250" cy="694944"/>
          </a:xfrm>
          <a:prstGeom prst="rect">
            <a:avLst/>
          </a:prstGeom>
          <a:noFill/>
        </p:spPr>
        <p:txBody>
          <a:bodyPr wrap="square" anchor="t" lIns="0" rIns="0" tIns="0" bIns="0">
            <a:spAutoFit/>
          </a:bodyPr>
          <a:lstStyle/>
          <a:p>
            <a:r>
              <a:rPr sz="1800" b="1">
                <a:solidFill>
                  <a:srgbClr val="1B1F26"/>
                </a:solidFill>
                <a:latin typeface="Space Grotesk"/>
              </a:rPr>
              <a:t>Snipe me about</a:t>
            </a:r>
          </a:p>
          <a:p>
            <a:pPr>
              <a:spcBef>
                <a:spcPts val="200"/>
              </a:spcBef>
            </a:pPr>
            <a:r>
              <a:rPr sz="1200" b="0">
                <a:solidFill>
                  <a:srgbClr val="5B6270"/>
                </a:solidFill>
                <a:latin typeface="Space Grotesk"/>
              </a:rPr>
              <a:t>AWS · Bedrock · Minecraft · plant YouTubers · financial services</a:t>
            </a:r>
          </a:p>
        </p:txBody>
      </p:sp>
      <p:sp>
        <p:nvSpPr>
          <p:cNvPr id="9" name="Rounded Rectangle 8"/>
          <p:cNvSpPr/>
          <p:nvPr/>
        </p:nvSpPr>
        <p:spPr>
          <a:xfrm>
            <a:off x="3908845" y="4288536"/>
            <a:ext cx="5317450" cy="932688"/>
          </a:xfrm>
          <a:prstGeom prst="roundRect">
            <a:avLst>
              <a:gd name="adj" fmla="val 8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4877" y="4453127"/>
            <a:ext cx="4860250" cy="694944"/>
          </a:xfrm>
          <a:prstGeom prst="rect">
            <a:avLst/>
          </a:prstGeom>
          <a:noFill/>
        </p:spPr>
        <p:txBody>
          <a:bodyPr wrap="square" anchor="t" lIns="0" rIns="0" tIns="0" bIns="0">
            <a:spAutoFit/>
          </a:bodyPr>
          <a:lstStyle/>
          <a:p>
            <a:r>
              <a:rPr sz="1800" b="1">
                <a:solidFill>
                  <a:srgbClr val="1B1F26"/>
                </a:solidFill>
                <a:latin typeface="Space Grotesk"/>
              </a:rPr>
              <a:t>Denied topics</a:t>
            </a:r>
          </a:p>
          <a:p>
            <a:pPr>
              <a:spcBef>
                <a:spcPts val="200"/>
              </a:spcBef>
            </a:pPr>
            <a:r>
              <a:rPr sz="1200" b="0">
                <a:solidFill>
                  <a:srgbClr val="5B6270"/>
                </a:solidFill>
                <a:latin typeface="Space Grotesk"/>
              </a:rPr>
              <a:t>Kubernetes · Azure · Roblox · my econ midterm</a:t>
            </a:r>
          </a:p>
        </p:txBody>
      </p:sp>
      <p:sp>
        <p:nvSpPr>
          <p:cNvPr id="11" name="Rounded Rectangle 10"/>
          <p:cNvSpPr/>
          <p:nvPr/>
        </p:nvSpPr>
        <p:spPr>
          <a:xfrm>
            <a:off x="9454896" y="1783080"/>
            <a:ext cx="1920240" cy="3438143"/>
          </a:xfrm>
          <a:prstGeom prst="roundRect">
            <a:avLst>
              <a:gd name="adj" fmla="val 8000"/>
            </a:avLst>
          </a:prstGeom>
          <a:solidFill>
            <a:srgbClr val="FFFFFF"/>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LinkedIn QR code" descr="QR code linking to linkedin.com/in/lucaslittle"/>
          <p:cNvPicPr>
            <a:picLocks noChangeAspect="1"/>
          </p:cNvPicPr>
          <p:nvPr/>
        </p:nvPicPr>
        <p:blipFill>
          <a:blip r:embed="rId3"/>
          <a:stretch>
            <a:fillRect/>
          </a:stretch>
        </p:blipFill>
        <p:spPr>
          <a:xfrm>
            <a:off x="9637776" y="2423159"/>
            <a:ext cx="1554480" cy="1554480"/>
          </a:xfrm>
          <a:prstGeom prst="rect">
            <a:avLst/>
          </a:prstGeom>
        </p:spPr>
      </p:pic>
      <p:sp>
        <p:nvSpPr>
          <p:cNvPr id="13" name="TextBox 12"/>
          <p:cNvSpPr txBox="1"/>
          <p:nvPr/>
        </p:nvSpPr>
        <p:spPr>
          <a:xfrm>
            <a:off x="9546336" y="4123944"/>
            <a:ext cx="1737360" cy="457200"/>
          </a:xfrm>
          <a:prstGeom prst="rect">
            <a:avLst/>
          </a:prstGeom>
          <a:noFill/>
        </p:spPr>
        <p:txBody>
          <a:bodyPr wrap="square" anchor="t" lIns="0" rIns="0" tIns="0" bIns="0">
            <a:spAutoFit/>
          </a:bodyPr>
          <a:lstStyle/>
          <a:p>
            <a:pPr algn="ctr"/>
            <a:r>
              <a:rPr sz="1300" b="1">
                <a:solidFill>
                  <a:srgbClr val="1B1F26"/>
                </a:solidFill>
                <a:latin typeface="Space Grotesk"/>
              </a:rPr>
              <a:t>Scan for LinkedIn</a:t>
            </a:r>
          </a:p>
          <a:p>
            <a:pPr algn="ctr"/>
            <a:r>
              <a:rPr sz="1100" b="0">
                <a:solidFill>
                  <a:srgbClr val="5B6270"/>
                </a:solidFill>
                <a:latin typeface="IBM Plex Mono"/>
              </a:rPr>
              <a:t>in/lucaslittle</a:t>
            </a:r>
          </a:p>
        </p:txBody>
      </p:sp>
      <p:sp>
        <p:nvSpPr>
          <p:cNvPr id="14" name="Rounded Rectangle 13"/>
          <p:cNvSpPr/>
          <p:nvPr/>
        </p:nvSpPr>
        <p:spPr>
          <a:xfrm>
            <a:off x="3908845" y="5422392"/>
            <a:ext cx="7466290" cy="475488"/>
          </a:xfrm>
          <a:prstGeom prst="roundRect">
            <a:avLst>
              <a:gd name="adj" fmla="val 50000"/>
            </a:avLst>
          </a:prstGeom>
          <a:solidFill>
            <a:srgbClr val="1B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83165" y="5422392"/>
            <a:ext cx="6917650" cy="475488"/>
          </a:xfrm>
          <a:prstGeom prst="rect">
            <a:avLst/>
          </a:prstGeom>
          <a:noFill/>
        </p:spPr>
        <p:txBody>
          <a:bodyPr wrap="square" anchor="ctr" lIns="0" rIns="0" tIns="0" bIns="0">
            <a:spAutoFit/>
          </a:bodyPr>
          <a:lstStyle/>
          <a:p>
            <a:r>
              <a:rPr sz="1400" b="1">
                <a:solidFill>
                  <a:srgbClr val="F4F1EA"/>
                </a:solidFill>
                <a:latin typeface="IBM Plex Mono"/>
              </a:rPr>
              <a:t>in/lucaslittle</a:t>
            </a:r>
            <a:r>
              <a:rPr sz="1400" b="0">
                <a:solidFill>
                  <a:srgbClr val="C3C0BB"/>
                </a:solidFill>
                <a:latin typeface="Space Grotesk"/>
              </a:rPr>
              <a:t>     ·     llittle@ipponusa.com     ·     Ask me anything after</a:t>
            </a:r>
          </a:p>
        </p:txBody>
      </p:sp>
      <p:sp>
        <p:nvSpPr>
          <p:cNvPr id="16" name="TextBox 15"/>
          <p:cNvSpPr txBox="1"/>
          <p:nvPr/>
        </p:nvSpPr>
        <p:spPr>
          <a:xfrm>
            <a:off x="813816" y="6236208"/>
            <a:ext cx="10881360" cy="237744"/>
          </a:xfrm>
          <a:prstGeom prst="rect">
            <a:avLst/>
          </a:prstGeom>
          <a:noFill/>
        </p:spPr>
        <p:txBody>
          <a:bodyPr wrap="square" anchor="t" lIns="0" rIns="0" tIns="0" bIns="0">
            <a:spAutoFit/>
          </a:bodyPr>
          <a:lstStyle/>
          <a:p>
            <a:r>
              <a:rPr sz="1200" b="0">
                <a:solidFill>
                  <a:srgbClr val="5B6270"/>
                </a:solidFill>
                <a:latin typeface="Space Grotesk"/>
              </a:rPr>
              <a:t>Decide in code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19490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21A"/>
                </a:solidFill>
                <a:latin typeface="IBM Plex Mono" pitchFamily="34" charset="0"/>
                <a:ea typeface="IBM Plex Mono" pitchFamily="34" charset="-122"/>
                <a:cs typeface="IBM Plex Mono" pitchFamily="34" charset="-120"/>
              </a:rPr>
              <a:t>THE PROBLEM</a:t>
            </a:r>
            <a:endParaRPr lang="en-US" sz="1200" dirty="0"/>
          </a:p>
        </p:txBody>
      </p:sp>
      <p:sp>
        <p:nvSpPr>
          <p:cNvPr id="3" name="Text 1"/>
          <p:cNvSpPr/>
          <p:nvPr/>
        </p:nvSpPr>
        <p:spPr>
          <a:xfrm>
            <a:off x="812800" y="2467124"/>
            <a:ext cx="9810750" cy="1342132"/>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1B1F26"/>
                </a:solidFill>
                <a:latin typeface="Space Grotesk" pitchFamily="34" charset="0"/>
                <a:ea typeface="Space Grotesk" pitchFamily="34" charset="-122"/>
                <a:cs typeface="Space Grotesk" pitchFamily="34" charset="-120"/>
              </a:rPr>
              <a:t>We keep hiring a novelist to answer yes-or-no questions.</a:t>
            </a:r>
            <a:endParaRPr lang="en-US" sz="4800" dirty="0"/>
          </a:p>
        </p:txBody>
      </p:sp>
      <p:sp>
        <p:nvSpPr>
          <p:cNvPr id="4" name="Text 2"/>
          <p:cNvSpPr/>
          <p:nvPr/>
        </p:nvSpPr>
        <p:spPr>
          <a:xfrm>
            <a:off x="812800" y="4088656"/>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5B6270"/>
                </a:solidFill>
                <a:latin typeface="Space Grotesk" pitchFamily="34" charset="0"/>
                <a:ea typeface="Space Grotesk" pitchFamily="34" charset="-122"/>
                <a:cs typeface="Space Grotesk" pitchFamily="34" charset="-120"/>
              </a:rPr>
              <a:t>Most production AI calls aren't asking for writing. They're asking for a decision. Then we parse the prose and hope.</a:t>
            </a:r>
            <a:endParaRPr lang="en-US" sz="18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Decide in code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Most AI calls are decisions in disguise</a:t>
            </a:r>
            <a:endParaRPr lang="en-US" sz="3600" dirty="0"/>
          </a:p>
        </p:txBody>
      </p:sp>
      <p:sp>
        <p:nvSpPr>
          <p:cNvPr id="3" name="Shape 1"/>
          <p:cNvSpPr/>
          <p:nvPr/>
        </p:nvSpPr>
        <p:spPr>
          <a:xfrm>
            <a:off x="815975" y="1674465"/>
            <a:ext cx="5175250" cy="1151880"/>
          </a:xfrm>
          <a:prstGeom prst="roundRect">
            <a:avLst>
              <a:gd name="adj" fmla="val 8545"/>
            </a:avLst>
          </a:prstGeom>
          <a:solidFill>
            <a:srgbClr val="FBFAF6"/>
          </a:solidFill>
          <a:ln w="6350">
            <a:solidFill>
              <a:srgbClr val="D9D3C5"/>
            </a:solidFill>
            <a:prstDash val="solid"/>
          </a:ln>
        </p:spPr>
        <p:txBody>
          <a:bodyPr/>
          <a:p/>
        </p:txBody>
      </p:sp>
      <p:sp>
        <p:nvSpPr>
          <p:cNvPr id="4" name="Text 2"/>
          <p:cNvSpPr/>
          <p:nvPr/>
        </p:nvSpPr>
        <p:spPr>
          <a:xfrm>
            <a:off x="1073150" y="19316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6"/>
                </a:solidFill>
                <a:latin typeface="Space Grotesk" pitchFamily="34" charset="0"/>
                <a:ea typeface="Space Grotesk" pitchFamily="34" charset="-122"/>
                <a:cs typeface="Space Grotesk" pitchFamily="34" charset="-120"/>
              </a:rPr>
              <a:t>Is this message spam?</a:t>
            </a:r>
            <a:endParaRPr lang="en-US" sz="2000" dirty="0"/>
          </a:p>
        </p:txBody>
      </p:sp>
      <p:sp>
        <p:nvSpPr>
          <p:cNvPr id="5" name="Text 3"/>
          <p:cNvSpPr/>
          <p:nvPr/>
        </p:nvSpPr>
        <p:spPr>
          <a:xfrm>
            <a:off x="1073150" y="2338040"/>
            <a:ext cx="480072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5D9E"/>
                </a:solidFill>
                <a:latin typeface="IBM Plex Mono" pitchFamily="34" charset="0"/>
                <a:ea typeface="IBM Plex Mono" pitchFamily="34" charset="-122"/>
                <a:cs typeface="IBM Plex Mono" pitchFamily="34" charset="-120"/>
              </a:rPr>
              <a:t>→ yes / no</a:t>
            </a:r>
            <a:endParaRPr lang="en-US" sz="1300" dirty="0"/>
          </a:p>
        </p:txBody>
      </p:sp>
      <p:sp>
        <p:nvSpPr>
          <p:cNvPr id="6" name="Shape 4"/>
          <p:cNvSpPr/>
          <p:nvPr/>
        </p:nvSpPr>
        <p:spPr>
          <a:xfrm>
            <a:off x="6200775" y="1674465"/>
            <a:ext cx="5175250" cy="1151880"/>
          </a:xfrm>
          <a:prstGeom prst="roundRect">
            <a:avLst>
              <a:gd name="adj" fmla="val 8545"/>
            </a:avLst>
          </a:prstGeom>
          <a:solidFill>
            <a:srgbClr val="FBFAF6"/>
          </a:solidFill>
          <a:ln w="6350">
            <a:solidFill>
              <a:srgbClr val="D9D3C5"/>
            </a:solidFill>
            <a:prstDash val="solid"/>
          </a:ln>
        </p:spPr>
        <p:txBody>
          <a:bodyPr/>
          <a:p/>
        </p:txBody>
      </p:sp>
      <p:sp>
        <p:nvSpPr>
          <p:cNvPr id="7" name="Text 5"/>
          <p:cNvSpPr/>
          <p:nvPr/>
        </p:nvSpPr>
        <p:spPr>
          <a:xfrm>
            <a:off x="6457950" y="19316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6"/>
                </a:solidFill>
                <a:latin typeface="Space Grotesk" pitchFamily="34" charset="0"/>
                <a:ea typeface="Space Grotesk" pitchFamily="34" charset="-122"/>
                <a:cs typeface="Space Grotesk" pitchFamily="34" charset="-120"/>
              </a:rPr>
              <a:t>Which team gets this ticket?</a:t>
            </a:r>
            <a:endParaRPr lang="en-US" sz="2000" dirty="0"/>
          </a:p>
        </p:txBody>
      </p:sp>
      <p:sp>
        <p:nvSpPr>
          <p:cNvPr id="8" name="Text 6"/>
          <p:cNvSpPr/>
          <p:nvPr/>
        </p:nvSpPr>
        <p:spPr>
          <a:xfrm>
            <a:off x="6457950" y="2338040"/>
            <a:ext cx="480072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5D9E"/>
                </a:solidFill>
                <a:latin typeface="IBM Plex Mono" pitchFamily="34" charset="0"/>
                <a:ea typeface="IBM Plex Mono" pitchFamily="34" charset="-122"/>
                <a:cs typeface="IBM Plex Mono" pitchFamily="34" charset="-120"/>
              </a:rPr>
              <a:t>→ one of N options</a:t>
            </a:r>
            <a:endParaRPr lang="en-US" sz="1300" dirty="0"/>
          </a:p>
        </p:txBody>
      </p:sp>
      <p:sp>
        <p:nvSpPr>
          <p:cNvPr id="9" name="Shape 7"/>
          <p:cNvSpPr/>
          <p:nvPr/>
        </p:nvSpPr>
        <p:spPr>
          <a:xfrm>
            <a:off x="815975" y="3035895"/>
            <a:ext cx="5175250" cy="1151880"/>
          </a:xfrm>
          <a:prstGeom prst="roundRect">
            <a:avLst>
              <a:gd name="adj" fmla="val 8545"/>
            </a:avLst>
          </a:prstGeom>
          <a:solidFill>
            <a:srgbClr val="FBFAF6"/>
          </a:solidFill>
          <a:ln w="6350">
            <a:solidFill>
              <a:srgbClr val="D9D3C5"/>
            </a:solidFill>
            <a:prstDash val="solid"/>
          </a:ln>
        </p:spPr>
        <p:txBody>
          <a:bodyPr/>
          <a:p/>
        </p:txBody>
      </p:sp>
      <p:sp>
        <p:nvSpPr>
          <p:cNvPr id="10" name="Text 8"/>
          <p:cNvSpPr/>
          <p:nvPr/>
        </p:nvSpPr>
        <p:spPr>
          <a:xfrm>
            <a:off x="1073150" y="32930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6"/>
                </a:solidFill>
                <a:latin typeface="Space Grotesk" pitchFamily="34" charset="0"/>
                <a:ea typeface="Space Grotesk" pitchFamily="34" charset="-122"/>
                <a:cs typeface="Space Grotesk" pitchFamily="34" charset="-120"/>
              </a:rPr>
              <a:t>Is this agent's tool call safe?</a:t>
            </a:r>
            <a:endParaRPr lang="en-US" sz="2000" dirty="0"/>
          </a:p>
        </p:txBody>
      </p:sp>
      <p:sp>
        <p:nvSpPr>
          <p:cNvPr id="11" name="Text 9"/>
          <p:cNvSpPr/>
          <p:nvPr/>
        </p:nvSpPr>
        <p:spPr>
          <a:xfrm>
            <a:off x="1073150" y="3699470"/>
            <a:ext cx="480072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5D9E"/>
                </a:solidFill>
                <a:latin typeface="IBM Plex Mono" pitchFamily="34" charset="0"/>
                <a:ea typeface="IBM Plex Mono" pitchFamily="34" charset="-122"/>
                <a:cs typeface="IBM Plex Mono" pitchFamily="34" charset="-120"/>
              </a:rPr>
              <a:t>→ allow / block / ask a human</a:t>
            </a:r>
            <a:endParaRPr lang="en-US" sz="1300" dirty="0"/>
          </a:p>
        </p:txBody>
      </p:sp>
      <p:sp>
        <p:nvSpPr>
          <p:cNvPr id="12" name="Shape 10"/>
          <p:cNvSpPr/>
          <p:nvPr/>
        </p:nvSpPr>
        <p:spPr>
          <a:xfrm>
            <a:off x="6200775" y="3035895"/>
            <a:ext cx="5175250" cy="1151880"/>
          </a:xfrm>
          <a:prstGeom prst="roundRect">
            <a:avLst>
              <a:gd name="adj" fmla="val 8545"/>
            </a:avLst>
          </a:prstGeom>
          <a:solidFill>
            <a:srgbClr val="FBFAF6"/>
          </a:solidFill>
          <a:ln w="6350">
            <a:solidFill>
              <a:srgbClr val="D9D3C5"/>
            </a:solidFill>
            <a:prstDash val="solid"/>
          </a:ln>
        </p:spPr>
        <p:txBody>
          <a:bodyPr/>
          <a:p/>
        </p:txBody>
      </p:sp>
      <p:sp>
        <p:nvSpPr>
          <p:cNvPr id="13" name="Text 11"/>
          <p:cNvSpPr/>
          <p:nvPr/>
        </p:nvSpPr>
        <p:spPr>
          <a:xfrm>
            <a:off x="6457950" y="32930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6"/>
                </a:solidFill>
                <a:latin typeface="Space Grotesk" pitchFamily="34" charset="0"/>
                <a:ea typeface="Space Grotesk" pitchFamily="34" charset="-122"/>
                <a:cs typeface="Space Grotesk" pitchFamily="34" charset="-120"/>
              </a:rPr>
              <a:t>Does this contain PII?</a:t>
            </a:r>
            <a:endParaRPr lang="en-US" sz="2000" dirty="0"/>
          </a:p>
        </p:txBody>
      </p:sp>
      <p:sp>
        <p:nvSpPr>
          <p:cNvPr id="14" name="Text 12"/>
          <p:cNvSpPr/>
          <p:nvPr/>
        </p:nvSpPr>
        <p:spPr>
          <a:xfrm>
            <a:off x="6457950" y="3699470"/>
            <a:ext cx="480072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5D9E"/>
                </a:solidFill>
                <a:latin typeface="IBM Plex Mono" pitchFamily="34" charset="0"/>
                <a:ea typeface="IBM Plex Mono" pitchFamily="34" charset="-122"/>
                <a:cs typeface="IBM Plex Mono" pitchFamily="34" charset="-120"/>
              </a:rPr>
              <a:t>→ a probability</a:t>
            </a:r>
            <a:endParaRPr lang="en-US" sz="1300" dirty="0"/>
          </a:p>
        </p:txBody>
      </p:sp>
      <p:sp>
        <p:nvSpPr>
          <p:cNvPr id="15" name="Text 13"/>
          <p:cNvSpPr/>
          <p:nvPr/>
        </p:nvSpPr>
        <p:spPr>
          <a:xfrm>
            <a:off x="812800" y="45465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270"/>
                </a:solidFill>
                <a:latin typeface="Space Grotesk" pitchFamily="34" charset="0"/>
                <a:ea typeface="Space Grotesk" pitchFamily="34" charset="-122"/>
                <a:cs typeface="Space Grotesk" pitchFamily="34" charset="-120"/>
              </a:rPr>
              <a:t>Every one of these has a small answer space you know before you ever call the model.</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Decide in code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A System One model answers typed questions</a:t>
            </a:r>
            <a:endParaRPr lang="en-US" sz="3600" dirty="0"/>
          </a:p>
        </p:txBody>
      </p:sp>
      <p:sp>
        <p:nvSpPr>
          <p:cNvPr id="3" name="Shape 1"/>
          <p:cNvSpPr/>
          <p:nvPr/>
        </p:nvSpPr>
        <p:spPr>
          <a:xfrm>
            <a:off x="812800" y="1671290"/>
            <a:ext cx="4775200" cy="2612380"/>
          </a:xfrm>
          <a:prstGeom prst="roundRect">
            <a:avLst>
              <a:gd name="adj" fmla="val 3889"/>
            </a:avLst>
          </a:prstGeom>
          <a:solidFill>
            <a:srgbClr val="1B1F26"/>
          </a:solidFill>
          <a:ln/>
        </p:spPr>
        <p:txBody>
          <a:bodyPr/>
          <a:p/>
        </p:txBody>
      </p:sp>
      <p:sp>
        <p:nvSpPr>
          <p:cNvPr id="4" name="Text 2"/>
          <p:cNvSpPr/>
          <p:nvPr/>
        </p:nvSpPr>
        <p:spPr>
          <a:xfrm>
            <a:off x="1066800" y="1925290"/>
            <a:ext cx="43952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873F"/>
                </a:solidFill>
                <a:latin typeface="Space Grotesk" pitchFamily="34" charset="0"/>
                <a:ea typeface="Space Grotesk" pitchFamily="34" charset="-122"/>
                <a:cs typeface="Space Grotesk" pitchFamily="34" charset="-120"/>
              </a:rPr>
              <a:t>In: state + questions</a:t>
            </a:r>
            <a:endParaRPr lang="en-US" sz="1600" dirty="0"/>
          </a:p>
        </p:txBody>
      </p:sp>
      <p:sp>
        <p:nvSpPr>
          <p:cNvPr id="5" name="Text 3"/>
          <p:cNvSpPr/>
          <p:nvPr/>
        </p:nvSpPr>
        <p:spPr>
          <a:xfrm>
            <a:off x="1066800" y="2296120"/>
            <a:ext cx="4395216" cy="17589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"state": "My name is Dana Whitfield</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and my account number is 88421.",</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"questions": { "pii": {</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"type": "noul",</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"instructions": "Contains PII?" }}</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a:t>
            </a:r>
            <a:endParaRPr lang="en-US" sz="1300" dirty="0"/>
          </a:p>
        </p:txBody>
      </p:sp>
      <p:pic>
        <p:nvPicPr>
          <p:cNvPr id="6" name="Image 0" descr="arrow-right">    </p:cNvPr>
          <p:cNvPicPr>
            <a:picLocks noChangeAspect="1"/>
          </p:cNvPicPr>
          <p:nvPr/>
        </p:nvPicPr>
        <p:blipFill>
          <a:blip r:embed="rId1"/>
          <a:srcRect l="0" r="0" t="0" b="0"/>
          <a:stretch/>
        </p:blipFill>
        <p:spPr>
          <a:xfrm>
            <a:off x="5791200" y="2825055"/>
            <a:ext cx="609600" cy="304800"/>
          </a:xfrm>
          <a:prstGeom prst="rect">
            <a:avLst/>
          </a:prstGeom>
        </p:spPr>
      </p:pic>
      <p:sp>
        <p:nvSpPr>
          <p:cNvPr id="7" name="Shape 4"/>
          <p:cNvSpPr/>
          <p:nvPr/>
        </p:nvSpPr>
        <p:spPr>
          <a:xfrm>
            <a:off x="6604000" y="1795115"/>
            <a:ext cx="4775200" cy="2364730"/>
          </a:xfrm>
          <a:prstGeom prst="roundRect">
            <a:avLst>
              <a:gd name="adj" fmla="val 4296"/>
            </a:avLst>
          </a:prstGeom>
          <a:solidFill>
            <a:srgbClr val="1B1F26"/>
          </a:solidFill>
          <a:ln/>
        </p:spPr>
        <p:txBody>
          <a:bodyPr/>
          <a:p/>
        </p:txBody>
      </p:sp>
      <p:sp>
        <p:nvSpPr>
          <p:cNvPr id="8" name="Text 5"/>
          <p:cNvSpPr/>
          <p:nvPr/>
        </p:nvSpPr>
        <p:spPr>
          <a:xfrm>
            <a:off x="6858000" y="2049115"/>
            <a:ext cx="43952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873F"/>
                </a:solidFill>
                <a:latin typeface="Space Grotesk" pitchFamily="34" charset="0"/>
                <a:ea typeface="Space Grotesk" pitchFamily="34" charset="-122"/>
                <a:cs typeface="Space Grotesk" pitchFamily="34" charset="-120"/>
              </a:rPr>
              <a:t>Out: a typed answer</a:t>
            </a:r>
            <a:endParaRPr lang="en-US" sz="1600" dirty="0"/>
          </a:p>
        </p:txBody>
      </p:sp>
      <p:sp>
        <p:nvSpPr>
          <p:cNvPr id="9" name="Text 6"/>
          <p:cNvSpPr/>
          <p:nvPr/>
        </p:nvSpPr>
        <p:spPr>
          <a:xfrm>
            <a:off x="6858000" y="2419945"/>
            <a:ext cx="4395216" cy="15113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"answers": {</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"pii": {</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"type": "noul",</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"noul": 0.814</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 }</a:t>
            </a:r>
            <a:endParaRPr lang="en-US" sz="1300" dirty="0"/>
          </a:p>
          <a:p>
            <a:pPr algn="l" indent="0" marL="0">
              <a:lnSpc>
                <a:spcPts val="1950"/>
              </a:lnSpc>
              <a:buNone/>
            </a:pPr>
            <a:r>
              <a:rPr lang="en-US" sz="1300" dirty="0">
                <a:solidFill>
                  <a:srgbClr val="E9E6DE"/>
                </a:solidFill>
                <a:latin typeface="IBM Plex Mono" pitchFamily="34" charset="0"/>
                <a:ea typeface="IBM Plex Mono" pitchFamily="34" charset="-122"/>
                <a:cs typeface="IBM Plex Mono" pitchFamily="34" charset="-120"/>
              </a:rPr>
              <a:t>}}</a:t>
            </a:r>
            <a:endParaRPr lang="en-US" sz="1300" dirty="0"/>
          </a:p>
        </p:txBody>
      </p:sp>
      <p:sp>
        <p:nvSpPr>
          <p:cNvPr id="10" name="Text 7"/>
          <p:cNvSpPr/>
          <p:nvPr/>
        </p:nvSpPr>
        <p:spPr>
          <a:xfrm>
            <a:off x="812800" y="46392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270"/>
                </a:solidFill>
                <a:latin typeface="Space Grotesk" pitchFamily="34" charset="0"/>
                <a:ea typeface="Space Grotesk" pitchFamily="34" charset="-122"/>
                <a:cs typeface="Space Grotesk" pitchFamily="34" charset="-120"/>
              </a:rPr>
              <a:t>One pass. The answer space is fixed before inference. Every answer carries a probability.</a:t>
            </a:r>
            <a:endParaRPr lang="en-US" sz="15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Example request and response from decisioncircuits.com · Decide in code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Why “System One”?</a:t>
            </a:r>
            <a:endParaRPr lang="en-US" sz="3600" dirty="0"/>
          </a:p>
        </p:txBody>
      </p:sp>
      <p:sp>
        <p:nvSpPr>
          <p:cNvPr id="3" name="Shape 1"/>
          <p:cNvSpPr/>
          <p:nvPr/>
        </p:nvSpPr>
        <p:spPr>
          <a:xfrm>
            <a:off x="815975" y="1673352"/>
            <a:ext cx="5175250" cy="1783080"/>
          </a:xfrm>
          <a:prstGeom prst="roundRect">
            <a:avLst>
              <a:gd name="adj" fmla="val 8545"/>
            </a:avLst>
          </a:prstGeom>
          <a:solidFill>
            <a:srgbClr val="FBFAF6"/>
          </a:solidFill>
          <a:ln w="6350">
            <a:solidFill>
              <a:srgbClr val="D9D3C5"/>
            </a:solidFill>
            <a:prstDash val="solid"/>
          </a:ln>
        </p:spPr>
        <p:txBody>
          <a:bodyPr/>
          <a:p/>
        </p:txBody>
      </p:sp>
      <p:sp>
        <p:nvSpPr>
          <p:cNvPr id="4" name="Text 2"/>
          <p:cNvSpPr/>
          <p:nvPr/>
        </p:nvSpPr>
        <p:spPr>
          <a:xfrm>
            <a:off x="1073150" y="1901952"/>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6"/>
                </a:solidFill>
                <a:latin typeface="Space Grotesk" pitchFamily="34" charset="0"/>
                <a:ea typeface="Space Grotesk" pitchFamily="34" charset="-122"/>
                <a:cs typeface="Space Grotesk" pitchFamily="34" charset="-120"/>
              </a:rPr>
              <a:t>System 2 · a chat LLM</a:t>
            </a:r>
            <a:endParaRPr lang="en-US" sz="2000" dirty="0"/>
          </a:p>
        </p:txBody>
      </p:sp>
      <p:sp>
        <p:nvSpPr>
          <p:cNvPr id="5" name="Text 3"/>
          <p:cNvSpPr/>
          <p:nvPr/>
        </p:nvSpPr>
        <p:spPr>
          <a:xfrm>
            <a:off x="1073150" y="2304288"/>
            <a:ext cx="4800727" cy="10058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270"/>
                </a:solidFill>
                <a:latin typeface="IBM Plex Mono" pitchFamily="34" charset="0"/>
                <a:ea typeface="IBM Plex Mono" pitchFamily="34" charset="-122"/>
                <a:cs typeface="IBM Plex Mono" pitchFamily="34" charset="-120"/>
              </a:rPr>
              <a:t>Writes its answer one token at a time. Great for language, slow for a yes/no, and you still have to parse what it wrote.</a:t>
            </a:r>
            <a:endParaRPr lang="en-US" sz="1400" dirty="0"/>
          </a:p>
        </p:txBody>
      </p:sp>
      <p:sp>
        <p:nvSpPr>
          <p:cNvPr id="6" name="Shape 4"/>
          <p:cNvSpPr/>
          <p:nvPr/>
        </p:nvSpPr>
        <p:spPr>
          <a:xfrm>
            <a:off x="6200775" y="1673352"/>
            <a:ext cx="5175250" cy="1783080"/>
          </a:xfrm>
          <a:prstGeom prst="roundRect">
            <a:avLst>
              <a:gd name="adj" fmla="val 8545"/>
            </a:avLst>
          </a:prstGeom>
          <a:solidFill>
            <a:srgbClr val="FBFAF6"/>
          </a:solidFill>
          <a:ln w="6350">
            <a:solidFill>
              <a:srgbClr val="D9D3C5"/>
            </a:solidFill>
            <a:prstDash val="solid"/>
          </a:ln>
        </p:spPr>
        <p:txBody>
          <a:bodyPr/>
          <a:p/>
        </p:txBody>
      </p:sp>
      <p:sp>
        <p:nvSpPr>
          <p:cNvPr id="7" name="Text 5"/>
          <p:cNvSpPr/>
          <p:nvPr/>
        </p:nvSpPr>
        <p:spPr>
          <a:xfrm>
            <a:off x="6457950" y="1901952"/>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6"/>
                </a:solidFill>
                <a:latin typeface="Space Grotesk" pitchFamily="34" charset="0"/>
                <a:ea typeface="Space Grotesk" pitchFamily="34" charset="-122"/>
                <a:cs typeface="Space Grotesk" pitchFamily="34" charset="-120"/>
              </a:rPr>
              <a:t>System One · Jev, circuit-8b</a:t>
            </a:r>
            <a:endParaRPr lang="en-US" sz="2000" dirty="0"/>
          </a:p>
        </p:txBody>
      </p:sp>
      <p:sp>
        <p:nvSpPr>
          <p:cNvPr id="8" name="Text 6"/>
          <p:cNvSpPr/>
          <p:nvPr/>
        </p:nvSpPr>
        <p:spPr>
          <a:xfrm>
            <a:off x="6457950" y="2304288"/>
            <a:ext cx="4800727" cy="10058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270"/>
                </a:solidFill>
                <a:latin typeface="IBM Plex Mono" pitchFamily="34" charset="0"/>
                <a:ea typeface="IBM Plex Mono" pitchFamily="34" charset="-122"/>
                <a:cs typeface="IBM Plex Mono" pitchFamily="34" charset="-120"/>
              </a:rPr>
              <a:t>Reads your state and questions once, then scores every allowed answer at the same time. Returns probabilities, never prose.</a:t>
            </a:r>
            <a:endParaRPr lang="en-US" sz="1400" dirty="0"/>
          </a:p>
        </p:txBody>
      </p:sp>
      <p:sp>
        <p:nvSpPr>
          <p:cNvPr id="9" name="Shape 7"/>
          <p:cNvSpPr/>
          <p:nvPr/>
        </p:nvSpPr>
        <p:spPr>
          <a:xfrm>
            <a:off x="815975" y="3657600"/>
            <a:ext cx="5175250" cy="1783080"/>
          </a:xfrm>
          <a:prstGeom prst="roundRect">
            <a:avLst>
              <a:gd name="adj" fmla="val 8545"/>
            </a:avLst>
          </a:prstGeom>
          <a:solidFill>
            <a:srgbClr val="FBFAF6"/>
          </a:solidFill>
          <a:ln w="6350">
            <a:solidFill>
              <a:srgbClr val="D9D3C5"/>
            </a:solidFill>
            <a:prstDash val="solid"/>
          </a:ln>
        </p:spPr>
        <p:txBody>
          <a:bodyPr/>
          <a:p/>
        </p:txBody>
      </p:sp>
      <p:sp>
        <p:nvSpPr>
          <p:cNvPr id="10" name="Text 8"/>
          <p:cNvSpPr/>
          <p:nvPr/>
        </p:nvSpPr>
        <p:spPr>
          <a:xfrm>
            <a:off x="1073150" y="38862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6"/>
                </a:solidFill>
                <a:latin typeface="Space Grotesk" pitchFamily="34" charset="0"/>
                <a:ea typeface="Space Grotesk" pitchFamily="34" charset="-122"/>
                <a:cs typeface="Space Grotesk" pitchFamily="34" charset="-120"/>
              </a:rPr>
              <a:t>Under the hood (circuit-8b)</a:t>
            </a:r>
            <a:endParaRPr lang="en-US" sz="2000" dirty="0"/>
          </a:p>
        </p:txBody>
      </p:sp>
      <p:sp>
        <p:nvSpPr>
          <p:cNvPr id="11" name="Text 9"/>
          <p:cNvSpPr/>
          <p:nvPr/>
        </p:nvSpPr>
        <p:spPr>
          <a:xfrm>
            <a:off x="1073150" y="4288536"/>
            <a:ext cx="4800727" cy="10058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270"/>
                </a:solidFill>
                <a:latin typeface="IBM Plex Mono" pitchFamily="34" charset="0"/>
                <a:ea typeface="IBM Plex Mono" pitchFamily="34" charset="-122"/>
                <a:cs typeface="IBM Plex Mono" pitchFamily="34" charset="-120"/>
              </a:rPr>
              <a:t>An ordinary LLM body (Qwen3-8B) plus a small readout head. Each option gets a marker token; the head scores them all in one forward pass, then a softmax.</a:t>
            </a:r>
            <a:endParaRPr lang="en-US" sz="1400" dirty="0"/>
          </a:p>
        </p:txBody>
      </p:sp>
      <p:sp>
        <p:nvSpPr>
          <p:cNvPr id="12" name="Shape 10"/>
          <p:cNvSpPr/>
          <p:nvPr/>
        </p:nvSpPr>
        <p:spPr>
          <a:xfrm>
            <a:off x="6200775" y="3657600"/>
            <a:ext cx="5175250" cy="1783080"/>
          </a:xfrm>
          <a:prstGeom prst="roundRect">
            <a:avLst>
              <a:gd name="adj" fmla="val 8545"/>
            </a:avLst>
          </a:prstGeom>
          <a:solidFill>
            <a:srgbClr val="FBFAF6"/>
          </a:solidFill>
          <a:ln w="6350">
            <a:solidFill>
              <a:srgbClr val="D9D3C5"/>
            </a:solidFill>
            <a:prstDash val="solid"/>
          </a:ln>
        </p:spPr>
        <p:txBody>
          <a:bodyPr/>
          <a:p/>
        </p:txBody>
      </p:sp>
      <p:sp>
        <p:nvSpPr>
          <p:cNvPr id="13" name="Text 11"/>
          <p:cNvSpPr/>
          <p:nvPr/>
        </p:nvSpPr>
        <p:spPr>
          <a:xfrm>
            <a:off x="6457950" y="38862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6"/>
                </a:solidFill>
                <a:latin typeface="Space Grotesk" pitchFamily="34" charset="0"/>
                <a:ea typeface="Space Grotesk" pitchFamily="34" charset="-122"/>
                <a:cs typeface="Space Grotesk" pitchFamily="34" charset="-120"/>
              </a:rPr>
              <a:t>Why the number is useful</a:t>
            </a:r>
            <a:endParaRPr lang="en-US" sz="2000" dirty="0"/>
          </a:p>
        </p:txBody>
      </p:sp>
      <p:sp>
        <p:nvSpPr>
          <p:cNvPr id="14" name="Text 12"/>
          <p:cNvSpPr/>
          <p:nvPr/>
        </p:nvSpPr>
        <p:spPr>
          <a:xfrm>
            <a:off x="6457950" y="4288536"/>
            <a:ext cx="4800727" cy="10058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270"/>
                </a:solidFill>
                <a:latin typeface="IBM Plex Mono" pitchFamily="34" charset="0"/>
                <a:ea typeface="IBM Plex Mono" pitchFamily="34" charset="-122"/>
                <a:cs typeface="IBM Plex Mono" pitchFamily="34" charset="-120"/>
              </a:rPr>
              <a:t>It's trained against real outcomes, so 0.8 should be right about 8 times in 10. That's what lets a threshold in code mean something.</a:t>
            </a:r>
            <a:endParaRPr lang="en-US" sz="1400" dirty="0"/>
          </a:p>
        </p:txBody>
      </p:sp>
      <p:sp>
        <p:nvSpPr>
          <p:cNvPr id="15" name="Text 13"/>
          <p:cNvSpPr/>
          <p:nvPr/>
        </p:nvSpPr>
        <p:spPr>
          <a:xfrm>
            <a:off x="812800" y="5650992"/>
            <a:ext cx="10883392" cy="36576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270"/>
                </a:solidFill>
                <a:latin typeface="Space Grotesk" pitchFamily="34" charset="0"/>
                <a:ea typeface="Space Grotesk" pitchFamily="34" charset="-122"/>
                <a:cs typeface="Space Grotesk" pitchFamily="34" charset="-120"/>
              </a:rPr>
              <a:t>The name is Kahneman’s: System 1 answers fast, by instinct. System 2 reasons slowly, out loud.</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Kahneman, Thinking, Fast and Slow · circuit-8b model card, huggingface.co/jbarney · Decide in code · 6</a:t>
            </a:r>
            <a:endParaRPr lang="en-US" sz="1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3816" y="813816"/>
            <a:ext cx="10881360" cy="548640"/>
          </a:xfrm>
          <a:prstGeom prst="rect">
            <a:avLst/>
          </a:prstGeom>
          <a:noFill/>
        </p:spPr>
        <p:txBody>
          <a:bodyPr wrap="square" anchor="t" lIns="0" rIns="0" tIns="0" bIns="0">
            <a:spAutoFit/>
          </a:bodyPr>
          <a:lstStyle/>
          <a:p>
            <a:r>
              <a:rPr sz="3600" b="1">
                <a:solidFill>
                  <a:srgbClr val="1B1F26"/>
                </a:solidFill>
                <a:latin typeface="Space Grotesk"/>
              </a:rPr>
              <a:t>Inside one System One call</a:t>
            </a:r>
          </a:p>
        </p:txBody>
      </p:sp>
      <p:sp>
        <p:nvSpPr>
          <p:cNvPr id="3" name="Oval 2"/>
          <p:cNvSpPr/>
          <p:nvPr/>
        </p:nvSpPr>
        <p:spPr>
          <a:xfrm>
            <a:off x="813816" y="1664208"/>
            <a:ext cx="457200" cy="457200"/>
          </a:xfrm>
          <a:prstGeom prst="ellipse">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3816" y="1664208"/>
            <a:ext cx="457200" cy="457200"/>
          </a:xfrm>
          <a:prstGeom prst="rect">
            <a:avLst/>
          </a:prstGeom>
          <a:noFill/>
        </p:spPr>
        <p:txBody>
          <a:bodyPr wrap="square" anchor="ctr" lIns="0" rIns="0" tIns="0" bIns="0">
            <a:spAutoFit/>
          </a:bodyPr>
          <a:lstStyle/>
          <a:p>
            <a:pPr algn="ctr"/>
            <a:r>
              <a:rPr sz="1600" b="1">
                <a:solidFill>
                  <a:srgbClr val="FFFFFF"/>
                </a:solidFill>
                <a:latin typeface="Space Grotesk"/>
              </a:rPr>
              <a:t>1</a:t>
            </a:r>
          </a:p>
        </p:txBody>
      </p:sp>
      <p:sp>
        <p:nvSpPr>
          <p:cNvPr id="5" name="TextBox 4"/>
          <p:cNvSpPr txBox="1"/>
          <p:nvPr/>
        </p:nvSpPr>
        <p:spPr>
          <a:xfrm>
            <a:off x="1499616" y="1645920"/>
            <a:ext cx="5120640" cy="914400"/>
          </a:xfrm>
          <a:prstGeom prst="rect">
            <a:avLst/>
          </a:prstGeom>
          <a:noFill/>
        </p:spPr>
        <p:txBody>
          <a:bodyPr wrap="square" anchor="t" lIns="0" rIns="0" tIns="0" bIns="0">
            <a:spAutoFit/>
          </a:bodyPr>
          <a:lstStyle/>
          <a:p>
            <a:r>
              <a:rPr sz="1700" b="1">
                <a:solidFill>
                  <a:srgbClr val="1B1F26"/>
                </a:solidFill>
                <a:latin typeface="Space Grotesk"/>
              </a:rPr>
              <a:t>Pack</a:t>
            </a:r>
          </a:p>
          <a:p>
            <a:pPr>
              <a:spcBef>
                <a:spcPts val="200"/>
              </a:spcBef>
            </a:pPr>
            <a:r>
              <a:rPr sz="1300" b="0">
                <a:solidFill>
                  <a:srgbClr val="5B6270"/>
                </a:solidFill>
                <a:latin typeface="Space Grotesk"/>
              </a:rPr>
              <a:t>The state, every question and each question's allowed answers go in as one input.</a:t>
            </a:r>
          </a:p>
        </p:txBody>
      </p:sp>
      <p:sp>
        <p:nvSpPr>
          <p:cNvPr id="6" name="Oval 5"/>
          <p:cNvSpPr/>
          <p:nvPr/>
        </p:nvSpPr>
        <p:spPr>
          <a:xfrm>
            <a:off x="813816" y="2624328"/>
            <a:ext cx="457200" cy="457200"/>
          </a:xfrm>
          <a:prstGeom prst="ellipse">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2624328"/>
            <a:ext cx="457200" cy="457200"/>
          </a:xfrm>
          <a:prstGeom prst="rect">
            <a:avLst/>
          </a:prstGeom>
          <a:noFill/>
        </p:spPr>
        <p:txBody>
          <a:bodyPr wrap="square" anchor="ctr" lIns="0" rIns="0" tIns="0" bIns="0">
            <a:spAutoFit/>
          </a:bodyPr>
          <a:lstStyle/>
          <a:p>
            <a:pPr algn="ctr"/>
            <a:r>
              <a:rPr sz="1600" b="1">
                <a:solidFill>
                  <a:srgbClr val="FFFFFF"/>
                </a:solidFill>
                <a:latin typeface="Space Grotesk"/>
              </a:rPr>
              <a:t>2</a:t>
            </a:r>
          </a:p>
        </p:txBody>
      </p:sp>
      <p:sp>
        <p:nvSpPr>
          <p:cNvPr id="8" name="TextBox 7"/>
          <p:cNvSpPr txBox="1"/>
          <p:nvPr/>
        </p:nvSpPr>
        <p:spPr>
          <a:xfrm>
            <a:off x="1499616" y="2606040"/>
            <a:ext cx="5120640" cy="914400"/>
          </a:xfrm>
          <a:prstGeom prst="rect">
            <a:avLst/>
          </a:prstGeom>
          <a:noFill/>
        </p:spPr>
        <p:txBody>
          <a:bodyPr wrap="square" anchor="t" lIns="0" rIns="0" tIns="0" bIns="0">
            <a:spAutoFit/>
          </a:bodyPr>
          <a:lstStyle/>
          <a:p>
            <a:r>
              <a:rPr sz="1700" b="1">
                <a:solidFill>
                  <a:srgbClr val="1B1F26"/>
                </a:solidFill>
                <a:latin typeface="Space Grotesk"/>
              </a:rPr>
              <a:t>Mark</a:t>
            </a:r>
          </a:p>
          <a:p>
            <a:pPr>
              <a:spcBef>
                <a:spcPts val="200"/>
              </a:spcBef>
            </a:pPr>
            <a:r>
              <a:rPr sz="1300" b="0">
                <a:solidFill>
                  <a:srgbClr val="5B6270"/>
                </a:solidFill>
                <a:latin typeface="Space Grotesk"/>
              </a:rPr>
              <a:t>Every allowed answer is wrapped in marker tokens. The input ends with a “decide” token.</a:t>
            </a:r>
          </a:p>
        </p:txBody>
      </p:sp>
      <p:sp>
        <p:nvSpPr>
          <p:cNvPr id="9" name="Oval 8"/>
          <p:cNvSpPr/>
          <p:nvPr/>
        </p:nvSpPr>
        <p:spPr>
          <a:xfrm>
            <a:off x="813816" y="3584448"/>
            <a:ext cx="457200" cy="457200"/>
          </a:xfrm>
          <a:prstGeom prst="ellipse">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3584448"/>
            <a:ext cx="457200" cy="457200"/>
          </a:xfrm>
          <a:prstGeom prst="rect">
            <a:avLst/>
          </a:prstGeom>
          <a:noFill/>
        </p:spPr>
        <p:txBody>
          <a:bodyPr wrap="square" anchor="ctr" lIns="0" rIns="0" tIns="0" bIns="0">
            <a:spAutoFit/>
          </a:bodyPr>
          <a:lstStyle/>
          <a:p>
            <a:pPr algn="ctr"/>
            <a:r>
              <a:rPr sz="1600" b="1">
                <a:solidFill>
                  <a:srgbClr val="FFFFFF"/>
                </a:solidFill>
                <a:latin typeface="Space Grotesk"/>
              </a:rPr>
              <a:t>3</a:t>
            </a:r>
          </a:p>
        </p:txBody>
      </p:sp>
      <p:sp>
        <p:nvSpPr>
          <p:cNvPr id="11" name="TextBox 10"/>
          <p:cNvSpPr txBox="1"/>
          <p:nvPr/>
        </p:nvSpPr>
        <p:spPr>
          <a:xfrm>
            <a:off x="1499616" y="3566160"/>
            <a:ext cx="5120640" cy="914400"/>
          </a:xfrm>
          <a:prstGeom prst="rect">
            <a:avLst/>
          </a:prstGeom>
          <a:noFill/>
        </p:spPr>
        <p:txBody>
          <a:bodyPr wrap="square" anchor="t" lIns="0" rIns="0" tIns="0" bIns="0">
            <a:spAutoFit/>
          </a:bodyPr>
          <a:lstStyle/>
          <a:p>
            <a:r>
              <a:rPr sz="1700" b="1">
                <a:solidFill>
                  <a:srgbClr val="1B1F26"/>
                </a:solidFill>
                <a:latin typeface="Space Grotesk"/>
              </a:rPr>
              <a:t>Read once</a:t>
            </a:r>
          </a:p>
          <a:p>
            <a:pPr>
              <a:spcBef>
                <a:spcPts val="200"/>
              </a:spcBef>
            </a:pPr>
            <a:r>
              <a:rPr sz="1300" b="0">
                <a:solidFill>
                  <a:srgbClr val="5B6270"/>
                </a:solidFill>
                <a:latin typeface="Space Grotesk"/>
              </a:rPr>
              <a:t>One forward pass over the whole input. No token is generated, ever.</a:t>
            </a:r>
          </a:p>
        </p:txBody>
      </p:sp>
      <p:sp>
        <p:nvSpPr>
          <p:cNvPr id="12" name="Oval 11"/>
          <p:cNvSpPr/>
          <p:nvPr/>
        </p:nvSpPr>
        <p:spPr>
          <a:xfrm>
            <a:off x="813816" y="4544568"/>
            <a:ext cx="457200" cy="457200"/>
          </a:xfrm>
          <a:prstGeom prst="ellipse">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4544568"/>
            <a:ext cx="457200" cy="457200"/>
          </a:xfrm>
          <a:prstGeom prst="rect">
            <a:avLst/>
          </a:prstGeom>
          <a:noFill/>
        </p:spPr>
        <p:txBody>
          <a:bodyPr wrap="square" anchor="ctr" lIns="0" rIns="0" tIns="0" bIns="0">
            <a:spAutoFit/>
          </a:bodyPr>
          <a:lstStyle/>
          <a:p>
            <a:pPr algn="ctr"/>
            <a:r>
              <a:rPr sz="1600" b="1">
                <a:solidFill>
                  <a:srgbClr val="FFFFFF"/>
                </a:solidFill>
                <a:latin typeface="Space Grotesk"/>
              </a:rPr>
              <a:t>4</a:t>
            </a:r>
          </a:p>
        </p:txBody>
      </p:sp>
      <p:sp>
        <p:nvSpPr>
          <p:cNvPr id="14" name="TextBox 13"/>
          <p:cNvSpPr txBox="1"/>
          <p:nvPr/>
        </p:nvSpPr>
        <p:spPr>
          <a:xfrm>
            <a:off x="1499616" y="4526280"/>
            <a:ext cx="5120640" cy="914400"/>
          </a:xfrm>
          <a:prstGeom prst="rect">
            <a:avLst/>
          </a:prstGeom>
          <a:noFill/>
        </p:spPr>
        <p:txBody>
          <a:bodyPr wrap="square" anchor="t" lIns="0" rIns="0" tIns="0" bIns="0">
            <a:spAutoFit/>
          </a:bodyPr>
          <a:lstStyle/>
          <a:p>
            <a:r>
              <a:rPr sz="1700" b="1">
                <a:solidFill>
                  <a:srgbClr val="1B1F26"/>
                </a:solidFill>
                <a:latin typeface="Space Grotesk"/>
              </a:rPr>
              <a:t>Score</a:t>
            </a:r>
          </a:p>
          <a:p>
            <a:pPr>
              <a:spcBef>
                <a:spcPts val="200"/>
              </a:spcBef>
            </a:pPr>
            <a:r>
              <a:rPr sz="1300" b="0">
                <a:solidFill>
                  <a:srgbClr val="5B6270"/>
                </a:solidFill>
                <a:latin typeface="Space Grotesk"/>
              </a:rPr>
              <a:t>A small head scores each answer's marker against “decide”. A softmax makes them sum to 1.</a:t>
            </a:r>
          </a:p>
        </p:txBody>
      </p:sp>
      <p:sp>
        <p:nvSpPr>
          <p:cNvPr id="15" name="Rounded Rectangle 14"/>
          <p:cNvSpPr/>
          <p:nvPr/>
        </p:nvSpPr>
        <p:spPr>
          <a:xfrm>
            <a:off x="6903720" y="1645920"/>
            <a:ext cx="4471416" cy="3703320"/>
          </a:xfrm>
          <a:prstGeom prst="roundRect">
            <a:avLst>
              <a:gd name="adj" fmla="val 5000"/>
            </a:avLst>
          </a:prstGeom>
          <a:solidFill>
            <a:srgbClr val="1B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78040" y="1874519"/>
            <a:ext cx="3922776" cy="274320"/>
          </a:xfrm>
          <a:prstGeom prst="rect">
            <a:avLst/>
          </a:prstGeom>
          <a:noFill/>
        </p:spPr>
        <p:txBody>
          <a:bodyPr wrap="square" anchor="t" lIns="0" rIns="0" tIns="0" bIns="0">
            <a:spAutoFit/>
          </a:bodyPr>
          <a:lstStyle/>
          <a:p>
            <a:r>
              <a:rPr sz="1300" b="1">
                <a:solidFill>
                  <a:srgbClr val="F0873F"/>
                </a:solidFill>
                <a:latin typeface="IBM Plex Mono"/>
              </a:rPr>
              <a:t>dept: which team should handle this?</a:t>
            </a:r>
          </a:p>
        </p:txBody>
      </p:sp>
      <p:sp>
        <p:nvSpPr>
          <p:cNvPr id="17" name="TextBox 16"/>
          <p:cNvSpPr txBox="1"/>
          <p:nvPr/>
        </p:nvSpPr>
        <p:spPr>
          <a:xfrm>
            <a:off x="7178040" y="2240280"/>
            <a:ext cx="3922776" cy="502920"/>
          </a:xfrm>
          <a:prstGeom prst="rect">
            <a:avLst/>
          </a:prstGeom>
          <a:noFill/>
        </p:spPr>
        <p:txBody>
          <a:bodyPr wrap="square" anchor="t" lIns="0" rIns="0" tIns="0" bIns="0">
            <a:spAutoFit/>
          </a:bodyPr>
          <a:lstStyle/>
          <a:p>
            <a:r>
              <a:rPr sz="1300" b="0">
                <a:solidFill>
                  <a:srgbClr val="F4F1EA"/>
                </a:solidFill>
                <a:latin typeface="Space Grotesk"/>
              </a:rPr>
              <a:t>“I was charged twice this month, please refund one.”</a:t>
            </a:r>
          </a:p>
        </p:txBody>
      </p:sp>
      <p:sp>
        <p:nvSpPr>
          <p:cNvPr id="18" name="TextBox 17"/>
          <p:cNvSpPr txBox="1"/>
          <p:nvPr/>
        </p:nvSpPr>
        <p:spPr>
          <a:xfrm>
            <a:off x="7178040" y="2971800"/>
            <a:ext cx="1097280" cy="310896"/>
          </a:xfrm>
          <a:prstGeom prst="rect">
            <a:avLst/>
          </a:prstGeom>
          <a:noFill/>
        </p:spPr>
        <p:txBody>
          <a:bodyPr wrap="square" anchor="ctr" lIns="0" rIns="0" tIns="0" bIns="0">
            <a:spAutoFit/>
          </a:bodyPr>
          <a:lstStyle/>
          <a:p>
            <a:r>
              <a:rPr sz="1300" b="0">
                <a:solidFill>
                  <a:srgbClr val="F4F1EA"/>
                </a:solidFill>
                <a:latin typeface="IBM Plex Mono"/>
              </a:rPr>
              <a:t>billing</a:t>
            </a:r>
          </a:p>
        </p:txBody>
      </p:sp>
      <p:sp>
        <p:nvSpPr>
          <p:cNvPr id="19" name="Rectangle 18"/>
          <p:cNvSpPr/>
          <p:nvPr/>
        </p:nvSpPr>
        <p:spPr>
          <a:xfrm>
            <a:off x="8321040" y="3035808"/>
            <a:ext cx="2185415" cy="182880"/>
          </a:xfrm>
          <a:prstGeom prst="rect">
            <a:avLst/>
          </a:prstGeom>
          <a:solidFill>
            <a:srgbClr val="2B3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0" y="3035808"/>
            <a:ext cx="2032436" cy="182880"/>
          </a:xfrm>
          <a:prstGeom prst="rect">
            <a:avLst/>
          </a:prstGeom>
          <a:solidFill>
            <a:srgbClr val="F08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16183" y="2971800"/>
            <a:ext cx="640080" cy="310896"/>
          </a:xfrm>
          <a:prstGeom prst="rect">
            <a:avLst/>
          </a:prstGeom>
          <a:noFill/>
        </p:spPr>
        <p:txBody>
          <a:bodyPr wrap="square" anchor="ctr" lIns="0" rIns="0" tIns="0" bIns="0">
            <a:spAutoFit/>
          </a:bodyPr>
          <a:lstStyle/>
          <a:p>
            <a:r>
              <a:rPr sz="1300" b="1">
                <a:solidFill>
                  <a:srgbClr val="F4F1EA"/>
                </a:solidFill>
                <a:latin typeface="IBM Plex Mono"/>
              </a:rPr>
              <a:t>0.93</a:t>
            </a:r>
          </a:p>
        </p:txBody>
      </p:sp>
      <p:sp>
        <p:nvSpPr>
          <p:cNvPr id="22" name="TextBox 21"/>
          <p:cNvSpPr txBox="1"/>
          <p:nvPr/>
        </p:nvSpPr>
        <p:spPr>
          <a:xfrm>
            <a:off x="7178040" y="3429000"/>
            <a:ext cx="1097280" cy="310896"/>
          </a:xfrm>
          <a:prstGeom prst="rect">
            <a:avLst/>
          </a:prstGeom>
          <a:noFill/>
        </p:spPr>
        <p:txBody>
          <a:bodyPr wrap="square" anchor="ctr" lIns="0" rIns="0" tIns="0" bIns="0">
            <a:spAutoFit/>
          </a:bodyPr>
          <a:lstStyle/>
          <a:p>
            <a:r>
              <a:rPr sz="1300" b="0">
                <a:solidFill>
                  <a:srgbClr val="F4F1EA"/>
                </a:solidFill>
                <a:latin typeface="IBM Plex Mono"/>
              </a:rPr>
              <a:t>technical</a:t>
            </a:r>
          </a:p>
        </p:txBody>
      </p:sp>
      <p:sp>
        <p:nvSpPr>
          <p:cNvPr id="23" name="Rectangle 22"/>
          <p:cNvSpPr/>
          <p:nvPr/>
        </p:nvSpPr>
        <p:spPr>
          <a:xfrm>
            <a:off x="8321040" y="3493008"/>
            <a:ext cx="2185415" cy="182880"/>
          </a:xfrm>
          <a:prstGeom prst="rect">
            <a:avLst/>
          </a:prstGeom>
          <a:solidFill>
            <a:srgbClr val="2B3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21040" y="3493008"/>
            <a:ext cx="109270" cy="182880"/>
          </a:xfrm>
          <a:prstGeom prst="rect">
            <a:avLst/>
          </a:prstGeom>
          <a:solidFill>
            <a:srgbClr val="C3C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16183" y="3429000"/>
            <a:ext cx="640080" cy="310896"/>
          </a:xfrm>
          <a:prstGeom prst="rect">
            <a:avLst/>
          </a:prstGeom>
          <a:noFill/>
        </p:spPr>
        <p:txBody>
          <a:bodyPr wrap="square" anchor="ctr" lIns="0" rIns="0" tIns="0" bIns="0">
            <a:spAutoFit/>
          </a:bodyPr>
          <a:lstStyle/>
          <a:p>
            <a:r>
              <a:rPr sz="1300" b="1">
                <a:solidFill>
                  <a:srgbClr val="F4F1EA"/>
                </a:solidFill>
                <a:latin typeface="IBM Plex Mono"/>
              </a:rPr>
              <a:t>0.05</a:t>
            </a:r>
          </a:p>
        </p:txBody>
      </p:sp>
      <p:sp>
        <p:nvSpPr>
          <p:cNvPr id="26" name="TextBox 25"/>
          <p:cNvSpPr txBox="1"/>
          <p:nvPr/>
        </p:nvSpPr>
        <p:spPr>
          <a:xfrm>
            <a:off x="7178040" y="3886200"/>
            <a:ext cx="1097280" cy="310896"/>
          </a:xfrm>
          <a:prstGeom prst="rect">
            <a:avLst/>
          </a:prstGeom>
          <a:noFill/>
        </p:spPr>
        <p:txBody>
          <a:bodyPr wrap="square" anchor="ctr" lIns="0" rIns="0" tIns="0" bIns="0">
            <a:spAutoFit/>
          </a:bodyPr>
          <a:lstStyle/>
          <a:p>
            <a:r>
              <a:rPr sz="1300" b="0">
                <a:solidFill>
                  <a:srgbClr val="F4F1EA"/>
                </a:solidFill>
                <a:latin typeface="IBM Plex Mono"/>
              </a:rPr>
              <a:t>other</a:t>
            </a:r>
          </a:p>
        </p:txBody>
      </p:sp>
      <p:sp>
        <p:nvSpPr>
          <p:cNvPr id="27" name="Rectangle 26"/>
          <p:cNvSpPr/>
          <p:nvPr/>
        </p:nvSpPr>
        <p:spPr>
          <a:xfrm>
            <a:off x="8321040" y="3950208"/>
            <a:ext cx="2185415" cy="182880"/>
          </a:xfrm>
          <a:prstGeom prst="rect">
            <a:avLst/>
          </a:prstGeom>
          <a:solidFill>
            <a:srgbClr val="2B3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40" y="3950208"/>
            <a:ext cx="43708" cy="182880"/>
          </a:xfrm>
          <a:prstGeom prst="rect">
            <a:avLst/>
          </a:prstGeom>
          <a:solidFill>
            <a:srgbClr val="C3C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16183" y="3886200"/>
            <a:ext cx="640080" cy="310896"/>
          </a:xfrm>
          <a:prstGeom prst="rect">
            <a:avLst/>
          </a:prstGeom>
          <a:noFill/>
        </p:spPr>
        <p:txBody>
          <a:bodyPr wrap="square" anchor="ctr" lIns="0" rIns="0" tIns="0" bIns="0">
            <a:spAutoFit/>
          </a:bodyPr>
          <a:lstStyle/>
          <a:p>
            <a:r>
              <a:rPr sz="1300" b="1">
                <a:solidFill>
                  <a:srgbClr val="F4F1EA"/>
                </a:solidFill>
                <a:latin typeface="IBM Plex Mono"/>
              </a:rPr>
              <a:t>0.02</a:t>
            </a:r>
          </a:p>
        </p:txBody>
      </p:sp>
      <p:sp>
        <p:nvSpPr>
          <p:cNvPr id="30" name="TextBox 29"/>
          <p:cNvSpPr txBox="1"/>
          <p:nvPr/>
        </p:nvSpPr>
        <p:spPr>
          <a:xfrm>
            <a:off x="7178040" y="4526280"/>
            <a:ext cx="3922776" cy="822960"/>
          </a:xfrm>
          <a:prstGeom prst="rect">
            <a:avLst/>
          </a:prstGeom>
          <a:noFill/>
        </p:spPr>
        <p:txBody>
          <a:bodyPr wrap="square" anchor="t" lIns="0" rIns="0" tIns="0" bIns="0">
            <a:spAutoFit/>
          </a:bodyPr>
          <a:lstStyle/>
          <a:p>
            <a:r>
              <a:rPr sz="1300" b="1">
                <a:solidFill>
                  <a:srgbClr val="F4F1EA"/>
                </a:solidFill>
                <a:latin typeface="Space Grotesk"/>
              </a:rPr>
              <a:t>Three numbers, one pass, nothing to parse. </a:t>
            </a:r>
            <a:r>
              <a:rPr sz="1300" b="0">
                <a:solidFill>
                  <a:srgbClr val="C3C0BB"/>
                </a:solidFill>
                <a:latin typeface="Space Grotesk"/>
              </a:rPr>
              <a:t>Your code reads 0.93 and routes it to billing.</a:t>
            </a:r>
          </a:p>
        </p:txBody>
      </p:sp>
      <p:sp>
        <p:nvSpPr>
          <p:cNvPr id="31" name="TextBox 30"/>
          <p:cNvSpPr txBox="1"/>
          <p:nvPr/>
        </p:nvSpPr>
        <p:spPr>
          <a:xfrm>
            <a:off x="813816" y="5596128"/>
            <a:ext cx="10515600" cy="365760"/>
          </a:xfrm>
          <a:prstGeom prst="rect">
            <a:avLst/>
          </a:prstGeom>
          <a:noFill/>
        </p:spPr>
        <p:txBody>
          <a:bodyPr wrap="square" anchor="t" lIns="0" rIns="0" tIns="0" bIns="0">
            <a:spAutoFit/>
          </a:bodyPr>
          <a:lstStyle/>
          <a:p>
            <a:r>
              <a:rPr sz="1500" b="0">
                <a:solidFill>
                  <a:srgbClr val="5B6270"/>
                </a:solidFill>
                <a:latin typeface="Space Grotesk"/>
              </a:rPr>
              <a:t>Same idea as a classifier, except you define the classes per request, in plain English.</a:t>
            </a:r>
          </a:p>
        </p:txBody>
      </p:sp>
      <p:sp>
        <p:nvSpPr>
          <p:cNvPr id="32" name="TextBox 31"/>
          <p:cNvSpPr txBox="1"/>
          <p:nvPr/>
        </p:nvSpPr>
        <p:spPr>
          <a:xfrm>
            <a:off x="813816" y="6236208"/>
            <a:ext cx="10881360" cy="237744"/>
          </a:xfrm>
          <a:prstGeom prst="rect">
            <a:avLst/>
          </a:prstGeom>
          <a:noFill/>
        </p:spPr>
        <p:txBody>
          <a:bodyPr wrap="square" anchor="t" lIns="0" rIns="0" tIns="0" bIns="0">
            <a:spAutoFit/>
          </a:bodyPr>
          <a:lstStyle/>
          <a:p>
            <a:r>
              <a:rPr sz="1200" b="0">
                <a:solidFill>
                  <a:srgbClr val="5B6270"/>
                </a:solidFill>
                <a:latin typeface="Space Grotesk"/>
              </a:rPr>
              <a:t>Mechanism: circuit-8b model card, huggingface.co/jbarney · illustrative numbers · Decide in code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Jev put the idea on the market</a:t>
            </a:r>
            <a:endParaRPr lang="en-US" sz="3600" dirty="0"/>
          </a:p>
        </p:txBody>
      </p:sp>
      <p:sp>
        <p:nvSpPr>
          <p:cNvPr id="3" name="Shape 1"/>
          <p:cNvSpPr/>
          <p:nvPr/>
        </p:nvSpPr>
        <p:spPr>
          <a:xfrm>
            <a:off x="815975" y="1674465"/>
            <a:ext cx="3380284" cy="1997075"/>
          </a:xfrm>
          <a:prstGeom prst="roundRect">
            <a:avLst>
              <a:gd name="adj" fmla="val 4928"/>
            </a:avLst>
          </a:prstGeom>
          <a:solidFill>
            <a:srgbClr val="FBFAF6"/>
          </a:solidFill>
          <a:ln w="6350">
            <a:solidFill>
              <a:srgbClr val="D9D3C5"/>
            </a:solidFill>
            <a:prstDash val="solid"/>
          </a:ln>
        </p:spPr>
        <p:txBody>
          <a:bodyPr/>
          <a:p/>
        </p:txBody>
      </p:sp>
      <p:sp>
        <p:nvSpPr>
          <p:cNvPr id="4" name="Text 2"/>
          <p:cNvSpPr/>
          <p:nvPr/>
        </p:nvSpPr>
        <p:spPr>
          <a:xfrm>
            <a:off x="1073150" y="1931640"/>
            <a:ext cx="295191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4521A"/>
                </a:solidFill>
                <a:latin typeface="Space Grotesk" pitchFamily="34" charset="0"/>
                <a:ea typeface="Space Grotesk" pitchFamily="34" charset="-122"/>
                <a:cs typeface="Space Grotesk" pitchFamily="34" charset="-120"/>
              </a:rPr>
              <a:t>Sep 15</a:t>
            </a:r>
            <a:endParaRPr lang="en-US" sz="4800" dirty="0"/>
          </a:p>
        </p:txBody>
      </p:sp>
      <p:sp>
        <p:nvSpPr>
          <p:cNvPr id="5" name="Text 3"/>
          <p:cNvSpPr/>
          <p:nvPr/>
        </p:nvSpPr>
        <p:spPr>
          <a:xfrm>
            <a:off x="1073150" y="2642840"/>
            <a:ext cx="2951912"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B1F26"/>
                </a:solidFill>
                <a:latin typeface="Space Grotesk" pitchFamily="34" charset="0"/>
                <a:ea typeface="Space Grotesk" pitchFamily="34" charset="-122"/>
                <a:cs typeface="Space Grotesk" pitchFamily="34" charset="-120"/>
              </a:rPr>
              <a:t>TypeSafe AI launches Jev, billed as the first System One model</a:t>
            </a:r>
            <a:endParaRPr lang="en-US" sz="1500" dirty="0"/>
          </a:p>
        </p:txBody>
      </p:sp>
      <p:sp>
        <p:nvSpPr>
          <p:cNvPr id="6" name="Shape 4"/>
          <p:cNvSpPr/>
          <p:nvPr/>
        </p:nvSpPr>
        <p:spPr>
          <a:xfrm>
            <a:off x="4405809" y="1674465"/>
            <a:ext cx="3380333" cy="1997075"/>
          </a:xfrm>
          <a:prstGeom prst="roundRect">
            <a:avLst>
              <a:gd name="adj" fmla="val 4928"/>
            </a:avLst>
          </a:prstGeom>
          <a:solidFill>
            <a:srgbClr val="FBFAF6"/>
          </a:solidFill>
          <a:ln w="6350">
            <a:solidFill>
              <a:srgbClr val="D9D3C5"/>
            </a:solidFill>
            <a:prstDash val="solid"/>
          </a:ln>
        </p:spPr>
        <p:txBody>
          <a:bodyPr/>
          <a:p/>
        </p:txBody>
      </p:sp>
      <p:sp>
        <p:nvSpPr>
          <p:cNvPr id="7" name="Text 5"/>
          <p:cNvSpPr/>
          <p:nvPr/>
        </p:nvSpPr>
        <p:spPr>
          <a:xfrm>
            <a:off x="4662984" y="1931640"/>
            <a:ext cx="295196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4521A"/>
                </a:solidFill>
                <a:latin typeface="Space Grotesk" pitchFamily="34" charset="0"/>
                <a:ea typeface="Space Grotesk" pitchFamily="34" charset="-122"/>
                <a:cs typeface="Space Grotesk" pitchFamily="34" charset="-120"/>
              </a:rPr>
              <a:t>70–500</a:t>
            </a:r>
            <a:endParaRPr lang="en-US" sz="4800" dirty="0"/>
          </a:p>
        </p:txBody>
      </p:sp>
      <p:sp>
        <p:nvSpPr>
          <p:cNvPr id="8" name="Text 6"/>
          <p:cNvSpPr/>
          <p:nvPr/>
        </p:nvSpPr>
        <p:spPr>
          <a:xfrm>
            <a:off x="4662984" y="2642840"/>
            <a:ext cx="295196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B1F26"/>
                </a:solidFill>
                <a:latin typeface="Space Grotesk" pitchFamily="34" charset="0"/>
                <a:ea typeface="Space Grotesk" pitchFamily="34" charset="-122"/>
                <a:cs typeface="Space Grotesk" pitchFamily="34" charset="-120"/>
              </a:rPr>
              <a:t>milliseconds per call, end to end, by TypeSafe's own numbers</a:t>
            </a:r>
            <a:endParaRPr lang="en-US" sz="1500" dirty="0"/>
          </a:p>
        </p:txBody>
      </p:sp>
      <p:sp>
        <p:nvSpPr>
          <p:cNvPr id="9" name="Shape 7"/>
          <p:cNvSpPr/>
          <p:nvPr/>
        </p:nvSpPr>
        <p:spPr>
          <a:xfrm>
            <a:off x="7995692" y="1674465"/>
            <a:ext cx="3380333" cy="1997075"/>
          </a:xfrm>
          <a:prstGeom prst="roundRect">
            <a:avLst>
              <a:gd name="adj" fmla="val 4928"/>
            </a:avLst>
          </a:prstGeom>
          <a:solidFill>
            <a:srgbClr val="FBFAF6"/>
          </a:solidFill>
          <a:ln w="6350">
            <a:solidFill>
              <a:srgbClr val="D9D3C5"/>
            </a:solidFill>
            <a:prstDash val="solid"/>
          </a:ln>
        </p:spPr>
        <p:txBody>
          <a:bodyPr/>
          <a:p/>
        </p:txBody>
      </p:sp>
      <p:sp>
        <p:nvSpPr>
          <p:cNvPr id="10" name="Text 8"/>
          <p:cNvSpPr/>
          <p:nvPr/>
        </p:nvSpPr>
        <p:spPr>
          <a:xfrm>
            <a:off x="8252867" y="1931640"/>
            <a:ext cx="295196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4521A"/>
                </a:solidFill>
                <a:latin typeface="Space Grotesk" pitchFamily="34" charset="0"/>
                <a:ea typeface="Space Grotesk" pitchFamily="34" charset="-122"/>
                <a:cs typeface="Space Grotesk" pitchFamily="34" charset="-120"/>
              </a:rPr>
              <a:t>0</a:t>
            </a:r>
            <a:endParaRPr lang="en-US" sz="4800" dirty="0"/>
          </a:p>
        </p:txBody>
      </p:sp>
      <p:sp>
        <p:nvSpPr>
          <p:cNvPr id="11" name="Text 9"/>
          <p:cNvSpPr/>
          <p:nvPr/>
        </p:nvSpPr>
        <p:spPr>
          <a:xfrm>
            <a:off x="8252867" y="2642840"/>
            <a:ext cx="295196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B1F26"/>
                </a:solidFill>
                <a:latin typeface="Space Grotesk" pitchFamily="34" charset="0"/>
                <a:ea typeface="Space Grotesk" pitchFamily="34" charset="-122"/>
                <a:cs typeface="Space Grotesk" pitchFamily="34" charset="-120"/>
              </a:rPr>
              <a:t>words of prose. Labels, scores and probabilities, each with a confidence</a:t>
            </a:r>
            <a:endParaRPr lang="en-US" sz="1500" dirty="0"/>
          </a:p>
        </p:txBody>
      </p:sp>
      <p:sp>
        <p:nvSpPr>
          <p:cNvPr id="12" name="Text 10"/>
          <p:cNvSpPr/>
          <p:nvPr/>
        </p:nvSpPr>
        <p:spPr>
          <a:xfrm>
            <a:off x="812800" y="403031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270"/>
                </a:solidFill>
                <a:latin typeface="Space Grotesk" pitchFamily="34" charset="0"/>
                <a:ea typeface="Space Grotesk" pitchFamily="34" charset="-122"/>
                <a:cs typeface="Space Grotesk" pitchFamily="34" charset="-120"/>
              </a:rPr>
              <a:t>Early access, API only. It's two weeks old, and the benchmarks are vendor-reported.</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Sources: TypeSafe AI launch post; community write-ups · Decide in code · 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Why it belongs in your architecture</a:t>
            </a:r>
            <a:endParaRPr lang="en-US" sz="3600" dirty="0"/>
          </a:p>
        </p:txBody>
      </p:sp>
      <p:sp>
        <p:nvSpPr>
          <p:cNvPr id="3" name="Shape 1"/>
          <p:cNvSpPr/>
          <p:nvPr/>
        </p:nvSpPr>
        <p:spPr>
          <a:xfrm>
            <a:off x="815975" y="1674465"/>
            <a:ext cx="5175250" cy="1409700"/>
          </a:xfrm>
          <a:prstGeom prst="roundRect">
            <a:avLst>
              <a:gd name="adj" fmla="val 6982"/>
            </a:avLst>
          </a:prstGeom>
          <a:solidFill>
            <a:srgbClr val="FBFAF6"/>
          </a:solidFill>
          <a:ln w="6350">
            <a:solidFill>
              <a:srgbClr val="D9D3C5"/>
            </a:solidFill>
            <a:prstDash val="solid"/>
          </a:ln>
        </p:spPr>
        <p:txBody>
          <a:bodyPr/>
          <a:p/>
        </p:txBody>
      </p:sp>
      <p:sp>
        <p:nvSpPr>
          <p:cNvPr id="4" name="Text 2"/>
          <p:cNvSpPr/>
          <p:nvPr/>
        </p:nvSpPr>
        <p:spPr>
          <a:xfrm>
            <a:off x="1073150" y="19316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9E"/>
                </a:solidFill>
                <a:latin typeface="Space Grotesk" pitchFamily="34" charset="0"/>
                <a:ea typeface="Space Grotesk" pitchFamily="34" charset="-122"/>
                <a:cs typeface="Space Grotesk" pitchFamily="34" charset="-120"/>
              </a:rPr>
              <a:t>Fast and cheap</a:t>
            </a:r>
            <a:endParaRPr lang="en-US" sz="2000" dirty="0"/>
          </a:p>
        </p:txBody>
      </p:sp>
      <p:sp>
        <p:nvSpPr>
          <p:cNvPr id="5" name="Text 3"/>
          <p:cNvSpPr/>
          <p:nvPr/>
        </p:nvSpPr>
        <p:spPr>
          <a:xfrm>
            <a:off x="1073150" y="2312640"/>
            <a:ext cx="480072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B1F26"/>
                </a:solidFill>
                <a:latin typeface="Space Grotesk" pitchFamily="34" charset="0"/>
                <a:ea typeface="Space Grotesk" pitchFamily="34" charset="-122"/>
                <a:cs typeface="Space Grotesk" pitchFamily="34" charset="-120"/>
              </a:rPr>
              <a:t>One pass in hundreds of milliseconds, at a fraction of an LLM call's cost.</a:t>
            </a:r>
            <a:endParaRPr lang="en-US" sz="1500" dirty="0"/>
          </a:p>
        </p:txBody>
      </p:sp>
      <p:sp>
        <p:nvSpPr>
          <p:cNvPr id="6" name="Shape 4"/>
          <p:cNvSpPr/>
          <p:nvPr/>
        </p:nvSpPr>
        <p:spPr>
          <a:xfrm>
            <a:off x="6200775" y="1674465"/>
            <a:ext cx="5175250" cy="1409700"/>
          </a:xfrm>
          <a:prstGeom prst="roundRect">
            <a:avLst>
              <a:gd name="adj" fmla="val 6982"/>
            </a:avLst>
          </a:prstGeom>
          <a:solidFill>
            <a:srgbClr val="FBFAF6"/>
          </a:solidFill>
          <a:ln w="6350">
            <a:solidFill>
              <a:srgbClr val="D9D3C5"/>
            </a:solidFill>
            <a:prstDash val="solid"/>
          </a:ln>
        </p:spPr>
        <p:txBody>
          <a:bodyPr/>
          <a:p/>
        </p:txBody>
      </p:sp>
      <p:sp>
        <p:nvSpPr>
          <p:cNvPr id="7" name="Text 5"/>
          <p:cNvSpPr/>
          <p:nvPr/>
        </p:nvSpPr>
        <p:spPr>
          <a:xfrm>
            <a:off x="6457950" y="19316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9E"/>
                </a:solidFill>
                <a:latin typeface="Space Grotesk" pitchFamily="34" charset="0"/>
                <a:ea typeface="Space Grotesk" pitchFamily="34" charset="-122"/>
                <a:cs typeface="Space Grotesk" pitchFamily="34" charset="-120"/>
              </a:rPr>
              <a:t>Always parseable</a:t>
            </a:r>
            <a:endParaRPr lang="en-US" sz="2000" dirty="0"/>
          </a:p>
        </p:txBody>
      </p:sp>
      <p:sp>
        <p:nvSpPr>
          <p:cNvPr id="8" name="Text 6"/>
          <p:cNvSpPr/>
          <p:nvPr/>
        </p:nvSpPr>
        <p:spPr>
          <a:xfrm>
            <a:off x="6457950" y="2312640"/>
            <a:ext cx="480072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B1F26"/>
                </a:solidFill>
                <a:latin typeface="Space Grotesk" pitchFamily="34" charset="0"/>
                <a:ea typeface="Space Grotesk" pitchFamily="34" charset="-122"/>
                <a:cs typeface="Space Grotesk" pitchFamily="34" charset="-120"/>
              </a:rPr>
              <a:t>It can't answer outside the questions you defined. No regex over prose.</a:t>
            </a:r>
            <a:endParaRPr lang="en-US" sz="1500" dirty="0"/>
          </a:p>
        </p:txBody>
      </p:sp>
      <p:sp>
        <p:nvSpPr>
          <p:cNvPr id="9" name="Shape 7"/>
          <p:cNvSpPr/>
          <p:nvPr/>
        </p:nvSpPr>
        <p:spPr>
          <a:xfrm>
            <a:off x="815975" y="3293715"/>
            <a:ext cx="5175250" cy="1409700"/>
          </a:xfrm>
          <a:prstGeom prst="roundRect">
            <a:avLst>
              <a:gd name="adj" fmla="val 6982"/>
            </a:avLst>
          </a:prstGeom>
          <a:solidFill>
            <a:srgbClr val="FBFAF6"/>
          </a:solidFill>
          <a:ln w="6350">
            <a:solidFill>
              <a:srgbClr val="D9D3C5"/>
            </a:solidFill>
            <a:prstDash val="solid"/>
          </a:ln>
        </p:spPr>
        <p:txBody>
          <a:bodyPr/>
          <a:p/>
        </p:txBody>
      </p:sp>
      <p:sp>
        <p:nvSpPr>
          <p:cNvPr id="10" name="Text 8"/>
          <p:cNvSpPr/>
          <p:nvPr/>
        </p:nvSpPr>
        <p:spPr>
          <a:xfrm>
            <a:off x="1073150" y="355089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9E"/>
                </a:solidFill>
                <a:latin typeface="Space Grotesk" pitchFamily="34" charset="0"/>
                <a:ea typeface="Space Grotesk" pitchFamily="34" charset="-122"/>
                <a:cs typeface="Space Grotesk" pitchFamily="34" charset="-120"/>
              </a:rPr>
              <a:t>Honest about doubt</a:t>
            </a:r>
            <a:endParaRPr lang="en-US" sz="2000" dirty="0"/>
          </a:p>
        </p:txBody>
      </p:sp>
      <p:sp>
        <p:nvSpPr>
          <p:cNvPr id="11" name="Text 9"/>
          <p:cNvSpPr/>
          <p:nvPr/>
        </p:nvSpPr>
        <p:spPr>
          <a:xfrm>
            <a:off x="1073150" y="3931890"/>
            <a:ext cx="480072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B1F26"/>
                </a:solidFill>
                <a:latin typeface="Space Grotesk" pitchFamily="34" charset="0"/>
                <a:ea typeface="Space Grotesk" pitchFamily="34" charset="-122"/>
                <a:cs typeface="Space Grotesk" pitchFamily="34" charset="-120"/>
              </a:rPr>
              <a:t>Every answer carries a probability you can put a threshold on.</a:t>
            </a:r>
            <a:endParaRPr lang="en-US" sz="1500" dirty="0"/>
          </a:p>
        </p:txBody>
      </p:sp>
      <p:sp>
        <p:nvSpPr>
          <p:cNvPr id="12" name="Shape 10"/>
          <p:cNvSpPr/>
          <p:nvPr/>
        </p:nvSpPr>
        <p:spPr>
          <a:xfrm>
            <a:off x="6200775" y="3293715"/>
            <a:ext cx="5175250" cy="1409700"/>
          </a:xfrm>
          <a:prstGeom prst="roundRect">
            <a:avLst>
              <a:gd name="adj" fmla="val 6982"/>
            </a:avLst>
          </a:prstGeom>
          <a:solidFill>
            <a:srgbClr val="FBFAF6"/>
          </a:solidFill>
          <a:ln w="6350">
            <a:solidFill>
              <a:srgbClr val="D9D3C5"/>
            </a:solidFill>
            <a:prstDash val="solid"/>
          </a:ln>
        </p:spPr>
        <p:txBody>
          <a:bodyPr/>
          <a:p/>
        </p:txBody>
      </p:sp>
      <p:sp>
        <p:nvSpPr>
          <p:cNvPr id="13" name="Text 11"/>
          <p:cNvSpPr/>
          <p:nvPr/>
        </p:nvSpPr>
        <p:spPr>
          <a:xfrm>
            <a:off x="6457950" y="355089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D9E"/>
                </a:solidFill>
                <a:latin typeface="Space Grotesk" pitchFamily="34" charset="0"/>
                <a:ea typeface="Space Grotesk" pitchFamily="34" charset="-122"/>
                <a:cs typeface="Space Grotesk" pitchFamily="34" charset="-120"/>
              </a:rPr>
              <a:t>Auditable</a:t>
            </a:r>
            <a:endParaRPr lang="en-US" sz="2000" dirty="0"/>
          </a:p>
        </p:txBody>
      </p:sp>
      <p:sp>
        <p:nvSpPr>
          <p:cNvPr id="14" name="Text 12"/>
          <p:cNvSpPr/>
          <p:nvPr/>
        </p:nvSpPr>
        <p:spPr>
          <a:xfrm>
            <a:off x="6457950" y="3931890"/>
            <a:ext cx="480072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B1F26"/>
                </a:solidFill>
                <a:latin typeface="Space Grotesk" pitchFamily="34" charset="0"/>
                <a:ea typeface="Space Grotesk" pitchFamily="34" charset="-122"/>
                <a:cs typeface="Space Grotesk" pitchFamily="34" charset="-120"/>
              </a:rPr>
              <a:t>Question, probability, rule, outcome: a trace a risk team can actually read.</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Decide in code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E8793A"/>
        </a:solidFill>
      </p:bgPr>
    </p:bg>
    <p:spTree>
      <p:nvGrpSpPr>
        <p:cNvPr id="1" name=""/>
        <p:cNvGrpSpPr/>
        <p:nvPr/>
      </p:nvGrpSpPr>
      <p:grpSpPr>
        <a:xfrm>
          <a:off x="0" y="0"/>
          <a:ext cx="0" cy="0"/>
          <a:chOff x="0" y="0"/>
          <a:chExt cx="0" cy="0"/>
        </a:xfrm>
      </p:grpSpPr>
      <p:sp>
        <p:nvSpPr>
          <p:cNvPr id="2" name="Text 0"/>
          <p:cNvSpPr/>
          <p:nvPr/>
        </p:nvSpPr>
        <p:spPr>
          <a:xfrm>
            <a:off x="812800" y="177294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71C"/>
                </a:solidFill>
                <a:latin typeface="IBM Plex Mono" pitchFamily="34" charset="0"/>
                <a:ea typeface="IBM Plex Mono" pitchFamily="34" charset="-122"/>
                <a:cs typeface="IBM Plex Mono" pitchFamily="34" charset="-120"/>
              </a:rPr>
              <a:t>THE CATCH</a:t>
            </a:r>
            <a:endParaRPr lang="en-US" sz="1200" dirty="0"/>
          </a:p>
        </p:txBody>
      </p:sp>
      <p:sp>
        <p:nvSpPr>
          <p:cNvPr id="3" name="Text 1"/>
          <p:cNvSpPr/>
          <p:nvPr/>
        </p:nvSpPr>
        <p:spPr>
          <a:xfrm>
            <a:off x="812800" y="229106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4171C"/>
                </a:solidFill>
                <a:latin typeface="Space Grotesk" pitchFamily="34" charset="0"/>
                <a:ea typeface="Space Grotesk" pitchFamily="34" charset="-122"/>
                <a:cs typeface="Space Grotesk" pitchFamily="34" charset="-120"/>
              </a:rPr>
              <a:t>Valid isn't correct.</a:t>
            </a:r>
            <a:endParaRPr lang="en-US" sz="6000" dirty="0"/>
          </a:p>
        </p:txBody>
      </p:sp>
      <p:sp>
        <p:nvSpPr>
          <p:cNvPr id="4" name="Text 2"/>
          <p:cNvSpPr/>
          <p:nvPr/>
        </p:nvSpPr>
        <p:spPr>
          <a:xfrm>
            <a:off x="812800" y="335786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4171C"/>
                </a:solidFill>
                <a:latin typeface="Space Grotesk" pitchFamily="34" charset="0"/>
                <a:ea typeface="Space Grotesk" pitchFamily="34" charset="-122"/>
                <a:cs typeface="Space Grotesk" pitchFamily="34" charset="-120"/>
              </a:rPr>
              <a:t>A System One model can return a confidently wrong probability that passes schema validation perfectly.</a:t>
            </a:r>
            <a:endParaRPr lang="en-US" sz="2000" dirty="0"/>
          </a:p>
        </p:txBody>
      </p:sp>
      <p:sp>
        <p:nvSpPr>
          <p:cNvPr id="5" name="Text 3"/>
          <p:cNvSpPr/>
          <p:nvPr/>
        </p:nvSpPr>
        <p:spPr>
          <a:xfrm>
            <a:off x="812800" y="4348460"/>
            <a:ext cx="91567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1A10"/>
                </a:solidFill>
                <a:latin typeface="Space Grotesk" pitchFamily="34" charset="0"/>
                <a:ea typeface="Space Grotesk" pitchFamily="34" charset="-122"/>
                <a:cs typeface="Space Grotesk" pitchFamily="34" charset="-120"/>
              </a:rPr>
              <a:t>On test items built to be undecidable, every model measured, Jev included, still answered with average confidence between 0.5 and 0.97.</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0"/>
                </a:solidFill>
                <a:latin typeface="Space Grotesk" pitchFamily="34" charset="0"/>
                <a:ea typeface="Space Grotesk" pitchFamily="34" charset="-122"/>
                <a:cs typeface="Space Grotesk" pitchFamily="34" charset="-120"/>
              </a:rPr>
              <a:t>Source: decisioncircuits.com scoreboard · Decide in code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It's not in Bedrock. Now what?</a:t>
            </a:r>
            <a:endParaRPr lang="en-US" sz="3600" dirty="0"/>
          </a:p>
        </p:txBody>
      </p:sp>
      <p:sp>
        <p:nvSpPr>
          <p:cNvPr id="3" name="Text 1"/>
          <p:cNvSpPr/>
          <p:nvPr/>
        </p:nvSpPr>
        <p:spPr>
          <a:xfrm>
            <a:off x="812800" y="1620490"/>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270"/>
                </a:solidFill>
                <a:latin typeface="Space Grotesk" pitchFamily="34" charset="0"/>
                <a:ea typeface="Space Grotesk" pitchFamily="34" charset="-122"/>
                <a:cs typeface="Space Grotesk" pitchFamily="34" charset="-120"/>
              </a:rPr>
              <a:t>As of late September, Jev isn't in the Bedrock model catalog, and AWS hasn't announced a native integration. Three ways in:</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71390"/>
          <a:ext cx="10553700" cy="3159522"/>
        </p:xfrm>
        <a:graphic>
          <a:graphicData uri="http://schemas.openxmlformats.org/drawingml/2006/table">
            <a:tbl>
              <a:tblPr/>
              <a:tblGrid>
                <a:gridCol w="2638425"/>
                <a:gridCol w="2638425"/>
                <a:gridCol w="2638425"/>
                <a:gridCol w="2638425"/>
              </a:tblGrid>
              <a:tr h="540990">
                <a:tc>
                  <a:txBody>
                    <a:bodyPr/>
                    <a:lstStyle/>
                    <a:p>
                      <a:pPr indent="0" marL="0">
                        <a:lnSpc>
                          <a:spcPts val="1960"/>
                        </a:lnSpc>
                        <a:buNone/>
                      </a:pPr>
                      <a:r>
                        <a:rPr lang="en-US" sz="1400" b="1" dirty="0">
                          <a:solidFill>
                            <a:srgbClr val="F4F1EA"/>
                          </a:solidFill>
                          <a:latin typeface="Space Grotesk" pitchFamily="34" charset="0"/>
                          <a:ea typeface="Space Grotesk" pitchFamily="34" charset="-122"/>
                          <a:cs typeface="Space Grotesk" pitchFamily="34" charset="-120"/>
                        </a:rPr>
                        <a:t>Path</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1B1F26"/>
                    </a:solidFill>
                  </a:tcPr>
                </a:tc>
                <a:tc>
                  <a:txBody>
                    <a:bodyPr/>
                    <a:lstStyle/>
                    <a:p>
                      <a:pPr indent="0" marL="0">
                        <a:lnSpc>
                          <a:spcPts val="1960"/>
                        </a:lnSpc>
                        <a:buNone/>
                      </a:pPr>
                      <a:r>
                        <a:rPr lang="en-US" sz="1400" b="1" dirty="0">
                          <a:solidFill>
                            <a:srgbClr val="F4F1EA"/>
                          </a:solidFill>
                          <a:latin typeface="Space Grotesk" pitchFamily="34" charset="0"/>
                          <a:ea typeface="Space Grotesk" pitchFamily="34" charset="-122"/>
                          <a:cs typeface="Space Grotesk" pitchFamily="34" charset="-120"/>
                        </a:rPr>
                        <a:t>What you run</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1B1F26"/>
                    </a:solidFill>
                  </a:tcPr>
                </a:tc>
                <a:tc>
                  <a:txBody>
                    <a:bodyPr/>
                    <a:lstStyle/>
                    <a:p>
                      <a:pPr indent="0" marL="0">
                        <a:lnSpc>
                          <a:spcPts val="1960"/>
                        </a:lnSpc>
                        <a:buNone/>
                      </a:pPr>
                      <a:r>
                        <a:rPr lang="en-US" sz="1400" b="1" dirty="0">
                          <a:solidFill>
                            <a:srgbClr val="F4F1EA"/>
                          </a:solidFill>
                          <a:latin typeface="Space Grotesk" pitchFamily="34" charset="0"/>
                          <a:ea typeface="Space Grotesk" pitchFamily="34" charset="-122"/>
                          <a:cs typeface="Space Grotesk" pitchFamily="34" charset="-120"/>
                        </a:rPr>
                        <a:t>Data leaves your account?</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1B1F26"/>
                    </a:solidFill>
                  </a:tcPr>
                </a:tc>
                <a:tc>
                  <a:txBody>
                    <a:bodyPr/>
                    <a:lstStyle/>
                    <a:p>
                      <a:pPr indent="0" marL="0">
                        <a:lnSpc>
                          <a:spcPts val="1960"/>
                        </a:lnSpc>
                        <a:buNone/>
                      </a:pPr>
                      <a:r>
                        <a:rPr lang="en-US" sz="1400" b="1" dirty="0">
                          <a:solidFill>
                            <a:srgbClr val="F4F1EA"/>
                          </a:solidFill>
                          <a:latin typeface="Space Grotesk" pitchFamily="34" charset="0"/>
                          <a:ea typeface="Space Grotesk" pitchFamily="34" charset="-122"/>
                          <a:cs typeface="Space Grotesk" pitchFamily="34" charset="-120"/>
                        </a:rPr>
                        <a:t>Effort</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1B1F26"/>
                    </a:solidFill>
                  </a:tcPr>
                </a:tc>
              </a:tr>
              <a:tr h="789880">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1 · Vendor API</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Jev, through TypeSafe's API</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Yes</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Low</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789880">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2 · Drop-in clone</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circuit-8b, hosted, same /v1/systemone contract</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Yes</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Swap one URL</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1038771">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3 · Own the weights</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circuit-1.7b or 8b from Hugging Face on SageMaker or ECS</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No</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B1F26"/>
                          </a:solidFill>
                          <a:latin typeface="Space Grotesk" pitchFamily="34" charset="0"/>
                          <a:ea typeface="Space Grotesk" pitchFamily="34" charset="-122"/>
                          <a:cs typeface="Space Grotesk" pitchFamily="34" charset="-120"/>
                        </a:rPr>
                        <a:t>Highest</a:t>
                      </a:r>
                      <a:endParaRPr lang="en-US" sz="14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Decide in code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The open clones hold their own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2235200"/>
        </p:xfrm>
        <a:graphic>
          <a:graphicData uri="http://schemas.openxmlformats.org/drawingml/2006/table">
            <a:tbl>
              <a:tblPr/>
              <a:tblGrid>
                <a:gridCol w="2110740"/>
                <a:gridCol w="2110740"/>
                <a:gridCol w="2110740"/>
                <a:gridCol w="2110740"/>
                <a:gridCol w="2110740"/>
              </a:tblGrid>
              <a:tr h="558800">
                <a:tc>
                  <a:txBody>
                    <a:bodyPr/>
                    <a:lstStyle/>
                    <a:p>
                      <a:pPr indent="0" marL="0">
                        <a:lnSpc>
                          <a:spcPts val="2100"/>
                        </a:lnSpc>
                        <a:buNone/>
                      </a:pPr>
                      <a:r>
                        <a:rPr lang="en-US" sz="1500" b="1" dirty="0">
                          <a:solidFill>
                            <a:srgbClr val="F4F1EA"/>
                          </a:solidFill>
                          <a:latin typeface="Space Grotesk" pitchFamily="34" charset="0"/>
                          <a:ea typeface="Space Grotesk" pitchFamily="34" charset="-122"/>
                          <a:cs typeface="Space Grotesk" pitchFamily="34" charset="-120"/>
                        </a:rPr>
                        <a:t>Model</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1B1F26"/>
                    </a:solidFill>
                  </a:tcPr>
                </a:tc>
                <a:tc>
                  <a:txBody>
                    <a:bodyPr/>
                    <a:lstStyle/>
                    <a:p>
                      <a:pPr indent="0" marL="0">
                        <a:lnSpc>
                          <a:spcPts val="2100"/>
                        </a:lnSpc>
                        <a:buNone/>
                      </a:pPr>
                      <a:r>
                        <a:rPr lang="en-US" sz="1500" b="1" dirty="0">
                          <a:solidFill>
                            <a:srgbClr val="F4F1EA"/>
                          </a:solidFill>
                          <a:latin typeface="Space Grotesk" pitchFamily="34" charset="0"/>
                          <a:ea typeface="Space Grotesk" pitchFamily="34" charset="-122"/>
                          <a:cs typeface="Space Grotesk" pitchFamily="34" charset="-120"/>
                        </a:rPr>
                        <a:t>SMS spam</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1B1F26"/>
                    </a:solidFill>
                  </a:tcPr>
                </a:tc>
                <a:tc>
                  <a:txBody>
                    <a:bodyPr/>
                    <a:lstStyle/>
                    <a:p>
                      <a:pPr indent="0" marL="0">
                        <a:lnSpc>
                          <a:spcPts val="2100"/>
                        </a:lnSpc>
                        <a:buNone/>
                      </a:pPr>
                      <a:r>
                        <a:rPr lang="en-US" sz="1500" b="1" dirty="0">
                          <a:solidFill>
                            <a:srgbClr val="F4F1EA"/>
                          </a:solidFill>
                          <a:latin typeface="Space Grotesk" pitchFamily="34" charset="0"/>
                          <a:ea typeface="Space Grotesk" pitchFamily="34" charset="-122"/>
                          <a:cs typeface="Space Grotesk" pitchFamily="34" charset="-120"/>
                        </a:rPr>
                        <a:t>151 intents</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1B1F26"/>
                    </a:solidFill>
                  </a:tcPr>
                </a:tc>
                <a:tc>
                  <a:txBody>
                    <a:bodyPr/>
                    <a:lstStyle/>
                    <a:p>
                      <a:pPr indent="0" marL="0">
                        <a:lnSpc>
                          <a:spcPts val="2100"/>
                        </a:lnSpc>
                        <a:buNone/>
                      </a:pPr>
                      <a:r>
                        <a:rPr lang="en-US" sz="1500" b="1" dirty="0">
                          <a:solidFill>
                            <a:srgbClr val="F4F1EA"/>
                          </a:solidFill>
                          <a:latin typeface="Space Grotesk" pitchFamily="34" charset="0"/>
                          <a:ea typeface="Space Grotesk" pitchFamily="34" charset="-122"/>
                          <a:cs typeface="Space Grotesk" pitchFamily="34" charset="-120"/>
                        </a:rPr>
                        <a:t>Utility calls</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1B1F26"/>
                    </a:solidFill>
                  </a:tcPr>
                </a:tc>
                <a:tc>
                  <a:txBody>
                    <a:bodyPr/>
                    <a:lstStyle/>
                    <a:p>
                      <a:pPr indent="0" marL="0">
                        <a:lnSpc>
                          <a:spcPts val="2100"/>
                        </a:lnSpc>
                        <a:buNone/>
                      </a:pPr>
                      <a:r>
                        <a:rPr lang="en-US" sz="1500" b="1" dirty="0">
                          <a:solidFill>
                            <a:srgbClr val="F4F1EA"/>
                          </a:solidFill>
                          <a:latin typeface="Space Grotesk" pitchFamily="34" charset="0"/>
                          <a:ea typeface="Space Grotesk" pitchFamily="34" charset="-122"/>
                          <a:cs typeface="Space Grotesk" pitchFamily="34" charset="-120"/>
                        </a:rPr>
                        <a:t>Latency</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1B1F26"/>
                    </a:solidFill>
                  </a:tcPr>
                </a:tc>
              </a:tr>
              <a:tr h="558800">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Jev (TypeSafe)</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96%</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90%</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98%</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164 ms, API</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58800">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circuit-8b</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98%</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95%</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93%</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178 ms, one A6000</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58800">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circuit-1.7b</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98%</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86%</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92%</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B1F26"/>
                          </a:solidFill>
                          <a:latin typeface="Space Grotesk" pitchFamily="34" charset="0"/>
                          <a:ea typeface="Space Grotesk" pitchFamily="34" charset="-122"/>
                          <a:cs typeface="Space Grotesk" pitchFamily="34" charset="-120"/>
                        </a:rPr>
                        <a:t>175 ms, a laptop</a:t>
                      </a:r>
                      <a:endParaRPr lang="en-US" sz="1500" dirty="0">
                        <a:latin typeface="Space Grotesk" charset="0"/>
                        <a:ea typeface="Space Grotesk" charset="0"/>
                        <a:cs typeface="Space Grotesk" charset="0"/>
                      </a:endParaRPr>
                    </a:p>
                  </a:txBody>
                  <a:tcPr marL="152400" marR="152400" marT="139700" marB="1397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4" name="Text 1"/>
          <p:cNvSpPr/>
          <p:nvPr/>
        </p:nvSpPr>
        <p:spPr>
          <a:xfrm>
            <a:off x="812800" y="4173190"/>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270"/>
                </a:solidFill>
                <a:latin typeface="Space Grotesk" pitchFamily="34" charset="0"/>
                <a:ea typeface="Space Grotesk" pitchFamily="34" charset="-122"/>
                <a:cs typeface="Space Grotesk" pitchFamily="34" charset="-120"/>
              </a:rPr>
              <a:t>circuit-1.7b was trained in 61 minutes on a single RTX 4090, and the weights are public on Hugging Face.</a:t>
            </a:r>
            <a:endParaRPr lang="en-US" sz="1500" dirty="0"/>
          </a:p>
        </p:txBody>
      </p:sp>
      <p:sp>
        <p:nvSpPr>
          <p:cNvPr id="5" name="Text 2"/>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Author-reported accuracy, decisioncircuits.com. The circuit models trained on the spam and intent datasets; the utility calls are out of distribution.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Decision circuits: the model answers, code decides</a:t>
            </a:r>
            <a:endParaRPr lang="en-US" sz="3600" dirty="0"/>
          </a:p>
        </p:txBody>
      </p:sp>
      <p:sp>
        <p:nvSpPr>
          <p:cNvPr id="3" name="Text 1"/>
          <p:cNvSpPr/>
          <p:nvPr/>
        </p:nvSpPr>
        <p:spPr>
          <a:xfrm>
            <a:off x="812800" y="2174180"/>
            <a:ext cx="5969000" cy="2821732"/>
          </a:xfrm>
          <a:prstGeom prst="roundRect">
            <a:avLst>
              <a:gd name="adj" fmla="val 3601"/>
            </a:avLst>
          </a:prstGeom>
          <a:solidFill>
            <a:srgbClr val="1B1F26"/>
          </a:solidFill>
          <a:ln/>
        </p:spPr>
        <p:txBody>
          <a:bodyPr wrap="square" lIns="224242" tIns="224242" rIns="60412" bIns="224242" rtlCol="0" anchor="t">
            <a:normAutofit/>
          </a:bodyPr>
          <a:lstStyle/>
          <a:p>
            <a:pPr algn="l" indent="0" marL="0">
              <a:lnSpc>
                <a:spcPts val="2015"/>
              </a:lnSpc>
              <a:buNone/>
            </a:pPr>
            <a:r>
              <a:rPr lang="en-US" sz="1300" dirty="0">
                <a:solidFill>
                  <a:srgbClr val="E9E6DE"/>
                </a:solidFill>
                <a:latin typeface="IBM Plex Mono" pitchFamily="34" charset="0"/>
                <a:ea typeface="IBM Plex Mono" pitchFamily="34" charset="-122"/>
                <a:cs typeface="IBM Plex Mono" pitchFamily="34" charset="-120"/>
              </a:rPr>
              <a:t>c = Circuit()</a:t>
            </a:r>
            <a:endParaRPr lang="en-US" sz="1300" dirty="0"/>
          </a:p>
          <a:p>
            <a:pPr algn="l" indent="0" marL="0">
              <a:lnSpc>
                <a:spcPts val="2015"/>
              </a:lnSpc>
              <a:buNone/>
            </a:pPr>
            <a:r>
              <a:rPr lang="en-US" sz="1300" dirty="0">
                <a:solidFill>
                  <a:srgbClr val="E9E6DE"/>
                </a:solidFill>
                <a:latin typeface="IBM Plex Mono" pitchFamily="34" charset="0"/>
                <a:ea typeface="IBM Plex Mono" pitchFamily="34" charset="-122"/>
                <a:cs typeface="IBM Plex Mono" pitchFamily="34" charset="-120"/>
              </a:rPr>
              <a:t>c.noul("pii", "Contains personal info?")</a:t>
            </a:r>
            <a:endParaRPr lang="en-US" sz="1300" dirty="0"/>
          </a:p>
          <a:p>
            <a:pPr algn="l" indent="0" marL="0">
              <a:lnSpc>
                <a:spcPts val="2015"/>
              </a:lnSpc>
              <a:buNone/>
            </a:pPr>
            <a:r>
              <a:rPr lang="en-US" sz="1300" dirty="0">
                <a:solidFill>
                  <a:srgbClr val="E9E6DE"/>
                </a:solidFill>
                <a:latin typeface="IBM Plex Mono" pitchFamily="34" charset="0"/>
                <a:ea typeface="IBM Plex Mono" pitchFamily="34" charset="-122"/>
                <a:cs typeface="IBM Plex Mono" pitchFamily="34" charset="-120"/>
              </a:rPr>
              <a:t>c.gate("redact", Q("pii") &gt;= 0.6,</a:t>
            </a:r>
            <a:endParaRPr lang="en-US" sz="1300" dirty="0"/>
          </a:p>
          <a:p>
            <a:pPr algn="l" indent="0" marL="0">
              <a:lnSpc>
                <a:spcPts val="2015"/>
              </a:lnSpc>
              <a:buNone/>
            </a:pPr>
            <a:r>
              <a:rPr lang="en-US" sz="1300" dirty="0">
                <a:solidFill>
                  <a:srgbClr val="E9E6DE"/>
                </a:solidFill>
                <a:latin typeface="IBM Plex Mono" pitchFamily="34" charset="0"/>
                <a:ea typeface="IBM Plex Mono" pitchFamily="34" charset="-122"/>
                <a:cs typeface="IBM Plex Mono" pitchFamily="34" charset="-120"/>
              </a:rPr>
              <a:t>       band=0.1, on_uncertain="escalate")</a:t>
            </a:r>
            <a:endParaRPr lang="en-US" sz="1300" dirty="0"/>
          </a:p>
          <a:p>
            <a:pPr algn="l" indent="0" marL="0">
              <a:lnSpc>
                <a:spcPts val="2015"/>
              </a:lnSpc>
              <a:buNone/>
            </a:pPr>
            <a:endParaRPr lang="en-US" sz="1300" dirty="0"/>
          </a:p>
          <a:p>
            <a:pPr algn="l" indent="0" marL="0">
              <a:lnSpc>
                <a:spcPts val="2015"/>
              </a:lnSpc>
              <a:buNone/>
            </a:pPr>
            <a:r>
              <a:rPr lang="en-US" sz="1300" dirty="0">
                <a:solidFill>
                  <a:srgbClr val="E9E6DE"/>
                </a:solidFill>
                <a:latin typeface="IBM Plex Mono" pitchFamily="34" charset="0"/>
                <a:ea typeface="IBM Plex Mono" pitchFamily="34" charset="-122"/>
                <a:cs typeface="IBM Plex Mono" pitchFamily="34" charset="-120"/>
              </a:rPr>
              <a:t>out = c.run(api, msg, model="circuit-8b")</a:t>
            </a:r>
            <a:endParaRPr lang="en-US" sz="1300" dirty="0"/>
          </a:p>
          <a:p>
            <a:pPr algn="l" indent="0" marL="0">
              <a:lnSpc>
                <a:spcPts val="2015"/>
              </a:lnSpc>
              <a:buNone/>
            </a:pPr>
            <a:r>
              <a:rPr lang="en-US" sz="1300" dirty="0">
                <a:solidFill>
                  <a:srgbClr val="F0873F"/>
                </a:solidFill>
                <a:latin typeface="IBM Plex Mono" pitchFamily="34" charset="0"/>
                <a:ea typeface="IBM Plex Mono" pitchFamily="34" charset="-122"/>
                <a:cs typeface="IBM Plex Mono" pitchFamily="34" charset="-120"/>
              </a:rPr>
              <a:t># {'value': True, 'p': 0.81,</a:t>
            </a:r>
            <a:endParaRPr lang="en-US" sz="1300" dirty="0"/>
          </a:p>
          <a:p>
            <a:pPr algn="l" indent="0" marL="0">
              <a:lnSpc>
                <a:spcPts val="2015"/>
              </a:lnSpc>
              <a:buNone/>
            </a:pPr>
            <a:r>
              <a:rPr lang="en-US" sz="1300" dirty="0">
                <a:solidFill>
                  <a:srgbClr val="F0873F"/>
                </a:solidFill>
                <a:latin typeface="IBM Plex Mono" pitchFamily="34" charset="0"/>
                <a:ea typeface="IBM Plex Mono" pitchFamily="34" charset="-122"/>
                <a:cs typeface="IBM Plex Mono" pitchFamily="34" charset="-120"/>
              </a:rPr>
              <a:t>#  'outcome': 'decided'}</a:t>
            </a:r>
            <a:endParaRPr lang="en-US" sz="1300" dirty="0"/>
          </a:p>
        </p:txBody>
      </p:sp>
      <p:sp>
        <p:nvSpPr>
          <p:cNvPr id="4" name="Text 2"/>
          <p:cNvSpPr/>
          <p:nvPr/>
        </p:nvSpPr>
        <p:spPr>
          <a:xfrm>
            <a:off x="7035800" y="2174180"/>
            <a:ext cx="447370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9E"/>
                </a:solidFill>
                <a:latin typeface="Space Grotesk" pitchFamily="34" charset="0"/>
                <a:ea typeface="Space Grotesk" pitchFamily="34" charset="-122"/>
                <a:cs typeface="Space Grotesk" pitchFamily="34" charset="-120"/>
              </a:rPr>
              <a:t>Questions</a:t>
            </a:r>
            <a:endParaRPr lang="en-US" sz="1800" dirty="0"/>
          </a:p>
        </p:txBody>
      </p:sp>
      <p:sp>
        <p:nvSpPr>
          <p:cNvPr id="5" name="Text 3"/>
          <p:cNvSpPr/>
          <p:nvPr/>
        </p:nvSpPr>
        <p:spPr>
          <a:xfrm>
            <a:off x="7035800" y="2499271"/>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1F26"/>
                </a:solidFill>
                <a:latin typeface="Space Grotesk" pitchFamily="34" charset="0"/>
                <a:ea typeface="Space Grotesk" pitchFamily="34" charset="-122"/>
                <a:cs typeface="Space Grotesk" pitchFamily="34" charset="-120"/>
              </a:rPr>
              <a:t>The model answers them with probabilities. It never sees the rules.</a:t>
            </a:r>
            <a:endParaRPr lang="en-US" sz="1400" dirty="0"/>
          </a:p>
        </p:txBody>
      </p:sp>
      <p:sp>
        <p:nvSpPr>
          <p:cNvPr id="6" name="Text 4"/>
          <p:cNvSpPr/>
          <p:nvPr/>
        </p:nvSpPr>
        <p:spPr>
          <a:xfrm>
            <a:off x="7035800" y="3182491"/>
            <a:ext cx="447370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9E"/>
                </a:solidFill>
                <a:latin typeface="Space Grotesk" pitchFamily="34" charset="0"/>
                <a:ea typeface="Space Grotesk" pitchFamily="34" charset="-122"/>
                <a:cs typeface="Space Grotesk" pitchFamily="34" charset="-120"/>
              </a:rPr>
              <a:t>Gates</a:t>
            </a:r>
            <a:endParaRPr lang="en-US" sz="1800" dirty="0"/>
          </a:p>
        </p:txBody>
      </p:sp>
      <p:sp>
        <p:nvSpPr>
          <p:cNvPr id="7" name="Text 5"/>
          <p:cNvSpPr/>
          <p:nvPr/>
        </p:nvSpPr>
        <p:spPr>
          <a:xfrm>
            <a:off x="7035800" y="3507581"/>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1F26"/>
                </a:solidFill>
                <a:latin typeface="Space Grotesk" pitchFamily="34" charset="0"/>
                <a:ea typeface="Space Grotesk" pitchFamily="34" charset="-122"/>
                <a:cs typeface="Space Grotesk" pitchFamily="34" charset="-120"/>
              </a:rPr>
              <a:t>Thresholds, AND / OR / NOT, votes and checks, written in code.</a:t>
            </a:r>
            <a:endParaRPr lang="en-US" sz="1400" dirty="0"/>
          </a:p>
        </p:txBody>
      </p:sp>
      <p:sp>
        <p:nvSpPr>
          <p:cNvPr id="8" name="Text 6"/>
          <p:cNvSpPr/>
          <p:nvPr/>
        </p:nvSpPr>
        <p:spPr>
          <a:xfrm>
            <a:off x="7035800" y="4190802"/>
            <a:ext cx="447370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D9E"/>
                </a:solidFill>
                <a:latin typeface="Space Grotesk" pitchFamily="34" charset="0"/>
                <a:ea typeface="Space Grotesk" pitchFamily="34" charset="-122"/>
                <a:cs typeface="Space Grotesk" pitchFamily="34" charset="-120"/>
              </a:rPr>
              <a:t>Traces</a:t>
            </a:r>
            <a:endParaRPr lang="en-US" sz="1800" dirty="0"/>
          </a:p>
        </p:txBody>
      </p:sp>
      <p:sp>
        <p:nvSpPr>
          <p:cNvPr id="9" name="Text 7"/>
          <p:cNvSpPr/>
          <p:nvPr/>
        </p:nvSpPr>
        <p:spPr>
          <a:xfrm>
            <a:off x="7035800" y="4515892"/>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1F26"/>
                </a:solidFill>
                <a:latin typeface="Space Grotesk" pitchFamily="34" charset="0"/>
                <a:ea typeface="Space Grotesk" pitchFamily="34" charset="-122"/>
                <a:cs typeface="Space Grotesk" pitchFamily="34" charset="-120"/>
              </a:rPr>
              <a:t>Every decision keeps its probability, outcome and path.</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pip install decision-circuits · works with Jev or any model on the same API · Decide in code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The band is where people come back in</a:t>
            </a:r>
            <a:endParaRPr lang="en-US" sz="3600" dirty="0"/>
          </a:p>
        </p:txBody>
      </p:sp>
      <p:pic>
        <p:nvPicPr>
          <p:cNvPr id="3" name="Image 0" descr="A probability line from 0 to 1 with a threshold at 0.6 and an escalation band from 0.5 to 0.7. A probability of 0.81 is decided and redacted; 0.65 falls in the band and goes to a human.">    </p:cNvPr>
          <p:cNvPicPr>
            <a:picLocks noChangeAspect="1"/>
          </p:cNvPicPr>
          <p:nvPr/>
        </p:nvPicPr>
        <p:blipFill>
          <a:blip r:embed="rId1"/>
          <a:srcRect l="0" r="0" t="-55" b="-55"/>
          <a:stretch/>
        </p:blipFill>
        <p:spPr>
          <a:xfrm>
            <a:off x="812800" y="1671290"/>
            <a:ext cx="10566400" cy="2159000"/>
          </a:xfrm>
          <a:prstGeom prst="rect">
            <a:avLst/>
          </a:prstGeom>
        </p:spPr>
      </p:pic>
      <p:sp>
        <p:nvSpPr>
          <p:cNvPr id="4" name="Text 1"/>
          <p:cNvSpPr/>
          <p:nvPr/>
        </p:nvSpPr>
        <p:spPr>
          <a:xfrm>
            <a:off x="812800" y="4185890"/>
            <a:ext cx="91567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B1F26"/>
                </a:solidFill>
                <a:latin typeface="Space Grotesk" pitchFamily="34" charset="0"/>
                <a:ea typeface="Space Grotesk" pitchFamily="34" charset="-122"/>
                <a:cs typeface="Space Grotesk" pitchFamily="34" charset="-120"/>
              </a:rPr>
              <a:t>Near the line, the circuit says so instead of guessing. That's your human-in-the-loop, priced in a number the model actually reports.</a:t>
            </a:r>
            <a:endParaRPr lang="en-US" sz="18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Threshold 0.6, band ±0.1 · Decide in code · 17</a:t>
            </a:r>
            <a:endParaRPr lang="en-US"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3816" y="566928"/>
            <a:ext cx="10515600" cy="274320"/>
          </a:xfrm>
          <a:prstGeom prst="rect">
            <a:avLst/>
          </a:prstGeom>
          <a:noFill/>
        </p:spPr>
        <p:txBody>
          <a:bodyPr wrap="square" anchor="t" lIns="0" rIns="0" tIns="0" bIns="0">
            <a:spAutoFit/>
          </a:bodyPr>
          <a:lstStyle/>
          <a:p>
            <a:r>
              <a:rPr sz="1200" b="1">
                <a:solidFill>
                  <a:srgbClr val="B4521A"/>
                </a:solidFill>
                <a:latin typeface="Space Grotesk"/>
              </a:rPr>
              <a:t>CREDIT WHERE IT'S DUE</a:t>
            </a:r>
          </a:p>
        </p:txBody>
      </p:sp>
      <p:sp>
        <p:nvSpPr>
          <p:cNvPr id="3" name="TextBox 2"/>
          <p:cNvSpPr txBox="1"/>
          <p:nvPr/>
        </p:nvSpPr>
        <p:spPr>
          <a:xfrm>
            <a:off x="813816" y="868680"/>
            <a:ext cx="10515600" cy="731520"/>
          </a:xfrm>
          <a:prstGeom prst="rect">
            <a:avLst/>
          </a:prstGeom>
          <a:noFill/>
        </p:spPr>
        <p:txBody>
          <a:bodyPr wrap="square" anchor="t" lIns="0" rIns="0" tIns="0" bIns="0">
            <a:spAutoFit/>
          </a:bodyPr>
          <a:lstStyle/>
          <a:p>
            <a:r>
              <a:rPr sz="4000" b="1">
                <a:solidFill>
                  <a:srgbClr val="1B1F26"/>
                </a:solidFill>
                <a:latin typeface="Space Grotesk"/>
              </a:rPr>
              <a:t>Thank you, James Barney</a:t>
            </a:r>
          </a:p>
        </p:txBody>
      </p:sp>
      <p:sp>
        <p:nvSpPr>
          <p:cNvPr id="4" name="TextBox 3"/>
          <p:cNvSpPr txBox="1"/>
          <p:nvPr/>
        </p:nvSpPr>
        <p:spPr>
          <a:xfrm>
            <a:off x="813816" y="1645920"/>
            <a:ext cx="10515600" cy="457200"/>
          </a:xfrm>
          <a:prstGeom prst="rect">
            <a:avLst/>
          </a:prstGeom>
          <a:noFill/>
        </p:spPr>
        <p:txBody>
          <a:bodyPr wrap="square" anchor="t" lIns="0" rIns="0" tIns="0" bIns="0">
            <a:spAutoFit/>
          </a:bodyPr>
          <a:lstStyle/>
          <a:p>
            <a:r>
              <a:rPr sz="1700" b="0">
                <a:solidFill>
                  <a:srgbClr val="5B6270"/>
                </a:solidFill>
                <a:latin typeface="Space Grotesk"/>
              </a:rPr>
              <a:t>He built everything tonight's demo stands on, in the open, and let us use his API to run it.</a:t>
            </a:r>
          </a:p>
        </p:txBody>
      </p:sp>
      <p:sp>
        <p:nvSpPr>
          <p:cNvPr id="5" name="Rounded Rectangle 4"/>
          <p:cNvSpPr/>
          <p:nvPr/>
        </p:nvSpPr>
        <p:spPr>
          <a:xfrm>
            <a:off x="813816" y="2377440"/>
            <a:ext cx="3310128" cy="2697480"/>
          </a:xfrm>
          <a:prstGeom prst="roundRect">
            <a:avLst>
              <a:gd name="adj" fmla="val 6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 y="2651760"/>
            <a:ext cx="2761488" cy="274320"/>
          </a:xfrm>
          <a:prstGeom prst="rect">
            <a:avLst/>
          </a:prstGeom>
          <a:noFill/>
        </p:spPr>
        <p:txBody>
          <a:bodyPr wrap="square" anchor="t" lIns="0" rIns="0" tIns="0" bIns="0">
            <a:spAutoFit/>
          </a:bodyPr>
          <a:lstStyle/>
          <a:p>
            <a:r>
              <a:rPr sz="1400" b="1">
                <a:solidFill>
                  <a:srgbClr val="B4521A"/>
                </a:solidFill>
                <a:latin typeface="IBM Plex Mono"/>
              </a:rPr>
              <a:t>01</a:t>
            </a:r>
          </a:p>
        </p:txBody>
      </p:sp>
      <p:sp>
        <p:nvSpPr>
          <p:cNvPr id="7" name="TextBox 6"/>
          <p:cNvSpPr txBox="1"/>
          <p:nvPr/>
        </p:nvSpPr>
        <p:spPr>
          <a:xfrm>
            <a:off x="1088136" y="3017520"/>
            <a:ext cx="2761488" cy="1463040"/>
          </a:xfrm>
          <a:prstGeom prst="rect">
            <a:avLst/>
          </a:prstGeom>
          <a:noFill/>
        </p:spPr>
        <p:txBody>
          <a:bodyPr wrap="square" anchor="t" lIns="0" rIns="0" tIns="0" bIns="0">
            <a:spAutoFit/>
          </a:bodyPr>
          <a:lstStyle/>
          <a:p>
            <a:r>
              <a:rPr sz="2000" b="1">
                <a:solidFill>
                  <a:srgbClr val="1B1F26"/>
                </a:solidFill>
                <a:latin typeface="Space Grotesk"/>
              </a:rPr>
              <a:t>The circuit models</a:t>
            </a:r>
          </a:p>
          <a:p>
            <a:pPr>
              <a:spcBef>
                <a:spcPts val="400"/>
              </a:spcBef>
            </a:pPr>
            <a:r>
              <a:rPr sz="1400" b="0">
                <a:solidFill>
                  <a:srgbClr val="5B6270"/>
                </a:solidFill>
                <a:latin typeface="Space Grotesk"/>
              </a:rPr>
              <a:t>Open-weights System One models, circuit-1.7b and circuit-8b, plus the code that trains them.</a:t>
            </a:r>
          </a:p>
        </p:txBody>
      </p:sp>
      <p:sp>
        <p:nvSpPr>
          <p:cNvPr id="8" name="TextBox 7"/>
          <p:cNvSpPr txBox="1"/>
          <p:nvPr/>
        </p:nvSpPr>
        <p:spPr>
          <a:xfrm>
            <a:off x="1088136" y="4617720"/>
            <a:ext cx="2761488" cy="274320"/>
          </a:xfrm>
          <a:prstGeom prst="rect">
            <a:avLst/>
          </a:prstGeom>
          <a:noFill/>
        </p:spPr>
        <p:txBody>
          <a:bodyPr wrap="square" anchor="t" lIns="0" rIns="0" tIns="0" bIns="0">
            <a:spAutoFit/>
          </a:bodyPr>
          <a:lstStyle/>
          <a:p>
            <a:r>
              <a:rPr sz="1200" b="0">
                <a:solidFill>
                  <a:srgbClr val="B4521A"/>
                </a:solidFill>
                <a:latin typeface="IBM Plex Mono"/>
              </a:rPr>
              <a:t>huggingface.co/jbarney</a:t>
            </a:r>
          </a:p>
        </p:txBody>
      </p:sp>
      <p:sp>
        <p:nvSpPr>
          <p:cNvPr id="9" name="Rounded Rectangle 8"/>
          <p:cNvSpPr/>
          <p:nvPr/>
        </p:nvSpPr>
        <p:spPr>
          <a:xfrm>
            <a:off x="4398264" y="2377440"/>
            <a:ext cx="3310128" cy="2697480"/>
          </a:xfrm>
          <a:prstGeom prst="roundRect">
            <a:avLst>
              <a:gd name="adj" fmla="val 6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72583" y="2651760"/>
            <a:ext cx="2761488" cy="274320"/>
          </a:xfrm>
          <a:prstGeom prst="rect">
            <a:avLst/>
          </a:prstGeom>
          <a:noFill/>
        </p:spPr>
        <p:txBody>
          <a:bodyPr wrap="square" anchor="t" lIns="0" rIns="0" tIns="0" bIns="0">
            <a:spAutoFit/>
          </a:bodyPr>
          <a:lstStyle/>
          <a:p>
            <a:r>
              <a:rPr sz="1400" b="1">
                <a:solidFill>
                  <a:srgbClr val="B4521A"/>
                </a:solidFill>
                <a:latin typeface="IBM Plex Mono"/>
              </a:rPr>
              <a:t>02</a:t>
            </a:r>
          </a:p>
        </p:txBody>
      </p:sp>
      <p:sp>
        <p:nvSpPr>
          <p:cNvPr id="11" name="TextBox 10"/>
          <p:cNvSpPr txBox="1"/>
          <p:nvPr/>
        </p:nvSpPr>
        <p:spPr>
          <a:xfrm>
            <a:off x="4672583" y="3017520"/>
            <a:ext cx="2761488" cy="1463040"/>
          </a:xfrm>
          <a:prstGeom prst="rect">
            <a:avLst/>
          </a:prstGeom>
          <a:noFill/>
        </p:spPr>
        <p:txBody>
          <a:bodyPr wrap="square" anchor="t" lIns="0" rIns="0" tIns="0" bIns="0">
            <a:spAutoFit/>
          </a:bodyPr>
          <a:lstStyle/>
          <a:p>
            <a:r>
              <a:rPr sz="2000" b="1">
                <a:solidFill>
                  <a:srgbClr val="1B1F26"/>
                </a:solidFill>
                <a:latin typeface="Space Grotesk"/>
              </a:rPr>
              <a:t>decision-circuits</a:t>
            </a:r>
          </a:p>
          <a:p>
            <a:pPr>
              <a:spcBef>
                <a:spcPts val="400"/>
              </a:spcBef>
            </a:pPr>
            <a:r>
              <a:rPr sz="1400" b="0">
                <a:solidFill>
                  <a:srgbClr val="5B6270"/>
                </a:solidFill>
                <a:latin typeface="Space Grotesk"/>
              </a:rPr>
              <a:t>The open-source Python library behind every question, gate and band in tonight's demo.</a:t>
            </a:r>
          </a:p>
        </p:txBody>
      </p:sp>
      <p:sp>
        <p:nvSpPr>
          <p:cNvPr id="12" name="TextBox 11"/>
          <p:cNvSpPr txBox="1"/>
          <p:nvPr/>
        </p:nvSpPr>
        <p:spPr>
          <a:xfrm>
            <a:off x="4672583" y="4617720"/>
            <a:ext cx="2761488" cy="274320"/>
          </a:xfrm>
          <a:prstGeom prst="rect">
            <a:avLst/>
          </a:prstGeom>
          <a:noFill/>
        </p:spPr>
        <p:txBody>
          <a:bodyPr wrap="square" anchor="t" lIns="0" rIns="0" tIns="0" bIns="0">
            <a:spAutoFit/>
          </a:bodyPr>
          <a:lstStyle/>
          <a:p>
            <a:r>
              <a:rPr sz="1200" b="0">
                <a:solidFill>
                  <a:srgbClr val="B4521A"/>
                </a:solidFill>
                <a:latin typeface="IBM Plex Mono"/>
              </a:rPr>
              <a:t>pip install decision-circuits</a:t>
            </a:r>
          </a:p>
        </p:txBody>
      </p:sp>
      <p:sp>
        <p:nvSpPr>
          <p:cNvPr id="13" name="Rounded Rectangle 12"/>
          <p:cNvSpPr/>
          <p:nvPr/>
        </p:nvSpPr>
        <p:spPr>
          <a:xfrm>
            <a:off x="7982712" y="2377440"/>
            <a:ext cx="3310128" cy="2697480"/>
          </a:xfrm>
          <a:prstGeom prst="roundRect">
            <a:avLst>
              <a:gd name="adj" fmla="val 6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2651760"/>
            <a:ext cx="2761488" cy="274320"/>
          </a:xfrm>
          <a:prstGeom prst="rect">
            <a:avLst/>
          </a:prstGeom>
          <a:noFill/>
        </p:spPr>
        <p:txBody>
          <a:bodyPr wrap="square" anchor="t" lIns="0" rIns="0" tIns="0" bIns="0">
            <a:spAutoFit/>
          </a:bodyPr>
          <a:lstStyle/>
          <a:p>
            <a:r>
              <a:rPr sz="1400" b="1">
                <a:solidFill>
                  <a:srgbClr val="B4521A"/>
                </a:solidFill>
                <a:latin typeface="IBM Plex Mono"/>
              </a:rPr>
              <a:t>03</a:t>
            </a:r>
          </a:p>
        </p:txBody>
      </p:sp>
      <p:sp>
        <p:nvSpPr>
          <p:cNvPr id="15" name="TextBox 14"/>
          <p:cNvSpPr txBox="1"/>
          <p:nvPr/>
        </p:nvSpPr>
        <p:spPr>
          <a:xfrm>
            <a:off x="8257032" y="3017520"/>
            <a:ext cx="2761488" cy="1463040"/>
          </a:xfrm>
          <a:prstGeom prst="rect">
            <a:avLst/>
          </a:prstGeom>
          <a:noFill/>
        </p:spPr>
        <p:txBody>
          <a:bodyPr wrap="square" anchor="t" lIns="0" rIns="0" tIns="0" bIns="0">
            <a:spAutoFit/>
          </a:bodyPr>
          <a:lstStyle/>
          <a:p>
            <a:r>
              <a:rPr sz="2000" b="1">
                <a:solidFill>
                  <a:srgbClr val="1B1F26"/>
                </a:solidFill>
                <a:latin typeface="Space Grotesk"/>
              </a:rPr>
              <a:t>The hosted API</a:t>
            </a:r>
          </a:p>
          <a:p>
            <a:pPr>
              <a:spcBef>
                <a:spcPts val="400"/>
              </a:spcBef>
            </a:pPr>
            <a:r>
              <a:rPr sz="1400" b="0">
                <a:solidFill>
                  <a:srgbClr val="5B6270"/>
                </a:solidFill>
                <a:latin typeface="Space Grotesk"/>
              </a:rPr>
              <a:t>circuit-8b at decisioncircuits.com: the model answering every message in tonight's demo.</a:t>
            </a:r>
          </a:p>
        </p:txBody>
      </p:sp>
      <p:sp>
        <p:nvSpPr>
          <p:cNvPr id="16" name="TextBox 15"/>
          <p:cNvSpPr txBox="1"/>
          <p:nvPr/>
        </p:nvSpPr>
        <p:spPr>
          <a:xfrm>
            <a:off x="8257032" y="4617720"/>
            <a:ext cx="2761488" cy="274320"/>
          </a:xfrm>
          <a:prstGeom prst="rect">
            <a:avLst/>
          </a:prstGeom>
          <a:noFill/>
        </p:spPr>
        <p:txBody>
          <a:bodyPr wrap="square" anchor="t" lIns="0" rIns="0" tIns="0" bIns="0">
            <a:spAutoFit/>
          </a:bodyPr>
          <a:lstStyle/>
          <a:p>
            <a:r>
              <a:rPr sz="1200" b="0">
                <a:solidFill>
                  <a:srgbClr val="B4521A"/>
                </a:solidFill>
                <a:latin typeface="IBM Plex Mono"/>
              </a:rPr>
              <a:t>decisioncircuits.com</a:t>
            </a:r>
          </a:p>
        </p:txBody>
      </p:sp>
      <p:sp>
        <p:nvSpPr>
          <p:cNvPr id="17" name="TextBox 16"/>
          <p:cNvSpPr txBox="1"/>
          <p:nvPr/>
        </p:nvSpPr>
        <p:spPr>
          <a:xfrm>
            <a:off x="813816" y="5394960"/>
            <a:ext cx="10515600" cy="457200"/>
          </a:xfrm>
          <a:prstGeom prst="rect">
            <a:avLst/>
          </a:prstGeom>
          <a:noFill/>
        </p:spPr>
        <p:txBody>
          <a:bodyPr wrap="square" anchor="t" lIns="0" rIns="0" tIns="0" bIns="0">
            <a:spAutoFit/>
          </a:bodyPr>
          <a:lstStyle/>
          <a:p>
            <a:r>
              <a:rPr sz="1700" b="1">
                <a:solidFill>
                  <a:srgbClr val="1B1F26"/>
                </a:solidFill>
                <a:latin typeface="Space Grotesk"/>
              </a:rPr>
              <a:t>Go star the repos, try a free key, and tell him Richmond says thanks.</a:t>
            </a:r>
          </a:p>
        </p:txBody>
      </p:sp>
      <p:sp>
        <p:nvSpPr>
          <p:cNvPr id="18" name="TextBox 17"/>
          <p:cNvSpPr txBox="1"/>
          <p:nvPr/>
        </p:nvSpPr>
        <p:spPr>
          <a:xfrm>
            <a:off x="813816" y="6236208"/>
            <a:ext cx="10881360" cy="237744"/>
          </a:xfrm>
          <a:prstGeom prst="rect">
            <a:avLst/>
          </a:prstGeom>
          <a:noFill/>
        </p:spPr>
        <p:txBody>
          <a:bodyPr wrap="square" anchor="t" lIns="0" rIns="0" tIns="0" bIns="0">
            <a:spAutoFit/>
          </a:bodyPr>
          <a:lstStyle/>
          <a:p>
            <a:r>
              <a:rPr sz="1200" b="0">
                <a:solidFill>
                  <a:srgbClr val="5B6270"/>
                </a:solidFill>
                <a:latin typeface="Space Grotesk"/>
              </a:rPr>
              <a:t>github.com/Barneyjm · huggingface.co/jbarney · decisioncircuits.com · Decide in code · 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Tonight's demo: a PII and routing guard</a:t>
            </a:r>
            <a:endParaRPr lang="en-US" sz="3600" dirty="0"/>
          </a:p>
        </p:txBody>
      </p:sp>
      <p:pic>
        <p:nvPicPr>
          <p:cNvPr id="3" name="Image 0" descr="Architecture: a client calls API Gateway, which invokes a Lambda function. The Lambda reads an API key from Secrets Manager and sends typed questions to the hosted circuit-8b model. Decided messages are redacted or routed and logged with their trace in CloudWatch. Uncertain messages go to an SQS human-review queue, and Bedrock writes a summary for the reviewer.">    </p:cNvPr>
          <p:cNvPicPr>
            <a:picLocks noChangeAspect="1"/>
          </p:cNvPicPr>
          <p:nvPr/>
        </p:nvPicPr>
        <p:blipFill>
          <a:blip r:embed="rId1"/>
          <a:srcRect l="0" r="0" t="-31" b="-31"/>
          <a:stretch/>
        </p:blipFill>
        <p:spPr>
          <a:xfrm>
            <a:off x="812800" y="1620490"/>
            <a:ext cx="10566400" cy="3810000"/>
          </a:xfrm>
          <a:prstGeom prst="rect">
            <a:avLst/>
          </a:prstGeom>
        </p:spPr>
      </p:pic>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All of it defined in Terraform · Decide in code · 19</a:t>
            </a:r>
            <a:endParaRPr lang="en-US" sz="12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pic>
        <p:nvPicPr>
          <p:cNvPr id="2" name="Architecture diagram" descr="Full architecture: browser via CloudFront/S3 and Cognito guest credentials, or the presenter laptop, sign requests to API Gateway; Lambda runs the circuit against circuit-8b outside AWS, reads the key from Secrets Manager; decided results return 200 with traces in CloudWatch; uncertain ones get a Nova summary on Bedrock and go to an SQS human-review queue; one KMS key encrypts secret, queue and logs."/>
          <p:cNvPicPr>
            <a:picLocks noChangeAspect="1"/>
          </p:cNvPicPr>
          <p:nvPr/>
        </p:nvPicPr>
        <p:blipFill>
          <a:blip r:embed="rId2"/>
          <a:stretch>
            <a:fillRect/>
          </a:stretch>
        </p:blipFill>
        <p:spPr>
          <a:xfrm>
            <a:off x="1220819" y="182880"/>
            <a:ext cx="9750055" cy="5989320"/>
          </a:xfrm>
          <a:prstGeom prst="rect">
            <a:avLst/>
          </a:prstGeom>
        </p:spPr>
      </p:pic>
      <p:sp>
        <p:nvSpPr>
          <p:cNvPr id="3" name="TextBox 2"/>
          <p:cNvSpPr txBox="1"/>
          <p:nvPr/>
        </p:nvSpPr>
        <p:spPr>
          <a:xfrm>
            <a:off x="813816" y="6236208"/>
            <a:ext cx="10881360" cy="237744"/>
          </a:xfrm>
          <a:prstGeom prst="rect">
            <a:avLst/>
          </a:prstGeom>
          <a:noFill/>
        </p:spPr>
        <p:txBody>
          <a:bodyPr wrap="none" lIns="0" rIns="0" tIns="0" bIns="0">
            <a:spAutoFit/>
          </a:bodyPr>
          <a:lstStyle/>
          <a:p>
            <a:pPr algn="l"/>
            <a:r>
              <a:rPr sz="1200">
                <a:solidFill>
                  <a:srgbClr val="5B6270"/>
                </a:solidFill>
                <a:latin typeface="Space Grotesk"/>
              </a:rPr>
              <a:t>Full picture, all Terraform · docs/architecture.svg in the repo · Decide in code · 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812800" y="186888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73F"/>
                </a:solidFill>
                <a:latin typeface="IBM Plex Mono" pitchFamily="34" charset="0"/>
                <a:ea typeface="IBM Plex Mono" pitchFamily="34" charset="-122"/>
                <a:cs typeface="IBM Plex Mono" pitchFamily="34" charset="-120"/>
              </a:rPr>
              <a:t>LIVE DEMO</a:t>
            </a:r>
            <a:endParaRPr lang="en-US" sz="1200" dirty="0"/>
          </a:p>
        </p:txBody>
      </p:sp>
      <p:sp>
        <p:nvSpPr>
          <p:cNvPr id="3" name="Text 1"/>
          <p:cNvSpPr/>
          <p:nvPr/>
        </p:nvSpPr>
        <p:spPr>
          <a:xfrm>
            <a:off x="812800" y="243780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4F1EA"/>
                </a:solidFill>
                <a:latin typeface="IBM Plex Mono" pitchFamily="34" charset="0"/>
                <a:ea typeface="IBM Plex Mono" pitchFamily="34" charset="-122"/>
                <a:cs typeface="IBM Plex Mono" pitchFamily="34" charset="-120"/>
              </a:rPr>
              <a:t>terraform apply</a:t>
            </a:r>
            <a:endParaRPr lang="en-US" sz="6000" dirty="0"/>
          </a:p>
        </p:txBody>
      </p:sp>
      <p:sp>
        <p:nvSpPr>
          <p:cNvPr id="4" name="Text 2"/>
          <p:cNvSpPr/>
          <p:nvPr/>
        </p:nvSpPr>
        <p:spPr>
          <a:xfrm>
            <a:off x="812800" y="355540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0873F"/>
                </a:solidFill>
                <a:latin typeface="Space Grotesk" pitchFamily="34" charset="0"/>
                <a:ea typeface="Space Grotesk" pitchFamily="34" charset="-122"/>
                <a:cs typeface="Space Grotesk" pitchFamily="34" charset="-120"/>
              </a:rPr>
              <a:t>1</a:t>
            </a:r>
            <a:r>
              <a:rPr lang="en-US" sz="1800" dirty="0">
                <a:solidFill>
                  <a:srgbClr val="F4F1EA"/>
                </a:solidFill>
                <a:latin typeface="Space Grotesk" pitchFamily="34" charset="0"/>
                <a:ea typeface="Space Grotesk" pitchFamily="34" charset="-122"/>
                <a:cs typeface="Space Grotesk" pitchFamily="34" charset="-120"/>
              </a:rPr>
              <a:t>  A routine billing question: decided and routed</a:t>
            </a:r>
            <a:endParaRPr lang="en-US" sz="1800" dirty="0"/>
          </a:p>
        </p:txBody>
      </p:sp>
      <p:sp>
        <p:nvSpPr>
          <p:cNvPr id="5" name="Text 3"/>
          <p:cNvSpPr/>
          <p:nvPr/>
        </p:nvSpPr>
        <p:spPr>
          <a:xfrm>
            <a:off x="812800" y="401637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0873F"/>
                </a:solidFill>
                <a:latin typeface="Space Grotesk" pitchFamily="34" charset="0"/>
                <a:ea typeface="Space Grotesk" pitchFamily="34" charset="-122"/>
                <a:cs typeface="Space Grotesk" pitchFamily="34" charset="-120"/>
              </a:rPr>
              <a:t>2</a:t>
            </a:r>
            <a:r>
              <a:rPr lang="en-US" sz="1800" dirty="0">
                <a:solidFill>
                  <a:srgbClr val="F4F1EA"/>
                </a:solidFill>
                <a:latin typeface="Space Grotesk" pitchFamily="34" charset="0"/>
                <a:ea typeface="Space Grotesk" pitchFamily="34" charset="-122"/>
                <a:cs typeface="Space Grotesk" pitchFamily="34" charset="-120"/>
              </a:rPr>
              <a:t>  A message with an account number: redacted</a:t>
            </a:r>
            <a:endParaRPr lang="en-US" sz="1800" dirty="0"/>
          </a:p>
        </p:txBody>
      </p:sp>
      <p:sp>
        <p:nvSpPr>
          <p:cNvPr id="6" name="Text 4"/>
          <p:cNvSpPr/>
          <p:nvPr/>
        </p:nvSpPr>
        <p:spPr>
          <a:xfrm>
            <a:off x="812800" y="447734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0873F"/>
                </a:solidFill>
                <a:latin typeface="Space Grotesk" pitchFamily="34" charset="0"/>
                <a:ea typeface="Space Grotesk" pitchFamily="34" charset="-122"/>
                <a:cs typeface="Space Grotesk" pitchFamily="34" charset="-120"/>
              </a:rPr>
              <a:t>3</a:t>
            </a:r>
            <a:r>
              <a:rPr lang="en-US" sz="1800" dirty="0">
                <a:solidFill>
                  <a:srgbClr val="F4F1EA"/>
                </a:solidFill>
                <a:latin typeface="Space Grotesk" pitchFamily="34" charset="0"/>
                <a:ea typeface="Space Grotesk" pitchFamily="34" charset="-122"/>
                <a:cs typeface="Space Grotesk" pitchFamily="34" charset="-120"/>
              </a:rPr>
              <a:t>  A borderline one: sent to the review queue with a Bedrock summary</a:t>
            </a:r>
            <a:endParaRPr lang="en-US" sz="1800" dirty="0"/>
          </a:p>
        </p:txBody>
      </p:sp>
      <p:sp>
        <p:nvSpPr>
          <p:cNvPr id="8" name="Text 8"/>
          <p:cNvSpPr/>
          <p:nvPr/>
        </p:nvSpPr>
        <p:spPr>
          <a:xfrm>
            <a:off x="812800" y="4946904"/>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0873F"/>
                </a:solidFill>
                <a:latin typeface="Space Grotesk" pitchFamily="34" charset="0"/>
                <a:ea typeface="Space Grotesk" pitchFamily="34" charset="-122"/>
                <a:cs typeface="Space Grotesk" pitchFamily="34" charset="-120"/>
              </a:rPr>
              <a:t>4</a:t>
            </a:r>
            <a:r>
              <a:rPr lang="en-US" sz="1800" dirty="0">
                <a:solidFill>
                  <a:srgbClr val="F4F1EA"/>
                </a:solidFill>
                <a:latin typeface="Space Grotesk" pitchFamily="34" charset="0"/>
                <a:ea typeface="Space Grotesk" pitchFamily="34" charset="-122"/>
                <a:cs typeface="Space Grotesk" pitchFamily="34" charset="-120"/>
              </a:rPr>
              <a:t>  Live change: add an “angry customer” question and gate, redeploy, try it</a:t>
            </a:r>
            <a:endParaRPr lang="en-US" sz="18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ADB8"/>
                </a:solidFill>
                <a:latin typeface="Space Grotesk" pitchFamily="34" charset="0"/>
                <a:ea typeface="Space Grotesk" pitchFamily="34" charset="-122"/>
                <a:cs typeface="Space Grotesk" pitchFamily="34" charset="-120"/>
              </a:rPr>
              <a:t>Decide in code · 21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1F26"/>
                </a:solidFill>
                <a:latin typeface="Space Grotesk" pitchFamily="34" charset="0"/>
                <a:ea typeface="Space Grotesk" pitchFamily="34" charset="-122"/>
                <a:cs typeface="Space Grotesk" pitchFamily="34" charset="-120"/>
              </a:rPr>
              <a:t>Three things to take home</a:t>
            </a:r>
            <a:endParaRPr lang="en-US" sz="3600" dirty="0"/>
          </a:p>
        </p:txBody>
      </p:sp>
      <p:sp>
        <p:nvSpPr>
          <p:cNvPr id="3" name="Shape 1"/>
          <p:cNvSpPr/>
          <p:nvPr/>
        </p:nvSpPr>
        <p:spPr>
          <a:xfrm>
            <a:off x="815975" y="2425750"/>
            <a:ext cx="3380284" cy="1915071"/>
          </a:xfrm>
          <a:prstGeom prst="roundRect">
            <a:avLst>
              <a:gd name="adj" fmla="val 5139"/>
            </a:avLst>
          </a:prstGeom>
          <a:solidFill>
            <a:srgbClr val="FBFAF6"/>
          </a:solidFill>
          <a:ln w="6350">
            <a:solidFill>
              <a:srgbClr val="D9D3C5"/>
            </a:solidFill>
            <a:prstDash val="solid"/>
          </a:ln>
        </p:spPr>
        <p:txBody>
          <a:bodyPr/>
          <a:p/>
        </p:txBody>
      </p:sp>
      <p:sp>
        <p:nvSpPr>
          <p:cNvPr id="4" name="Text 2"/>
          <p:cNvSpPr/>
          <p:nvPr/>
        </p:nvSpPr>
        <p:spPr>
          <a:xfrm>
            <a:off x="1073150" y="2682925"/>
            <a:ext cx="295191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4521A"/>
                </a:solidFill>
                <a:latin typeface="Space Grotesk" pitchFamily="34" charset="0"/>
                <a:ea typeface="Space Grotesk" pitchFamily="34" charset="-122"/>
                <a:cs typeface="Space Grotesk" pitchFamily="34" charset="-120"/>
              </a:rPr>
              <a:t>1</a:t>
            </a:r>
            <a:endParaRPr lang="en-US" sz="3600" dirty="0"/>
          </a:p>
        </p:txBody>
      </p:sp>
      <p:sp>
        <p:nvSpPr>
          <p:cNvPr id="5" name="Text 3"/>
          <p:cNvSpPr/>
          <p:nvPr/>
        </p:nvSpPr>
        <p:spPr>
          <a:xfrm>
            <a:off x="1073150" y="3241725"/>
            <a:ext cx="2951912"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B1F26"/>
                </a:solidFill>
                <a:latin typeface="Space Grotesk" pitchFamily="34" charset="0"/>
                <a:ea typeface="Space Grotesk" pitchFamily="34" charset="-122"/>
                <a:cs typeface="Space Grotesk" pitchFamily="34" charset="-120"/>
              </a:rPr>
              <a:t>Find the decisions hiding in your LLM calls.</a:t>
            </a:r>
            <a:endParaRPr lang="en-US" sz="1700" dirty="0"/>
          </a:p>
        </p:txBody>
      </p:sp>
      <p:sp>
        <p:nvSpPr>
          <p:cNvPr id="6" name="Shape 4"/>
          <p:cNvSpPr/>
          <p:nvPr/>
        </p:nvSpPr>
        <p:spPr>
          <a:xfrm>
            <a:off x="4405809" y="2425750"/>
            <a:ext cx="3380333" cy="1915071"/>
          </a:xfrm>
          <a:prstGeom prst="roundRect">
            <a:avLst>
              <a:gd name="adj" fmla="val 5139"/>
            </a:avLst>
          </a:prstGeom>
          <a:solidFill>
            <a:srgbClr val="FBFAF6"/>
          </a:solidFill>
          <a:ln w="6350">
            <a:solidFill>
              <a:srgbClr val="D9D3C5"/>
            </a:solidFill>
            <a:prstDash val="solid"/>
          </a:ln>
        </p:spPr>
        <p:txBody>
          <a:bodyPr/>
          <a:p/>
        </p:txBody>
      </p:sp>
      <p:sp>
        <p:nvSpPr>
          <p:cNvPr id="7" name="Text 5"/>
          <p:cNvSpPr/>
          <p:nvPr/>
        </p:nvSpPr>
        <p:spPr>
          <a:xfrm>
            <a:off x="4662984" y="2682925"/>
            <a:ext cx="295196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4521A"/>
                </a:solidFill>
                <a:latin typeface="Space Grotesk" pitchFamily="34" charset="0"/>
                <a:ea typeface="Space Grotesk" pitchFamily="34" charset="-122"/>
                <a:cs typeface="Space Grotesk" pitchFamily="34" charset="-120"/>
              </a:rPr>
              <a:t>2</a:t>
            </a:r>
            <a:endParaRPr lang="en-US" sz="3600" dirty="0"/>
          </a:p>
        </p:txBody>
      </p:sp>
      <p:sp>
        <p:nvSpPr>
          <p:cNvPr id="8" name="Text 6"/>
          <p:cNvSpPr/>
          <p:nvPr/>
        </p:nvSpPr>
        <p:spPr>
          <a:xfrm>
            <a:off x="4662984" y="3241725"/>
            <a:ext cx="2951963" cy="86732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B1F26"/>
                </a:solidFill>
                <a:latin typeface="Space Grotesk" pitchFamily="34" charset="0"/>
                <a:ea typeface="Space Grotesk" pitchFamily="34" charset="-122"/>
                <a:cs typeface="Space Grotesk" pitchFamily="34" charset="-120"/>
              </a:rPr>
              <a:t>Let the model answer questions. Let code decide.</a:t>
            </a:r>
            <a:endParaRPr lang="en-US" sz="1700" dirty="0"/>
          </a:p>
        </p:txBody>
      </p:sp>
      <p:sp>
        <p:nvSpPr>
          <p:cNvPr id="9" name="Shape 7"/>
          <p:cNvSpPr/>
          <p:nvPr/>
        </p:nvSpPr>
        <p:spPr>
          <a:xfrm>
            <a:off x="7995692" y="2425750"/>
            <a:ext cx="3380333" cy="1915071"/>
          </a:xfrm>
          <a:prstGeom prst="roundRect">
            <a:avLst>
              <a:gd name="adj" fmla="val 5139"/>
            </a:avLst>
          </a:prstGeom>
          <a:solidFill>
            <a:srgbClr val="FBFAF6"/>
          </a:solidFill>
          <a:ln w="6350">
            <a:solidFill>
              <a:srgbClr val="D9D3C5"/>
            </a:solidFill>
            <a:prstDash val="solid"/>
          </a:ln>
        </p:spPr>
        <p:txBody>
          <a:bodyPr/>
          <a:p/>
        </p:txBody>
      </p:sp>
      <p:sp>
        <p:nvSpPr>
          <p:cNvPr id="10" name="Text 8"/>
          <p:cNvSpPr/>
          <p:nvPr/>
        </p:nvSpPr>
        <p:spPr>
          <a:xfrm>
            <a:off x="8252867" y="2682925"/>
            <a:ext cx="295196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4521A"/>
                </a:solidFill>
                <a:latin typeface="Space Grotesk" pitchFamily="34" charset="0"/>
                <a:ea typeface="Space Grotesk" pitchFamily="34" charset="-122"/>
                <a:cs typeface="Space Grotesk" pitchFamily="34" charset="-120"/>
              </a:rPr>
              <a:t>3</a:t>
            </a:r>
            <a:endParaRPr lang="en-US" sz="3600" dirty="0"/>
          </a:p>
        </p:txBody>
      </p:sp>
      <p:sp>
        <p:nvSpPr>
          <p:cNvPr id="11" name="Text 9"/>
          <p:cNvSpPr/>
          <p:nvPr/>
        </p:nvSpPr>
        <p:spPr>
          <a:xfrm>
            <a:off x="8252867" y="3241725"/>
            <a:ext cx="2951963" cy="86732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B1F26"/>
                </a:solidFill>
                <a:latin typeface="Space Grotesk" pitchFamily="34" charset="0"/>
                <a:ea typeface="Space Grotesk" pitchFamily="34" charset="-122"/>
                <a:cs typeface="Space Grotesk" pitchFamily="34" charset="-120"/>
              </a:rPr>
              <a:t>Don't wait for Bedrock: vendor API, drop-in clone, or your own weights.</a:t>
            </a:r>
            <a:endParaRPr lang="en-US" sz="1700" dirty="0"/>
          </a:p>
        </p:txBody>
      </p:sp>
      <p:sp>
        <p:nvSpPr>
          <p:cNvPr id="12" name="Text 10"/>
          <p:cNvSpPr/>
          <p:nvPr/>
        </p:nvSpPr>
        <p:spPr>
          <a:xfrm>
            <a:off x="812800" y="545088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1F26"/>
                </a:solidFill>
                <a:latin typeface="Space Grotesk" pitchFamily="34" charset="0"/>
                <a:ea typeface="Space Grotesk" pitchFamily="34" charset="-122"/>
                <a:cs typeface="Space Grotesk" pitchFamily="34" charset="-120"/>
              </a:rPr>
              <a:t>Questions?</a:t>
            </a:r>
            <a:endParaRPr lang="en-US" sz="22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decisioncircuits.com · typesafe.ai · Decide in code · 22</a:t>
            </a:r>
            <a:endParaRPr lang="en-US" sz="1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3816" y="566928"/>
            <a:ext cx="10515600" cy="274320"/>
          </a:xfrm>
          <a:prstGeom prst="rect">
            <a:avLst/>
          </a:prstGeom>
          <a:noFill/>
        </p:spPr>
        <p:txBody>
          <a:bodyPr wrap="square" anchor="t" lIns="0" rIns="0" tIns="0" bIns="0">
            <a:spAutoFit/>
          </a:bodyPr>
          <a:lstStyle/>
          <a:p>
            <a:r>
              <a:rPr sz="1200" b="1">
                <a:solidFill>
                  <a:srgbClr val="2F5D9E"/>
                </a:solidFill>
                <a:latin typeface="Space Grotesk"/>
              </a:rPr>
              <a:t>UNDER THE HOOD · 1 OF 2</a:t>
            </a:r>
          </a:p>
        </p:txBody>
      </p:sp>
      <p:sp>
        <p:nvSpPr>
          <p:cNvPr id="3" name="TextBox 2"/>
          <p:cNvSpPr txBox="1"/>
          <p:nvPr/>
        </p:nvSpPr>
        <p:spPr>
          <a:xfrm>
            <a:off x="813816" y="868680"/>
            <a:ext cx="10515600" cy="731520"/>
          </a:xfrm>
          <a:prstGeom prst="rect">
            <a:avLst/>
          </a:prstGeom>
          <a:noFill/>
        </p:spPr>
        <p:txBody>
          <a:bodyPr wrap="square" anchor="t" lIns="0" rIns="0" tIns="0" bIns="0">
            <a:spAutoFit/>
          </a:bodyPr>
          <a:lstStyle/>
          <a:p>
            <a:r>
              <a:rPr sz="3600" b="1">
                <a:solidFill>
                  <a:srgbClr val="1B1F26"/>
                </a:solidFill>
                <a:latin typeface="Space Grotesk"/>
              </a:rPr>
              <a:t>How an LLM answers “is this spam?”</a:t>
            </a:r>
          </a:p>
        </p:txBody>
      </p:sp>
      <p:sp>
        <p:nvSpPr>
          <p:cNvPr id="4" name="Rounded Rectangle 3"/>
          <p:cNvSpPr/>
          <p:nvPr/>
        </p:nvSpPr>
        <p:spPr>
          <a:xfrm>
            <a:off x="813816" y="1645920"/>
            <a:ext cx="1883664" cy="1783080"/>
          </a:xfrm>
          <a:prstGeom prst="roundRect">
            <a:avLst>
              <a:gd name="adj" fmla="val 7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792224"/>
            <a:ext cx="1554480" cy="274320"/>
          </a:xfrm>
          <a:prstGeom prst="rect">
            <a:avLst/>
          </a:prstGeom>
          <a:noFill/>
        </p:spPr>
        <p:txBody>
          <a:bodyPr wrap="square" anchor="t" lIns="0" rIns="0" tIns="0" bIns="0">
            <a:spAutoFit/>
          </a:bodyPr>
          <a:lstStyle/>
          <a:p>
            <a:r>
              <a:rPr sz="1200" b="1">
                <a:solidFill>
                  <a:srgbClr val="2F5D9E"/>
                </a:solidFill>
                <a:latin typeface="IBM Plex Mono"/>
              </a:rPr>
              <a:t>01</a:t>
            </a:r>
          </a:p>
        </p:txBody>
      </p:sp>
      <p:sp>
        <p:nvSpPr>
          <p:cNvPr id="6" name="TextBox 5"/>
          <p:cNvSpPr txBox="1"/>
          <p:nvPr/>
        </p:nvSpPr>
        <p:spPr>
          <a:xfrm>
            <a:off x="978408" y="2057400"/>
            <a:ext cx="1554480" cy="1280160"/>
          </a:xfrm>
          <a:prstGeom prst="rect">
            <a:avLst/>
          </a:prstGeom>
          <a:noFill/>
        </p:spPr>
        <p:txBody>
          <a:bodyPr wrap="square" anchor="t" lIns="0" rIns="0" tIns="0" bIns="0">
            <a:spAutoFit/>
          </a:bodyPr>
          <a:lstStyle/>
          <a:p>
            <a:r>
              <a:rPr sz="1500" b="1">
                <a:solidFill>
                  <a:srgbClr val="1B1F26"/>
                </a:solidFill>
                <a:latin typeface="Space Grotesk"/>
              </a:rPr>
              <a:t>Tokenize</a:t>
            </a:r>
          </a:p>
          <a:p>
            <a:pPr>
              <a:spcBef>
                <a:spcPts val="300"/>
              </a:spcBef>
            </a:pPr>
            <a:r>
              <a:rPr sz="1150" b="0">
                <a:solidFill>
                  <a:srgbClr val="5B6270"/>
                </a:solidFill>
                <a:latin typeface="Space Grotesk"/>
              </a:rPr>
              <a:t>Your prompt becomes tokens: “Classify”, “this”, “message”…</a:t>
            </a:r>
          </a:p>
        </p:txBody>
      </p:sp>
      <p:sp>
        <p:nvSpPr>
          <p:cNvPr id="7" name="Right Arrow 6"/>
          <p:cNvSpPr/>
          <p:nvPr/>
        </p:nvSpPr>
        <p:spPr>
          <a:xfrm>
            <a:off x="2724912" y="2418588"/>
            <a:ext cx="237744" cy="237744"/>
          </a:xfrm>
          <a:prstGeom prst="rightArrow">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90088" y="1645920"/>
            <a:ext cx="1883664" cy="1783080"/>
          </a:xfrm>
          <a:prstGeom prst="roundRect">
            <a:avLst>
              <a:gd name="adj" fmla="val 7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1792224"/>
            <a:ext cx="1554480" cy="274320"/>
          </a:xfrm>
          <a:prstGeom prst="rect">
            <a:avLst/>
          </a:prstGeom>
          <a:noFill/>
        </p:spPr>
        <p:txBody>
          <a:bodyPr wrap="square" anchor="t" lIns="0" rIns="0" tIns="0" bIns="0">
            <a:spAutoFit/>
          </a:bodyPr>
          <a:lstStyle/>
          <a:p>
            <a:r>
              <a:rPr sz="1200" b="1">
                <a:solidFill>
                  <a:srgbClr val="2F5D9E"/>
                </a:solidFill>
                <a:latin typeface="IBM Plex Mono"/>
              </a:rPr>
              <a:t>02</a:t>
            </a:r>
          </a:p>
        </p:txBody>
      </p:sp>
      <p:sp>
        <p:nvSpPr>
          <p:cNvPr id="10" name="TextBox 9"/>
          <p:cNvSpPr txBox="1"/>
          <p:nvPr/>
        </p:nvSpPr>
        <p:spPr>
          <a:xfrm>
            <a:off x="3154680" y="2057400"/>
            <a:ext cx="1554480" cy="1280160"/>
          </a:xfrm>
          <a:prstGeom prst="rect">
            <a:avLst/>
          </a:prstGeom>
          <a:noFill/>
        </p:spPr>
        <p:txBody>
          <a:bodyPr wrap="square" anchor="t" lIns="0" rIns="0" tIns="0" bIns="0">
            <a:spAutoFit/>
          </a:bodyPr>
          <a:lstStyle/>
          <a:p>
            <a:r>
              <a:rPr sz="1500" b="1">
                <a:solidFill>
                  <a:srgbClr val="1B1F26"/>
                </a:solidFill>
                <a:latin typeface="Space Grotesk"/>
              </a:rPr>
              <a:t>Embed</a:t>
            </a:r>
          </a:p>
          <a:p>
            <a:pPr>
              <a:spcBef>
                <a:spcPts val="300"/>
              </a:spcBef>
            </a:pPr>
            <a:r>
              <a:rPr sz="1150" b="0">
                <a:solidFill>
                  <a:srgbClr val="5B6270"/>
                </a:solidFill>
                <a:latin typeface="Space Grotesk"/>
              </a:rPr>
              <a:t>Each token becomes a vector of a few thousand numbers.</a:t>
            </a:r>
          </a:p>
        </p:txBody>
      </p:sp>
      <p:sp>
        <p:nvSpPr>
          <p:cNvPr id="11" name="Right Arrow 10"/>
          <p:cNvSpPr/>
          <p:nvPr/>
        </p:nvSpPr>
        <p:spPr>
          <a:xfrm>
            <a:off x="4901184" y="2418588"/>
            <a:ext cx="237744" cy="237744"/>
          </a:xfrm>
          <a:prstGeom prst="rightArrow">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6359" y="1645920"/>
            <a:ext cx="1883664" cy="1783080"/>
          </a:xfrm>
          <a:prstGeom prst="roundRect">
            <a:avLst>
              <a:gd name="adj" fmla="val 7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0951" y="1792224"/>
            <a:ext cx="1554480" cy="274320"/>
          </a:xfrm>
          <a:prstGeom prst="rect">
            <a:avLst/>
          </a:prstGeom>
          <a:noFill/>
        </p:spPr>
        <p:txBody>
          <a:bodyPr wrap="square" anchor="t" lIns="0" rIns="0" tIns="0" bIns="0">
            <a:spAutoFit/>
          </a:bodyPr>
          <a:lstStyle/>
          <a:p>
            <a:r>
              <a:rPr sz="1200" b="1">
                <a:solidFill>
                  <a:srgbClr val="2F5D9E"/>
                </a:solidFill>
                <a:latin typeface="IBM Plex Mono"/>
              </a:rPr>
              <a:t>03</a:t>
            </a:r>
          </a:p>
        </p:txBody>
      </p:sp>
      <p:sp>
        <p:nvSpPr>
          <p:cNvPr id="14" name="TextBox 13"/>
          <p:cNvSpPr txBox="1"/>
          <p:nvPr/>
        </p:nvSpPr>
        <p:spPr>
          <a:xfrm>
            <a:off x="5330951" y="2057400"/>
            <a:ext cx="1554480" cy="1280160"/>
          </a:xfrm>
          <a:prstGeom prst="rect">
            <a:avLst/>
          </a:prstGeom>
          <a:noFill/>
        </p:spPr>
        <p:txBody>
          <a:bodyPr wrap="square" anchor="t" lIns="0" rIns="0" tIns="0" bIns="0">
            <a:spAutoFit/>
          </a:bodyPr>
          <a:lstStyle/>
          <a:p>
            <a:r>
              <a:rPr sz="1500" b="1">
                <a:solidFill>
                  <a:srgbClr val="1B1F26"/>
                </a:solidFill>
                <a:latin typeface="Space Grotesk"/>
              </a:rPr>
              <a:t>Layers × N</a:t>
            </a:r>
          </a:p>
          <a:p>
            <a:pPr>
              <a:spcBef>
                <a:spcPts val="300"/>
              </a:spcBef>
            </a:pPr>
            <a:r>
              <a:rPr sz="1150" b="0">
                <a:solidFill>
                  <a:srgbClr val="5B6270"/>
                </a:solidFill>
                <a:latin typeface="Space Grotesk"/>
              </a:rPr>
              <a:t>Attention + MLP, 30–80 layers deep, build up context.</a:t>
            </a:r>
          </a:p>
        </p:txBody>
      </p:sp>
      <p:sp>
        <p:nvSpPr>
          <p:cNvPr id="15" name="Right Arrow 14"/>
          <p:cNvSpPr/>
          <p:nvPr/>
        </p:nvSpPr>
        <p:spPr>
          <a:xfrm>
            <a:off x="7077455" y="2418588"/>
            <a:ext cx="237744" cy="237744"/>
          </a:xfrm>
          <a:prstGeom prst="rightArrow">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42631" y="1645920"/>
            <a:ext cx="1883664" cy="1783080"/>
          </a:xfrm>
          <a:prstGeom prst="roundRect">
            <a:avLst>
              <a:gd name="adj" fmla="val 7000"/>
            </a:avLst>
          </a:prstGeom>
          <a:solidFill>
            <a:srgbClr val="FFFFFF"/>
          </a:solidFill>
          <a:ln w="9525">
            <a:solidFill>
              <a:srgbClr val="2F5D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07223" y="1792224"/>
            <a:ext cx="1554480" cy="274320"/>
          </a:xfrm>
          <a:prstGeom prst="rect">
            <a:avLst/>
          </a:prstGeom>
          <a:noFill/>
        </p:spPr>
        <p:txBody>
          <a:bodyPr wrap="square" anchor="t" lIns="0" rIns="0" tIns="0" bIns="0">
            <a:spAutoFit/>
          </a:bodyPr>
          <a:lstStyle/>
          <a:p>
            <a:r>
              <a:rPr sz="1200" b="1">
                <a:solidFill>
                  <a:srgbClr val="2F5D9E"/>
                </a:solidFill>
                <a:latin typeface="IBM Plex Mono"/>
              </a:rPr>
              <a:t>04</a:t>
            </a:r>
          </a:p>
        </p:txBody>
      </p:sp>
      <p:sp>
        <p:nvSpPr>
          <p:cNvPr id="18" name="TextBox 17"/>
          <p:cNvSpPr txBox="1"/>
          <p:nvPr/>
        </p:nvSpPr>
        <p:spPr>
          <a:xfrm>
            <a:off x="7507223" y="2057400"/>
            <a:ext cx="1554480" cy="1280160"/>
          </a:xfrm>
          <a:prstGeom prst="rect">
            <a:avLst/>
          </a:prstGeom>
          <a:noFill/>
        </p:spPr>
        <p:txBody>
          <a:bodyPr wrap="square" anchor="t" lIns="0" rIns="0" tIns="0" bIns="0">
            <a:spAutoFit/>
          </a:bodyPr>
          <a:lstStyle/>
          <a:p>
            <a:r>
              <a:rPr sz="1500" b="1">
                <a:solidFill>
                  <a:srgbClr val="1B1F26"/>
                </a:solidFill>
                <a:latin typeface="Space Grotesk"/>
              </a:rPr>
              <a:t>Next-token softmax</a:t>
            </a:r>
          </a:p>
          <a:p>
            <a:pPr>
              <a:spcBef>
                <a:spcPts val="300"/>
              </a:spcBef>
            </a:pPr>
            <a:r>
              <a:rPr sz="1150" b="0">
                <a:solidFill>
                  <a:srgbClr val="5B6270"/>
                </a:solidFill>
                <a:latin typeface="Space Grotesk"/>
              </a:rPr>
              <a:t>Scores every vocabulary token (~100k+) for the next slot.</a:t>
            </a:r>
          </a:p>
        </p:txBody>
      </p:sp>
      <p:sp>
        <p:nvSpPr>
          <p:cNvPr id="19" name="Right Arrow 18"/>
          <p:cNvSpPr/>
          <p:nvPr/>
        </p:nvSpPr>
        <p:spPr>
          <a:xfrm>
            <a:off x="9253728" y="2418588"/>
            <a:ext cx="237744" cy="237744"/>
          </a:xfrm>
          <a:prstGeom prst="rightArrow">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518904" y="1645920"/>
            <a:ext cx="1883664" cy="1783080"/>
          </a:xfrm>
          <a:prstGeom prst="roundRect">
            <a:avLst>
              <a:gd name="adj" fmla="val 7000"/>
            </a:avLst>
          </a:prstGeom>
          <a:solidFill>
            <a:srgbClr val="FFFFFF"/>
          </a:solidFill>
          <a:ln w="9525">
            <a:solidFill>
              <a:srgbClr val="2F5D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83496" y="1792224"/>
            <a:ext cx="1554480" cy="274320"/>
          </a:xfrm>
          <a:prstGeom prst="rect">
            <a:avLst/>
          </a:prstGeom>
          <a:noFill/>
        </p:spPr>
        <p:txBody>
          <a:bodyPr wrap="square" anchor="t" lIns="0" rIns="0" tIns="0" bIns="0">
            <a:spAutoFit/>
          </a:bodyPr>
          <a:lstStyle/>
          <a:p>
            <a:r>
              <a:rPr sz="1200" b="1">
                <a:solidFill>
                  <a:srgbClr val="2F5D9E"/>
                </a:solidFill>
                <a:latin typeface="IBM Plex Mono"/>
              </a:rPr>
              <a:t>05</a:t>
            </a:r>
          </a:p>
        </p:txBody>
      </p:sp>
      <p:sp>
        <p:nvSpPr>
          <p:cNvPr id="22" name="TextBox 21"/>
          <p:cNvSpPr txBox="1"/>
          <p:nvPr/>
        </p:nvSpPr>
        <p:spPr>
          <a:xfrm>
            <a:off x="9683496" y="2057400"/>
            <a:ext cx="1554480" cy="1280160"/>
          </a:xfrm>
          <a:prstGeom prst="rect">
            <a:avLst/>
          </a:prstGeom>
          <a:noFill/>
        </p:spPr>
        <p:txBody>
          <a:bodyPr wrap="square" anchor="t" lIns="0" rIns="0" tIns="0" bIns="0">
            <a:spAutoFit/>
          </a:bodyPr>
          <a:lstStyle/>
          <a:p>
            <a:r>
              <a:rPr sz="1500" b="1">
                <a:solidFill>
                  <a:srgbClr val="1B1F26"/>
                </a:solidFill>
                <a:latin typeface="Space Grotesk"/>
              </a:rPr>
              <a:t>Pick, append, repeat</a:t>
            </a:r>
          </a:p>
          <a:p>
            <a:pPr>
              <a:spcBef>
                <a:spcPts val="300"/>
              </a:spcBef>
            </a:pPr>
            <a:r>
              <a:rPr sz="1150" b="0">
                <a:solidFill>
                  <a:srgbClr val="5B6270"/>
                </a:solidFill>
                <a:latin typeface="Space Grotesk"/>
              </a:rPr>
              <a:t>Pick one token, append it, run the whole stack again.</a:t>
            </a:r>
          </a:p>
        </p:txBody>
      </p:sp>
      <p:sp>
        <p:nvSpPr>
          <p:cNvPr id="23" name="Rounded Rectangle 22"/>
          <p:cNvSpPr/>
          <p:nvPr/>
        </p:nvSpPr>
        <p:spPr>
          <a:xfrm>
            <a:off x="813816" y="3657600"/>
            <a:ext cx="5120640" cy="2240280"/>
          </a:xfrm>
          <a:prstGeom prst="roundRect">
            <a:avLst>
              <a:gd name="adj" fmla="val 5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3822191"/>
            <a:ext cx="4663440" cy="274320"/>
          </a:xfrm>
          <a:prstGeom prst="rect">
            <a:avLst/>
          </a:prstGeom>
          <a:noFill/>
        </p:spPr>
        <p:txBody>
          <a:bodyPr wrap="square" anchor="t" lIns="0" rIns="0" tIns="0" bIns="0">
            <a:spAutoFit/>
          </a:bodyPr>
          <a:lstStyle/>
          <a:p>
            <a:r>
              <a:rPr sz="1400" b="1">
                <a:solidFill>
                  <a:srgbClr val="1B1F26"/>
                </a:solidFill>
                <a:latin typeface="Space Grotesk"/>
              </a:rPr>
              <a:t>One step: probabilities for the NEXT token</a:t>
            </a:r>
          </a:p>
        </p:txBody>
      </p:sp>
      <p:sp>
        <p:nvSpPr>
          <p:cNvPr id="25" name="TextBox 24"/>
          <p:cNvSpPr txBox="1"/>
          <p:nvPr/>
        </p:nvSpPr>
        <p:spPr>
          <a:xfrm>
            <a:off x="1051560" y="4224528"/>
            <a:ext cx="1234440" cy="274320"/>
          </a:xfrm>
          <a:prstGeom prst="rect">
            <a:avLst/>
          </a:prstGeom>
          <a:noFill/>
        </p:spPr>
        <p:txBody>
          <a:bodyPr wrap="square" anchor="ctr" lIns="0" rIns="0" tIns="0" bIns="0">
            <a:spAutoFit/>
          </a:bodyPr>
          <a:lstStyle/>
          <a:p>
            <a:r>
              <a:rPr sz="1300" b="0">
                <a:solidFill>
                  <a:srgbClr val="1B1F26"/>
                </a:solidFill>
                <a:latin typeface="IBM Plex Mono"/>
              </a:rPr>
              <a:t>“This”</a:t>
            </a:r>
          </a:p>
        </p:txBody>
      </p:sp>
      <p:sp>
        <p:nvSpPr>
          <p:cNvPr id="26" name="Rectangle 25"/>
          <p:cNvSpPr/>
          <p:nvPr/>
        </p:nvSpPr>
        <p:spPr>
          <a:xfrm>
            <a:off x="2286000" y="4297680"/>
            <a:ext cx="2788920" cy="146304"/>
          </a:xfrm>
          <a:prstGeom prst="rect">
            <a:avLst/>
          </a:prstGeom>
          <a:solidFill>
            <a:srgbClr val="E6E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86000" y="4297680"/>
            <a:ext cx="1171346" cy="146304"/>
          </a:xfrm>
          <a:prstGeom prst="rect">
            <a:avLst/>
          </a:prstGeom>
          <a:solidFill>
            <a:srgbClr val="2F5D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66359" y="4224528"/>
            <a:ext cx="548640" cy="274320"/>
          </a:xfrm>
          <a:prstGeom prst="rect">
            <a:avLst/>
          </a:prstGeom>
          <a:noFill/>
        </p:spPr>
        <p:txBody>
          <a:bodyPr wrap="square" anchor="ctr" lIns="0" rIns="0" tIns="0" bIns="0">
            <a:spAutoFit/>
          </a:bodyPr>
          <a:lstStyle/>
          <a:p>
            <a:r>
              <a:rPr sz="1300" b="1">
                <a:solidFill>
                  <a:srgbClr val="1B1F26"/>
                </a:solidFill>
                <a:latin typeface="IBM Plex Mono"/>
              </a:rPr>
              <a:t>0.42</a:t>
            </a:r>
          </a:p>
        </p:txBody>
      </p:sp>
      <p:sp>
        <p:nvSpPr>
          <p:cNvPr id="29" name="TextBox 28"/>
          <p:cNvSpPr txBox="1"/>
          <p:nvPr/>
        </p:nvSpPr>
        <p:spPr>
          <a:xfrm>
            <a:off x="1051560" y="4553712"/>
            <a:ext cx="1234440" cy="274320"/>
          </a:xfrm>
          <a:prstGeom prst="rect">
            <a:avLst/>
          </a:prstGeom>
          <a:noFill/>
        </p:spPr>
        <p:txBody>
          <a:bodyPr wrap="square" anchor="ctr" lIns="0" rIns="0" tIns="0" bIns="0">
            <a:spAutoFit/>
          </a:bodyPr>
          <a:lstStyle/>
          <a:p>
            <a:r>
              <a:rPr sz="1300" b="0">
                <a:solidFill>
                  <a:srgbClr val="1B1F26"/>
                </a:solidFill>
                <a:latin typeface="IBM Plex Mono"/>
              </a:rPr>
              <a:t>“The”</a:t>
            </a:r>
          </a:p>
        </p:txBody>
      </p:sp>
      <p:sp>
        <p:nvSpPr>
          <p:cNvPr id="30" name="Rectangle 29"/>
          <p:cNvSpPr/>
          <p:nvPr/>
        </p:nvSpPr>
        <p:spPr>
          <a:xfrm>
            <a:off x="2286000" y="4626864"/>
            <a:ext cx="2788920" cy="146304"/>
          </a:xfrm>
          <a:prstGeom prst="rect">
            <a:avLst/>
          </a:prstGeom>
          <a:solidFill>
            <a:srgbClr val="E6E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86000" y="4626864"/>
            <a:ext cx="502005" cy="146304"/>
          </a:xfrm>
          <a:prstGeom prst="rect">
            <a:avLst/>
          </a:prstGeom>
          <a:solidFill>
            <a:srgbClr val="2F5D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66359" y="4553712"/>
            <a:ext cx="548640" cy="274320"/>
          </a:xfrm>
          <a:prstGeom prst="rect">
            <a:avLst/>
          </a:prstGeom>
          <a:noFill/>
        </p:spPr>
        <p:txBody>
          <a:bodyPr wrap="square" anchor="ctr" lIns="0" rIns="0" tIns="0" bIns="0">
            <a:spAutoFit/>
          </a:bodyPr>
          <a:lstStyle/>
          <a:p>
            <a:r>
              <a:rPr sz="1300" b="1">
                <a:solidFill>
                  <a:srgbClr val="1B1F26"/>
                </a:solidFill>
                <a:latin typeface="IBM Plex Mono"/>
              </a:rPr>
              <a:t>0.18</a:t>
            </a:r>
          </a:p>
        </p:txBody>
      </p:sp>
      <p:sp>
        <p:nvSpPr>
          <p:cNvPr id="33" name="TextBox 32"/>
          <p:cNvSpPr txBox="1"/>
          <p:nvPr/>
        </p:nvSpPr>
        <p:spPr>
          <a:xfrm>
            <a:off x="1051560" y="4882896"/>
            <a:ext cx="1234440" cy="274320"/>
          </a:xfrm>
          <a:prstGeom prst="rect">
            <a:avLst/>
          </a:prstGeom>
          <a:noFill/>
        </p:spPr>
        <p:txBody>
          <a:bodyPr wrap="square" anchor="ctr" lIns="0" rIns="0" tIns="0" bIns="0">
            <a:spAutoFit/>
          </a:bodyPr>
          <a:lstStyle/>
          <a:p>
            <a:r>
              <a:rPr sz="1300" b="0">
                <a:solidFill>
                  <a:srgbClr val="1B1F26"/>
                </a:solidFill>
                <a:latin typeface="IBM Plex Mono"/>
              </a:rPr>
              <a:t>“It”</a:t>
            </a:r>
          </a:p>
        </p:txBody>
      </p:sp>
      <p:sp>
        <p:nvSpPr>
          <p:cNvPr id="34" name="Rectangle 33"/>
          <p:cNvSpPr/>
          <p:nvPr/>
        </p:nvSpPr>
        <p:spPr>
          <a:xfrm>
            <a:off x="2286000" y="4956048"/>
            <a:ext cx="2788920" cy="146304"/>
          </a:xfrm>
          <a:prstGeom prst="rect">
            <a:avLst/>
          </a:prstGeom>
          <a:solidFill>
            <a:srgbClr val="E6E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286000" y="4956048"/>
            <a:ext cx="334670" cy="146304"/>
          </a:xfrm>
          <a:prstGeom prst="rect">
            <a:avLst/>
          </a:prstGeom>
          <a:solidFill>
            <a:srgbClr val="2F5D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6359" y="4882896"/>
            <a:ext cx="548640" cy="274320"/>
          </a:xfrm>
          <a:prstGeom prst="rect">
            <a:avLst/>
          </a:prstGeom>
          <a:noFill/>
        </p:spPr>
        <p:txBody>
          <a:bodyPr wrap="square" anchor="ctr" lIns="0" rIns="0" tIns="0" bIns="0">
            <a:spAutoFit/>
          </a:bodyPr>
          <a:lstStyle/>
          <a:p>
            <a:r>
              <a:rPr sz="1300" b="1">
                <a:solidFill>
                  <a:srgbClr val="1B1F26"/>
                </a:solidFill>
                <a:latin typeface="IBM Plex Mono"/>
              </a:rPr>
              <a:t>0.12</a:t>
            </a:r>
          </a:p>
        </p:txBody>
      </p:sp>
      <p:sp>
        <p:nvSpPr>
          <p:cNvPr id="37" name="TextBox 36"/>
          <p:cNvSpPr txBox="1"/>
          <p:nvPr/>
        </p:nvSpPr>
        <p:spPr>
          <a:xfrm>
            <a:off x="1051560" y="5212080"/>
            <a:ext cx="1234440" cy="274320"/>
          </a:xfrm>
          <a:prstGeom prst="rect">
            <a:avLst/>
          </a:prstGeom>
          <a:noFill/>
        </p:spPr>
        <p:txBody>
          <a:bodyPr wrap="square" anchor="ctr" lIns="0" rIns="0" tIns="0" bIns="0">
            <a:spAutoFit/>
          </a:bodyPr>
          <a:lstStyle/>
          <a:p>
            <a:r>
              <a:rPr sz="1300" b="0">
                <a:solidFill>
                  <a:srgbClr val="1B1F26"/>
                </a:solidFill>
                <a:latin typeface="IBM Plex Mono"/>
              </a:rPr>
              <a:t>“Spam”</a:t>
            </a:r>
          </a:p>
        </p:txBody>
      </p:sp>
      <p:sp>
        <p:nvSpPr>
          <p:cNvPr id="38" name="Rectangle 37"/>
          <p:cNvSpPr/>
          <p:nvPr/>
        </p:nvSpPr>
        <p:spPr>
          <a:xfrm>
            <a:off x="2286000" y="5285232"/>
            <a:ext cx="2788920" cy="146304"/>
          </a:xfrm>
          <a:prstGeom prst="rect">
            <a:avLst/>
          </a:prstGeom>
          <a:solidFill>
            <a:srgbClr val="E6E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286000" y="5285232"/>
            <a:ext cx="223113" cy="146304"/>
          </a:xfrm>
          <a:prstGeom prst="rect">
            <a:avLst/>
          </a:prstGeom>
          <a:solidFill>
            <a:srgbClr val="2F5D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66359" y="5212080"/>
            <a:ext cx="548640" cy="274320"/>
          </a:xfrm>
          <a:prstGeom prst="rect">
            <a:avLst/>
          </a:prstGeom>
          <a:noFill/>
        </p:spPr>
        <p:txBody>
          <a:bodyPr wrap="square" anchor="ctr" lIns="0" rIns="0" tIns="0" bIns="0">
            <a:spAutoFit/>
          </a:bodyPr>
          <a:lstStyle/>
          <a:p>
            <a:r>
              <a:rPr sz="1300" b="1">
                <a:solidFill>
                  <a:srgbClr val="1B1F26"/>
                </a:solidFill>
                <a:latin typeface="IBM Plex Mono"/>
              </a:rPr>
              <a:t>0.08</a:t>
            </a:r>
          </a:p>
        </p:txBody>
      </p:sp>
      <p:sp>
        <p:nvSpPr>
          <p:cNvPr id="41" name="TextBox 40"/>
          <p:cNvSpPr txBox="1"/>
          <p:nvPr/>
        </p:nvSpPr>
        <p:spPr>
          <a:xfrm>
            <a:off x="1051560" y="5559552"/>
            <a:ext cx="4663440" cy="274320"/>
          </a:xfrm>
          <a:prstGeom prst="rect">
            <a:avLst/>
          </a:prstGeom>
          <a:noFill/>
        </p:spPr>
        <p:txBody>
          <a:bodyPr wrap="square" anchor="t" lIns="0" rIns="0" tIns="0" bIns="0">
            <a:spAutoFit/>
          </a:bodyPr>
          <a:lstStyle/>
          <a:p>
            <a:r>
              <a:rPr sz="1200" b="0">
                <a:solidFill>
                  <a:srgbClr val="5B6270"/>
                </a:solidFill>
                <a:latin typeface="Space Grotesk"/>
              </a:rPr>
              <a:t>…then again for every word of the answer.</a:t>
            </a:r>
          </a:p>
        </p:txBody>
      </p:sp>
      <p:sp>
        <p:nvSpPr>
          <p:cNvPr id="42" name="Rounded Rectangle 41"/>
          <p:cNvSpPr/>
          <p:nvPr/>
        </p:nvSpPr>
        <p:spPr>
          <a:xfrm>
            <a:off x="6217920" y="3657600"/>
            <a:ext cx="5157216" cy="2240280"/>
          </a:xfrm>
          <a:prstGeom prst="roundRect">
            <a:avLst>
              <a:gd name="adj" fmla="val 5000"/>
            </a:avLst>
          </a:prstGeom>
          <a:solidFill>
            <a:srgbClr val="1B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55664" y="3822191"/>
            <a:ext cx="4663440" cy="274320"/>
          </a:xfrm>
          <a:prstGeom prst="rect">
            <a:avLst/>
          </a:prstGeom>
          <a:noFill/>
        </p:spPr>
        <p:txBody>
          <a:bodyPr wrap="square" anchor="t" lIns="0" rIns="0" tIns="0" bIns="0">
            <a:spAutoFit/>
          </a:bodyPr>
          <a:lstStyle/>
          <a:p>
            <a:r>
              <a:rPr sz="1400" b="1">
                <a:solidFill>
                  <a:srgbClr val="F4F1EA"/>
                </a:solidFill>
                <a:latin typeface="Space Grotesk"/>
              </a:rPr>
              <a:t>What you get back: text</a:t>
            </a:r>
          </a:p>
        </p:txBody>
      </p:sp>
      <p:sp>
        <p:nvSpPr>
          <p:cNvPr id="44" name="TextBox 43"/>
          <p:cNvSpPr txBox="1"/>
          <p:nvPr/>
        </p:nvSpPr>
        <p:spPr>
          <a:xfrm>
            <a:off x="6455664" y="4206240"/>
            <a:ext cx="4663440" cy="914400"/>
          </a:xfrm>
          <a:prstGeom prst="rect">
            <a:avLst/>
          </a:prstGeom>
          <a:noFill/>
        </p:spPr>
        <p:txBody>
          <a:bodyPr wrap="square" anchor="t" lIns="0" rIns="0" tIns="0" bIns="0">
            <a:spAutoFit/>
          </a:bodyPr>
          <a:lstStyle/>
          <a:p>
            <a:r>
              <a:rPr sz="1400" b="0">
                <a:solidFill>
                  <a:srgbClr val="C3C0BB"/>
                </a:solidFill>
                <a:latin typeface="IBM Plex Mono"/>
              </a:rPr>
              <a:t>“This looks like a phishing email because it asks for sensitive information and uses an urgent tone…”</a:t>
            </a:r>
          </a:p>
        </p:txBody>
      </p:sp>
      <p:sp>
        <p:nvSpPr>
          <p:cNvPr id="45" name="TextBox 44"/>
          <p:cNvSpPr txBox="1"/>
          <p:nvPr/>
        </p:nvSpPr>
        <p:spPr>
          <a:xfrm>
            <a:off x="6455664" y="5257800"/>
            <a:ext cx="4663440" cy="548640"/>
          </a:xfrm>
          <a:prstGeom prst="rect">
            <a:avLst/>
          </a:prstGeom>
          <a:noFill/>
        </p:spPr>
        <p:txBody>
          <a:bodyPr wrap="square" anchor="t" lIns="0" rIns="0" tIns="0" bIns="0">
            <a:spAutoFit/>
          </a:bodyPr>
          <a:lstStyle/>
          <a:p>
            <a:r>
              <a:rPr sz="1300" b="0">
                <a:solidFill>
                  <a:srgbClr val="F0873F"/>
                </a:solidFill>
                <a:latin typeface="Space Grotesk"/>
              </a:rPr>
              <a:t>Then your code parses it and hopes the word “spam” is in there, spelled the way you expect.</a:t>
            </a:r>
          </a:p>
        </p:txBody>
      </p:sp>
      <p:sp>
        <p:nvSpPr>
          <p:cNvPr id="46" name="TextBox 45"/>
          <p:cNvSpPr txBox="1"/>
          <p:nvPr/>
        </p:nvSpPr>
        <p:spPr>
          <a:xfrm>
            <a:off x="813816" y="6236208"/>
            <a:ext cx="10881360" cy="237744"/>
          </a:xfrm>
          <a:prstGeom prst="rect">
            <a:avLst/>
          </a:prstGeom>
          <a:noFill/>
        </p:spPr>
        <p:txBody>
          <a:bodyPr wrap="square" anchor="t" lIns="0" rIns="0" tIns="0" bIns="0">
            <a:spAutoFit/>
          </a:bodyPr>
          <a:lstStyle/>
          <a:p>
            <a:r>
              <a:rPr sz="1200" b="0">
                <a:solidFill>
                  <a:srgbClr val="5B6270"/>
                </a:solidFill>
                <a:latin typeface="Space Grotesk"/>
              </a:rPr>
              <a:t>Simplified: decoder-only transformer, autoregressive generation · Decide in code ·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3816" y="566928"/>
            <a:ext cx="10515600" cy="274320"/>
          </a:xfrm>
          <a:prstGeom prst="rect">
            <a:avLst/>
          </a:prstGeom>
          <a:noFill/>
        </p:spPr>
        <p:txBody>
          <a:bodyPr wrap="square" anchor="t" lIns="0" rIns="0" tIns="0" bIns="0">
            <a:spAutoFit/>
          </a:bodyPr>
          <a:lstStyle/>
          <a:p>
            <a:r>
              <a:rPr sz="1200" b="1">
                <a:solidFill>
                  <a:srgbClr val="B4521A"/>
                </a:solidFill>
                <a:latin typeface="Space Grotesk"/>
              </a:rPr>
              <a:t>UNDER THE HOOD · 2 OF 2</a:t>
            </a:r>
          </a:p>
        </p:txBody>
      </p:sp>
      <p:sp>
        <p:nvSpPr>
          <p:cNvPr id="3" name="TextBox 2"/>
          <p:cNvSpPr txBox="1"/>
          <p:nvPr/>
        </p:nvSpPr>
        <p:spPr>
          <a:xfrm>
            <a:off x="813816" y="868680"/>
            <a:ext cx="10515600" cy="731520"/>
          </a:xfrm>
          <a:prstGeom prst="rect">
            <a:avLst/>
          </a:prstGeom>
          <a:noFill/>
        </p:spPr>
        <p:txBody>
          <a:bodyPr wrap="square" anchor="t" lIns="0" rIns="0" tIns="0" bIns="0">
            <a:spAutoFit/>
          </a:bodyPr>
          <a:lstStyle/>
          <a:p>
            <a:r>
              <a:rPr sz="3600" b="1">
                <a:solidFill>
                  <a:srgbClr val="1B1F26"/>
                </a:solidFill>
                <a:latin typeface="Space Grotesk"/>
              </a:rPr>
              <a:t>How a System One model answers it</a:t>
            </a:r>
          </a:p>
        </p:txBody>
      </p:sp>
      <p:sp>
        <p:nvSpPr>
          <p:cNvPr id="4" name="Rounded Rectangle 3"/>
          <p:cNvSpPr/>
          <p:nvPr/>
        </p:nvSpPr>
        <p:spPr>
          <a:xfrm>
            <a:off x="813816" y="1645920"/>
            <a:ext cx="1883664" cy="1783080"/>
          </a:xfrm>
          <a:prstGeom prst="roundRect">
            <a:avLst>
              <a:gd name="adj" fmla="val 7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792224"/>
            <a:ext cx="1554480" cy="274320"/>
          </a:xfrm>
          <a:prstGeom prst="rect">
            <a:avLst/>
          </a:prstGeom>
          <a:noFill/>
        </p:spPr>
        <p:txBody>
          <a:bodyPr wrap="square" anchor="t" lIns="0" rIns="0" tIns="0" bIns="0">
            <a:spAutoFit/>
          </a:bodyPr>
          <a:lstStyle/>
          <a:p>
            <a:r>
              <a:rPr sz="1200" b="1">
                <a:solidFill>
                  <a:srgbClr val="B4521A"/>
                </a:solidFill>
                <a:latin typeface="IBM Plex Mono"/>
              </a:rPr>
              <a:t>01</a:t>
            </a:r>
          </a:p>
        </p:txBody>
      </p:sp>
      <p:sp>
        <p:nvSpPr>
          <p:cNvPr id="6" name="TextBox 5"/>
          <p:cNvSpPr txBox="1"/>
          <p:nvPr/>
        </p:nvSpPr>
        <p:spPr>
          <a:xfrm>
            <a:off x="978408" y="2057400"/>
            <a:ext cx="1554480" cy="1280160"/>
          </a:xfrm>
          <a:prstGeom prst="rect">
            <a:avLst/>
          </a:prstGeom>
          <a:noFill/>
        </p:spPr>
        <p:txBody>
          <a:bodyPr wrap="square" anchor="t" lIns="0" rIns="0" tIns="0" bIns="0">
            <a:spAutoFit/>
          </a:bodyPr>
          <a:lstStyle/>
          <a:p>
            <a:r>
              <a:rPr sz="1500" b="1">
                <a:solidFill>
                  <a:srgbClr val="1B1F26"/>
                </a:solidFill>
                <a:latin typeface="Space Grotesk"/>
              </a:rPr>
              <a:t>Tokenize</a:t>
            </a:r>
          </a:p>
          <a:p>
            <a:pPr>
              <a:spcBef>
                <a:spcPts val="300"/>
              </a:spcBef>
            </a:pPr>
            <a:r>
              <a:rPr sz="1150" b="0">
                <a:solidFill>
                  <a:srgbClr val="5B6270"/>
                </a:solidFill>
                <a:latin typeface="Space Grotesk"/>
              </a:rPr>
              <a:t>The message, the question, and its answers: [spam, not spam].</a:t>
            </a:r>
          </a:p>
        </p:txBody>
      </p:sp>
      <p:sp>
        <p:nvSpPr>
          <p:cNvPr id="7" name="Right Arrow 6"/>
          <p:cNvSpPr/>
          <p:nvPr/>
        </p:nvSpPr>
        <p:spPr>
          <a:xfrm>
            <a:off x="2724912" y="2418588"/>
            <a:ext cx="237744" cy="237744"/>
          </a:xfrm>
          <a:prstGeom prst="rightArrow">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90088" y="1645920"/>
            <a:ext cx="1883664" cy="1783080"/>
          </a:xfrm>
          <a:prstGeom prst="roundRect">
            <a:avLst>
              <a:gd name="adj" fmla="val 7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1792224"/>
            <a:ext cx="1554480" cy="274320"/>
          </a:xfrm>
          <a:prstGeom prst="rect">
            <a:avLst/>
          </a:prstGeom>
          <a:noFill/>
        </p:spPr>
        <p:txBody>
          <a:bodyPr wrap="square" anchor="t" lIns="0" rIns="0" tIns="0" bIns="0">
            <a:spAutoFit/>
          </a:bodyPr>
          <a:lstStyle/>
          <a:p>
            <a:r>
              <a:rPr sz="1200" b="1">
                <a:solidFill>
                  <a:srgbClr val="B4521A"/>
                </a:solidFill>
                <a:latin typeface="IBM Plex Mono"/>
              </a:rPr>
              <a:t>02</a:t>
            </a:r>
          </a:p>
        </p:txBody>
      </p:sp>
      <p:sp>
        <p:nvSpPr>
          <p:cNvPr id="10" name="TextBox 9"/>
          <p:cNvSpPr txBox="1"/>
          <p:nvPr/>
        </p:nvSpPr>
        <p:spPr>
          <a:xfrm>
            <a:off x="3154680" y="2057400"/>
            <a:ext cx="1554480" cy="1280160"/>
          </a:xfrm>
          <a:prstGeom prst="rect">
            <a:avLst/>
          </a:prstGeom>
          <a:noFill/>
        </p:spPr>
        <p:txBody>
          <a:bodyPr wrap="square" anchor="t" lIns="0" rIns="0" tIns="0" bIns="0">
            <a:spAutoFit/>
          </a:bodyPr>
          <a:lstStyle/>
          <a:p>
            <a:r>
              <a:rPr sz="1500" b="1">
                <a:solidFill>
                  <a:srgbClr val="1B1F26"/>
                </a:solidFill>
                <a:latin typeface="Space Grotesk"/>
              </a:rPr>
              <a:t>Embed</a:t>
            </a:r>
          </a:p>
          <a:p>
            <a:pPr>
              <a:spcBef>
                <a:spcPts val="300"/>
              </a:spcBef>
            </a:pPr>
            <a:r>
              <a:rPr sz="1150" b="0">
                <a:solidFill>
                  <a:srgbClr val="5B6270"/>
                </a:solidFill>
                <a:latin typeface="Space Grotesk"/>
              </a:rPr>
              <a:t>Same as an LLM: every token becomes a vector.</a:t>
            </a:r>
          </a:p>
        </p:txBody>
      </p:sp>
      <p:sp>
        <p:nvSpPr>
          <p:cNvPr id="11" name="Right Arrow 10"/>
          <p:cNvSpPr/>
          <p:nvPr/>
        </p:nvSpPr>
        <p:spPr>
          <a:xfrm>
            <a:off x="4901184" y="2418588"/>
            <a:ext cx="237744" cy="237744"/>
          </a:xfrm>
          <a:prstGeom prst="rightArrow">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6359" y="1645920"/>
            <a:ext cx="1883664" cy="1783080"/>
          </a:xfrm>
          <a:prstGeom prst="roundRect">
            <a:avLst>
              <a:gd name="adj" fmla="val 7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0951" y="1792224"/>
            <a:ext cx="1554480" cy="274320"/>
          </a:xfrm>
          <a:prstGeom prst="rect">
            <a:avLst/>
          </a:prstGeom>
          <a:noFill/>
        </p:spPr>
        <p:txBody>
          <a:bodyPr wrap="square" anchor="t" lIns="0" rIns="0" tIns="0" bIns="0">
            <a:spAutoFit/>
          </a:bodyPr>
          <a:lstStyle/>
          <a:p>
            <a:r>
              <a:rPr sz="1200" b="1">
                <a:solidFill>
                  <a:srgbClr val="B4521A"/>
                </a:solidFill>
                <a:latin typeface="IBM Plex Mono"/>
              </a:rPr>
              <a:t>03</a:t>
            </a:r>
          </a:p>
        </p:txBody>
      </p:sp>
      <p:sp>
        <p:nvSpPr>
          <p:cNvPr id="14" name="TextBox 13"/>
          <p:cNvSpPr txBox="1"/>
          <p:nvPr/>
        </p:nvSpPr>
        <p:spPr>
          <a:xfrm>
            <a:off x="5330951" y="2057400"/>
            <a:ext cx="1554480" cy="1280160"/>
          </a:xfrm>
          <a:prstGeom prst="rect">
            <a:avLst/>
          </a:prstGeom>
          <a:noFill/>
        </p:spPr>
        <p:txBody>
          <a:bodyPr wrap="square" anchor="t" lIns="0" rIns="0" tIns="0" bIns="0">
            <a:spAutoFit/>
          </a:bodyPr>
          <a:lstStyle/>
          <a:p>
            <a:r>
              <a:rPr sz="1500" b="1">
                <a:solidFill>
                  <a:srgbClr val="1B1F26"/>
                </a:solidFill>
                <a:latin typeface="Space Grotesk"/>
              </a:rPr>
              <a:t>Layers × N</a:t>
            </a:r>
          </a:p>
          <a:p>
            <a:pPr>
              <a:spcBef>
                <a:spcPts val="300"/>
              </a:spcBef>
            </a:pPr>
            <a:r>
              <a:rPr sz="1150" b="0">
                <a:solidFill>
                  <a:srgbClr val="5B6270"/>
                </a:solidFill>
                <a:latin typeface="Space Grotesk"/>
              </a:rPr>
              <a:t>Same kind of layers: circuit-8b's body is an 8B LLM. Runs once.</a:t>
            </a:r>
          </a:p>
        </p:txBody>
      </p:sp>
      <p:sp>
        <p:nvSpPr>
          <p:cNvPr id="15" name="Right Arrow 14"/>
          <p:cNvSpPr/>
          <p:nvPr/>
        </p:nvSpPr>
        <p:spPr>
          <a:xfrm>
            <a:off x="7077455" y="2418588"/>
            <a:ext cx="237744" cy="237744"/>
          </a:xfrm>
          <a:prstGeom prst="rightArrow">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42631" y="1645920"/>
            <a:ext cx="1883664" cy="1783080"/>
          </a:xfrm>
          <a:prstGeom prst="roundRect">
            <a:avLst>
              <a:gd name="adj" fmla="val 7000"/>
            </a:avLst>
          </a:prstGeom>
          <a:solidFill>
            <a:srgbClr val="FFFFFF"/>
          </a:solidFill>
          <a:ln w="9525">
            <a:solidFill>
              <a:srgbClr val="B4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07223" y="1792224"/>
            <a:ext cx="1554480" cy="274320"/>
          </a:xfrm>
          <a:prstGeom prst="rect">
            <a:avLst/>
          </a:prstGeom>
          <a:noFill/>
        </p:spPr>
        <p:txBody>
          <a:bodyPr wrap="square" anchor="t" lIns="0" rIns="0" tIns="0" bIns="0">
            <a:spAutoFit/>
          </a:bodyPr>
          <a:lstStyle/>
          <a:p>
            <a:r>
              <a:rPr sz="1200" b="1">
                <a:solidFill>
                  <a:srgbClr val="B4521A"/>
                </a:solidFill>
                <a:latin typeface="IBM Plex Mono"/>
              </a:rPr>
              <a:t>04</a:t>
            </a:r>
          </a:p>
        </p:txBody>
      </p:sp>
      <p:sp>
        <p:nvSpPr>
          <p:cNvPr id="18" name="TextBox 17"/>
          <p:cNvSpPr txBox="1"/>
          <p:nvPr/>
        </p:nvSpPr>
        <p:spPr>
          <a:xfrm>
            <a:off x="7507223" y="2057400"/>
            <a:ext cx="1554480" cy="1280160"/>
          </a:xfrm>
          <a:prstGeom prst="rect">
            <a:avLst/>
          </a:prstGeom>
          <a:noFill/>
        </p:spPr>
        <p:txBody>
          <a:bodyPr wrap="square" anchor="t" lIns="0" rIns="0" tIns="0" bIns="0">
            <a:spAutoFit/>
          </a:bodyPr>
          <a:lstStyle/>
          <a:p>
            <a:r>
              <a:rPr sz="1500" b="1">
                <a:solidFill>
                  <a:srgbClr val="1B1F26"/>
                </a:solidFill>
                <a:latin typeface="Space Grotesk"/>
              </a:rPr>
              <a:t>Decision head</a:t>
            </a:r>
          </a:p>
          <a:p>
            <a:pPr>
              <a:spcBef>
                <a:spcPts val="300"/>
              </a:spcBef>
            </a:pPr>
            <a:r>
              <a:rPr sz="1150" b="0">
                <a:solidFill>
                  <a:srgbClr val="5B6270"/>
                </a:solidFill>
                <a:latin typeface="Space Grotesk"/>
              </a:rPr>
              <a:t>Scores only the answers you allowed, not the whole vocabulary.</a:t>
            </a:r>
          </a:p>
        </p:txBody>
      </p:sp>
      <p:sp>
        <p:nvSpPr>
          <p:cNvPr id="19" name="Right Arrow 18"/>
          <p:cNvSpPr/>
          <p:nvPr/>
        </p:nvSpPr>
        <p:spPr>
          <a:xfrm>
            <a:off x="9253728" y="2418588"/>
            <a:ext cx="237744" cy="237744"/>
          </a:xfrm>
          <a:prstGeom prst="rightArrow">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518904" y="1645920"/>
            <a:ext cx="1883664" cy="1783080"/>
          </a:xfrm>
          <a:prstGeom prst="roundRect">
            <a:avLst>
              <a:gd name="adj" fmla="val 7000"/>
            </a:avLst>
          </a:prstGeom>
          <a:solidFill>
            <a:srgbClr val="FFFFFF"/>
          </a:solidFill>
          <a:ln w="9525">
            <a:solidFill>
              <a:srgbClr val="B4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83496" y="1792224"/>
            <a:ext cx="1554480" cy="274320"/>
          </a:xfrm>
          <a:prstGeom prst="rect">
            <a:avLst/>
          </a:prstGeom>
          <a:noFill/>
        </p:spPr>
        <p:txBody>
          <a:bodyPr wrap="square" anchor="t" lIns="0" rIns="0" tIns="0" bIns="0">
            <a:spAutoFit/>
          </a:bodyPr>
          <a:lstStyle/>
          <a:p>
            <a:r>
              <a:rPr sz="1200" b="1">
                <a:solidFill>
                  <a:srgbClr val="B4521A"/>
                </a:solidFill>
                <a:latin typeface="IBM Plex Mono"/>
              </a:rPr>
              <a:t>05</a:t>
            </a:r>
          </a:p>
        </p:txBody>
      </p:sp>
      <p:sp>
        <p:nvSpPr>
          <p:cNvPr id="22" name="TextBox 21"/>
          <p:cNvSpPr txBox="1"/>
          <p:nvPr/>
        </p:nvSpPr>
        <p:spPr>
          <a:xfrm>
            <a:off x="9683496" y="2057400"/>
            <a:ext cx="1554480" cy="1280160"/>
          </a:xfrm>
          <a:prstGeom prst="rect">
            <a:avLst/>
          </a:prstGeom>
          <a:noFill/>
        </p:spPr>
        <p:txBody>
          <a:bodyPr wrap="square" anchor="t" lIns="0" rIns="0" tIns="0" bIns="0">
            <a:spAutoFit/>
          </a:bodyPr>
          <a:lstStyle/>
          <a:p>
            <a:r>
              <a:rPr sz="1500" b="1">
                <a:solidFill>
                  <a:srgbClr val="1B1F26"/>
                </a:solidFill>
                <a:latin typeface="Space Grotesk"/>
              </a:rPr>
              <a:t>Softmax, done</a:t>
            </a:r>
          </a:p>
          <a:p>
            <a:pPr>
              <a:spcBef>
                <a:spcPts val="300"/>
              </a:spcBef>
            </a:pPr>
            <a:r>
              <a:rPr sz="1150" b="0">
                <a:solidFill>
                  <a:srgbClr val="5B6270"/>
                </a:solidFill>
                <a:latin typeface="Space Grotesk"/>
              </a:rPr>
              <a:t>Probabilities that sum to 1. Nothing is generated. No loop.</a:t>
            </a:r>
          </a:p>
        </p:txBody>
      </p:sp>
      <p:sp>
        <p:nvSpPr>
          <p:cNvPr id="23" name="Rounded Rectangle 22"/>
          <p:cNvSpPr/>
          <p:nvPr/>
        </p:nvSpPr>
        <p:spPr>
          <a:xfrm>
            <a:off x="813816" y="3657600"/>
            <a:ext cx="5120640" cy="2240280"/>
          </a:xfrm>
          <a:prstGeom prst="roundRect">
            <a:avLst>
              <a:gd name="adj" fmla="val 5000"/>
            </a:avLst>
          </a:prstGeom>
          <a:solidFill>
            <a:srgbClr val="FBFAF6"/>
          </a:solidFill>
          <a:ln w="9525">
            <a:solidFill>
              <a:srgbClr val="D9D3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3822191"/>
            <a:ext cx="4663440" cy="274320"/>
          </a:xfrm>
          <a:prstGeom prst="rect">
            <a:avLst/>
          </a:prstGeom>
          <a:noFill/>
        </p:spPr>
        <p:txBody>
          <a:bodyPr wrap="square" anchor="t" lIns="0" rIns="0" tIns="0" bIns="0">
            <a:spAutoFit/>
          </a:bodyPr>
          <a:lstStyle/>
          <a:p>
            <a:r>
              <a:rPr sz="1400" b="1">
                <a:solidFill>
                  <a:srgbClr val="1B1F26"/>
                </a:solidFill>
                <a:latin typeface="Space Grotesk"/>
              </a:rPr>
              <a:t>The only step: probabilities for YOUR answers</a:t>
            </a:r>
          </a:p>
        </p:txBody>
      </p:sp>
      <p:sp>
        <p:nvSpPr>
          <p:cNvPr id="25" name="TextBox 24"/>
          <p:cNvSpPr txBox="1"/>
          <p:nvPr/>
        </p:nvSpPr>
        <p:spPr>
          <a:xfrm>
            <a:off x="1051560" y="4343400"/>
            <a:ext cx="1234440" cy="274320"/>
          </a:xfrm>
          <a:prstGeom prst="rect">
            <a:avLst/>
          </a:prstGeom>
          <a:noFill/>
        </p:spPr>
        <p:txBody>
          <a:bodyPr wrap="square" anchor="ctr" lIns="0" rIns="0" tIns="0" bIns="0">
            <a:spAutoFit/>
          </a:bodyPr>
          <a:lstStyle/>
          <a:p>
            <a:r>
              <a:rPr sz="1300" b="0">
                <a:solidFill>
                  <a:srgbClr val="1B1F26"/>
                </a:solidFill>
                <a:latin typeface="IBM Plex Mono"/>
              </a:rPr>
              <a:t>spam</a:t>
            </a:r>
          </a:p>
        </p:txBody>
      </p:sp>
      <p:sp>
        <p:nvSpPr>
          <p:cNvPr id="26" name="Rectangle 25"/>
          <p:cNvSpPr/>
          <p:nvPr/>
        </p:nvSpPr>
        <p:spPr>
          <a:xfrm>
            <a:off x="2286000" y="4416552"/>
            <a:ext cx="2788920" cy="146304"/>
          </a:xfrm>
          <a:prstGeom prst="rect">
            <a:avLst/>
          </a:prstGeom>
          <a:solidFill>
            <a:srgbClr val="E6E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86000" y="4416552"/>
            <a:ext cx="2565806" cy="146304"/>
          </a:xfrm>
          <a:prstGeom prst="rect">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66359" y="4343400"/>
            <a:ext cx="548640" cy="274320"/>
          </a:xfrm>
          <a:prstGeom prst="rect">
            <a:avLst/>
          </a:prstGeom>
          <a:noFill/>
        </p:spPr>
        <p:txBody>
          <a:bodyPr wrap="square" anchor="ctr" lIns="0" rIns="0" tIns="0" bIns="0">
            <a:spAutoFit/>
          </a:bodyPr>
          <a:lstStyle/>
          <a:p>
            <a:r>
              <a:rPr sz="1300" b="1">
                <a:solidFill>
                  <a:srgbClr val="1B1F26"/>
                </a:solidFill>
                <a:latin typeface="IBM Plex Mono"/>
              </a:rPr>
              <a:t>0.92</a:t>
            </a:r>
          </a:p>
        </p:txBody>
      </p:sp>
      <p:sp>
        <p:nvSpPr>
          <p:cNvPr id="29" name="TextBox 28"/>
          <p:cNvSpPr txBox="1"/>
          <p:nvPr/>
        </p:nvSpPr>
        <p:spPr>
          <a:xfrm>
            <a:off x="1051560" y="4672584"/>
            <a:ext cx="1234440" cy="274320"/>
          </a:xfrm>
          <a:prstGeom prst="rect">
            <a:avLst/>
          </a:prstGeom>
          <a:noFill/>
        </p:spPr>
        <p:txBody>
          <a:bodyPr wrap="square" anchor="ctr" lIns="0" rIns="0" tIns="0" bIns="0">
            <a:spAutoFit/>
          </a:bodyPr>
          <a:lstStyle/>
          <a:p>
            <a:r>
              <a:rPr sz="1300" b="0">
                <a:solidFill>
                  <a:srgbClr val="1B1F26"/>
                </a:solidFill>
                <a:latin typeface="IBM Plex Mono"/>
              </a:rPr>
              <a:t>not spam</a:t>
            </a:r>
          </a:p>
        </p:txBody>
      </p:sp>
      <p:sp>
        <p:nvSpPr>
          <p:cNvPr id="30" name="Rectangle 29"/>
          <p:cNvSpPr/>
          <p:nvPr/>
        </p:nvSpPr>
        <p:spPr>
          <a:xfrm>
            <a:off x="2286000" y="4745736"/>
            <a:ext cx="2788920" cy="146304"/>
          </a:xfrm>
          <a:prstGeom prst="rect">
            <a:avLst/>
          </a:prstGeom>
          <a:solidFill>
            <a:srgbClr val="E6E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86000" y="4745736"/>
            <a:ext cx="223113" cy="146304"/>
          </a:xfrm>
          <a:prstGeom prst="rect">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66359" y="4672584"/>
            <a:ext cx="548640" cy="274320"/>
          </a:xfrm>
          <a:prstGeom prst="rect">
            <a:avLst/>
          </a:prstGeom>
          <a:noFill/>
        </p:spPr>
        <p:txBody>
          <a:bodyPr wrap="square" anchor="ctr" lIns="0" rIns="0" tIns="0" bIns="0">
            <a:spAutoFit/>
          </a:bodyPr>
          <a:lstStyle/>
          <a:p>
            <a:r>
              <a:rPr sz="1300" b="1">
                <a:solidFill>
                  <a:srgbClr val="1B1F26"/>
                </a:solidFill>
                <a:latin typeface="IBM Plex Mono"/>
              </a:rPr>
              <a:t>0.08</a:t>
            </a:r>
          </a:p>
        </p:txBody>
      </p:sp>
      <p:sp>
        <p:nvSpPr>
          <p:cNvPr id="33" name="TextBox 32"/>
          <p:cNvSpPr txBox="1"/>
          <p:nvPr/>
        </p:nvSpPr>
        <p:spPr>
          <a:xfrm>
            <a:off x="1051560" y="5166360"/>
            <a:ext cx="4663440" cy="548640"/>
          </a:xfrm>
          <a:prstGeom prst="rect">
            <a:avLst/>
          </a:prstGeom>
          <a:noFill/>
        </p:spPr>
        <p:txBody>
          <a:bodyPr wrap="square" anchor="t" lIns="0" rIns="0" tIns="0" bIns="0">
            <a:spAutoFit/>
          </a:bodyPr>
          <a:lstStyle/>
          <a:p>
            <a:r>
              <a:rPr sz="1200" b="0">
                <a:solidFill>
                  <a:srgbClr val="5B6270"/>
                </a:solidFill>
                <a:latin typeface="Space Grotesk"/>
              </a:rPr>
              <a:t>One forward pass answers every question you asked, all at once.</a:t>
            </a:r>
          </a:p>
        </p:txBody>
      </p:sp>
      <p:sp>
        <p:nvSpPr>
          <p:cNvPr id="34" name="Rounded Rectangle 33"/>
          <p:cNvSpPr/>
          <p:nvPr/>
        </p:nvSpPr>
        <p:spPr>
          <a:xfrm>
            <a:off x="6217920" y="3657600"/>
            <a:ext cx="5157216" cy="2240280"/>
          </a:xfrm>
          <a:prstGeom prst="roundRect">
            <a:avLst>
              <a:gd name="adj" fmla="val 5000"/>
            </a:avLst>
          </a:prstGeom>
          <a:solidFill>
            <a:srgbClr val="1B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55664" y="3822191"/>
            <a:ext cx="4663440" cy="274320"/>
          </a:xfrm>
          <a:prstGeom prst="rect">
            <a:avLst/>
          </a:prstGeom>
          <a:noFill/>
        </p:spPr>
        <p:txBody>
          <a:bodyPr wrap="square" anchor="t" lIns="0" rIns="0" tIns="0" bIns="0">
            <a:spAutoFit/>
          </a:bodyPr>
          <a:lstStyle/>
          <a:p>
            <a:r>
              <a:rPr sz="1400" b="1">
                <a:solidFill>
                  <a:srgbClr val="F4F1EA"/>
                </a:solidFill>
                <a:latin typeface="Space Grotesk"/>
              </a:rPr>
              <a:t>What you get back: numbers</a:t>
            </a:r>
          </a:p>
        </p:txBody>
      </p:sp>
      <p:sp>
        <p:nvSpPr>
          <p:cNvPr id="36" name="TextBox 35"/>
          <p:cNvSpPr txBox="1"/>
          <p:nvPr/>
        </p:nvSpPr>
        <p:spPr>
          <a:xfrm>
            <a:off x="6455664" y="4206240"/>
            <a:ext cx="4663440" cy="914400"/>
          </a:xfrm>
          <a:prstGeom prst="rect">
            <a:avLst/>
          </a:prstGeom>
          <a:noFill/>
        </p:spPr>
        <p:txBody>
          <a:bodyPr wrap="square" anchor="t" lIns="0" rIns="0" tIns="0" bIns="0">
            <a:spAutoFit/>
          </a:bodyPr>
          <a:lstStyle/>
          <a:p>
            <a:r>
              <a:rPr sz="1600" b="0">
                <a:solidFill>
                  <a:srgbClr val="C3C0BB"/>
                </a:solidFill>
                <a:latin typeface="IBM Plex Mono"/>
              </a:rPr>
              <a:t>{ "spam": 0.92, "not_spam": 0.08 }</a:t>
            </a:r>
          </a:p>
        </p:txBody>
      </p:sp>
      <p:sp>
        <p:nvSpPr>
          <p:cNvPr id="37" name="TextBox 36"/>
          <p:cNvSpPr txBox="1"/>
          <p:nvPr/>
        </p:nvSpPr>
        <p:spPr>
          <a:xfrm>
            <a:off x="6455664" y="4892040"/>
            <a:ext cx="4663440" cy="822960"/>
          </a:xfrm>
          <a:prstGeom prst="rect">
            <a:avLst/>
          </a:prstGeom>
          <a:noFill/>
        </p:spPr>
        <p:txBody>
          <a:bodyPr wrap="square" anchor="t" lIns="0" rIns="0" tIns="0" bIns="0">
            <a:spAutoFit/>
          </a:bodyPr>
          <a:lstStyle/>
          <a:p>
            <a:r>
              <a:rPr sz="1300" b="0">
                <a:solidFill>
                  <a:srgbClr val="F0873F"/>
                </a:solidFill>
                <a:latin typeface="Space Grotesk"/>
              </a:rPr>
              <a:t>Your code reads 0.92, compares it to a threshold, and decides. Same body, different head.</a:t>
            </a:r>
          </a:p>
        </p:txBody>
      </p:sp>
      <p:sp>
        <p:nvSpPr>
          <p:cNvPr id="38" name="TextBox 37"/>
          <p:cNvSpPr txBox="1"/>
          <p:nvPr/>
        </p:nvSpPr>
        <p:spPr>
          <a:xfrm>
            <a:off x="813816" y="6236208"/>
            <a:ext cx="10881360" cy="237744"/>
          </a:xfrm>
          <a:prstGeom prst="rect">
            <a:avLst/>
          </a:prstGeom>
          <a:noFill/>
        </p:spPr>
        <p:txBody>
          <a:bodyPr wrap="square" anchor="t" lIns="0" rIns="0" tIns="0" bIns="0">
            <a:spAutoFit/>
          </a:bodyPr>
          <a:lstStyle/>
          <a:p>
            <a:r>
              <a:rPr sz="1200" b="0">
                <a:solidFill>
                  <a:srgbClr val="5B6270"/>
                </a:solidFill>
                <a:latin typeface="Space Grotesk"/>
              </a:rPr>
              <a:t>Mechanism: circuit-8b model card, huggingface.co/jbarney · Jev's internals aren't public · Decide in code · 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3816" y="566928"/>
            <a:ext cx="10515600" cy="274320"/>
          </a:xfrm>
          <a:prstGeom prst="rect">
            <a:avLst/>
          </a:prstGeom>
          <a:noFill/>
        </p:spPr>
        <p:txBody>
          <a:bodyPr wrap="square" anchor="t" lIns="0" rIns="0" tIns="0" bIns="0">
            <a:spAutoFit/>
          </a:bodyPr>
          <a:lstStyle/>
          <a:p>
            <a:r>
              <a:rPr sz="1200" b="1">
                <a:solidFill>
                  <a:srgbClr val="B4521A"/>
                </a:solidFill>
                <a:latin typeface="Space Grotesk"/>
              </a:rPr>
              <a:t>SIDE BY SIDE</a:t>
            </a:r>
          </a:p>
        </p:txBody>
      </p:sp>
      <p:sp>
        <p:nvSpPr>
          <p:cNvPr id="3" name="TextBox 2"/>
          <p:cNvSpPr txBox="1"/>
          <p:nvPr/>
        </p:nvSpPr>
        <p:spPr>
          <a:xfrm>
            <a:off x="813816" y="868680"/>
            <a:ext cx="10515600" cy="731520"/>
          </a:xfrm>
          <a:prstGeom prst="rect">
            <a:avLst/>
          </a:prstGeom>
          <a:noFill/>
        </p:spPr>
        <p:txBody>
          <a:bodyPr wrap="square" anchor="t" lIns="0" rIns="0" tIns="0" bIns="0">
            <a:spAutoFit/>
          </a:bodyPr>
          <a:lstStyle/>
          <a:p>
            <a:r>
              <a:rPr sz="3600" b="1">
                <a:solidFill>
                  <a:srgbClr val="1B1F26"/>
                </a:solidFill>
                <a:latin typeface="Space Grotesk"/>
              </a:rPr>
              <a:t>Same engine, different job</a:t>
            </a:r>
          </a:p>
        </p:txBody>
      </p:sp>
      <p:graphicFrame>
        <p:nvGraphicFramePr>
          <p:cNvPr id="4" name="Table 3"/>
          <p:cNvGraphicFramePr>
            <a:graphicFrameLocks noGrp="1"/>
          </p:cNvGraphicFramePr>
          <p:nvPr/>
        </p:nvGraphicFramePr>
        <p:xfrm>
          <a:off x="813816" y="1737360"/>
          <a:ext cx="10561320" cy="4023360"/>
        </p:xfrm>
        <a:graphic>
          <a:graphicData uri="http://schemas.openxmlformats.org/drawingml/2006/table">
            <a:tbl>
              <a:tblPr firstRow="1" bandRow="1">
                <a:tableStyleId>{5C22544A-7EE6-4342-B048-85BDC9FD1C3A}</a:tableStyleId>
              </a:tblPr>
              <a:tblGrid>
                <a:gridCol w="2377440"/>
                <a:gridCol w="4069080"/>
                <a:gridCol w="4114800"/>
              </a:tblGrid>
              <a:tr h="574765">
                <a:tc>
                  <a:txBody>
                    <a:bodyPr wrap="square"/>
                    <a:lstStyle/>
                    <a:p>
                      <a:r>
                        <a:rPr sz="1500" b="1">
                          <a:solidFill>
                            <a:srgbClr val="F4F1EA"/>
                          </a:solidFill>
                          <a:latin typeface="Space Grotesk"/>
                        </a:rPr>
                        <a:t/>
                      </a:r>
                    </a:p>
                  </a:txBody>
                  <a:tcPr marL="137160" marR="137160" marT="73152" marB="73152" anchor="ctr">
                    <a:solidFill>
                      <a:srgbClr val="1B1F26"/>
                    </a:solidFill>
                  </a:tcPr>
                </a:tc>
                <a:tc>
                  <a:txBody>
                    <a:bodyPr wrap="square"/>
                    <a:lstStyle/>
                    <a:p>
                      <a:r>
                        <a:rPr sz="1500" b="1">
                          <a:solidFill>
                            <a:srgbClr val="9DB8E0"/>
                          </a:solidFill>
                          <a:latin typeface="Space Grotesk"/>
                        </a:rPr>
                        <a:t>LLM (generative)</a:t>
                      </a:r>
                    </a:p>
                  </a:txBody>
                  <a:tcPr marL="137160" marR="137160" marT="73152" marB="73152" anchor="ctr">
                    <a:solidFill>
                      <a:srgbClr val="1B1F26"/>
                    </a:solidFill>
                  </a:tcPr>
                </a:tc>
                <a:tc>
                  <a:txBody>
                    <a:bodyPr wrap="square"/>
                    <a:lstStyle/>
                    <a:p>
                      <a:r>
                        <a:rPr sz="1500" b="1">
                          <a:solidFill>
                            <a:srgbClr val="F0873F"/>
                          </a:solidFill>
                          <a:latin typeface="Space Grotesk"/>
                        </a:rPr>
                        <a:t>System One (decision)</a:t>
                      </a:r>
                    </a:p>
                  </a:txBody>
                  <a:tcPr marL="137160" marR="137160" marT="73152" marB="73152" anchor="ctr">
                    <a:solidFill>
                      <a:srgbClr val="1B1F26"/>
                    </a:solidFill>
                  </a:tcPr>
                </a:tc>
              </a:tr>
              <a:tr h="574765">
                <a:tc>
                  <a:txBody>
                    <a:bodyPr wrap="square"/>
                    <a:lstStyle/>
                    <a:p>
                      <a:r>
                        <a:rPr sz="1500" b="1">
                          <a:solidFill>
                            <a:srgbClr val="1B1F26"/>
                          </a:solidFill>
                          <a:latin typeface="Space Grotesk"/>
                        </a:rPr>
                        <a:t>Produces</a:t>
                      </a:r>
                    </a:p>
                  </a:txBody>
                  <a:tcPr marL="137160" marR="137160" marT="73152" marB="73152" anchor="ctr">
                    <a:solidFill>
                      <a:srgbClr val="FBFAF6"/>
                    </a:solidFill>
                  </a:tcPr>
                </a:tc>
                <a:tc>
                  <a:txBody>
                    <a:bodyPr wrap="square"/>
                    <a:lstStyle/>
                    <a:p>
                      <a:r>
                        <a:rPr sz="1500" b="0">
                          <a:solidFill>
                            <a:srgbClr val="1B1F26"/>
                          </a:solidFill>
                          <a:latin typeface="Space Grotesk"/>
                        </a:rPr>
                        <a:t>Text, one token at a time</a:t>
                      </a:r>
                    </a:p>
                  </a:txBody>
                  <a:tcPr marL="137160" marR="137160" marT="73152" marB="73152" anchor="ctr">
                    <a:solidFill>
                      <a:srgbClr val="FBFAF6"/>
                    </a:solidFill>
                  </a:tcPr>
                </a:tc>
                <a:tc>
                  <a:txBody>
                    <a:bodyPr wrap="square"/>
                    <a:lstStyle/>
                    <a:p>
                      <a:r>
                        <a:rPr sz="1500" b="0">
                          <a:solidFill>
                            <a:srgbClr val="1B1F26"/>
                          </a:solidFill>
                          <a:latin typeface="Space Grotesk"/>
                        </a:rPr>
                        <a:t>A probability for each answer you allowed</a:t>
                      </a:r>
                    </a:p>
                  </a:txBody>
                  <a:tcPr marL="137160" marR="137160" marT="73152" marB="73152" anchor="ctr">
                    <a:solidFill>
                      <a:srgbClr val="FBFAF6"/>
                    </a:solidFill>
                  </a:tcPr>
                </a:tc>
              </a:tr>
              <a:tr h="574765">
                <a:tc>
                  <a:txBody>
                    <a:bodyPr wrap="square"/>
                    <a:lstStyle/>
                    <a:p>
                      <a:r>
                        <a:rPr sz="1500" b="1">
                          <a:solidFill>
                            <a:srgbClr val="1B1F26"/>
                          </a:solidFill>
                          <a:latin typeface="Space Grotesk"/>
                        </a:rPr>
                        <a:t>Passes per answer</a:t>
                      </a:r>
                    </a:p>
                  </a:txBody>
                  <a:tcPr marL="137160" marR="137160" marT="73152" marB="73152" anchor="ctr">
                    <a:solidFill>
                      <a:srgbClr val="F1EDE3"/>
                    </a:solidFill>
                  </a:tcPr>
                </a:tc>
                <a:tc>
                  <a:txBody>
                    <a:bodyPr wrap="square"/>
                    <a:lstStyle/>
                    <a:p>
                      <a:r>
                        <a:rPr sz="1500" b="0">
                          <a:solidFill>
                            <a:srgbClr val="1B1F26"/>
                          </a:solidFill>
                          <a:latin typeface="Space Grotesk"/>
                        </a:rPr>
                        <a:t>One per output token</a:t>
                      </a:r>
                    </a:p>
                  </a:txBody>
                  <a:tcPr marL="137160" marR="137160" marT="73152" marB="73152" anchor="ctr">
                    <a:solidFill>
                      <a:srgbClr val="F1EDE3"/>
                    </a:solidFill>
                  </a:tcPr>
                </a:tc>
                <a:tc>
                  <a:txBody>
                    <a:bodyPr wrap="square"/>
                    <a:lstStyle/>
                    <a:p>
                      <a:r>
                        <a:rPr sz="1500" b="0">
                          <a:solidFill>
                            <a:srgbClr val="1B1F26"/>
                          </a:solidFill>
                          <a:latin typeface="Space Grotesk"/>
                        </a:rPr>
                        <a:t>One, for every question at once</a:t>
                      </a:r>
                    </a:p>
                  </a:txBody>
                  <a:tcPr marL="137160" marR="137160" marT="73152" marB="73152" anchor="ctr">
                    <a:solidFill>
                      <a:srgbClr val="F1EDE3"/>
                    </a:solidFill>
                  </a:tcPr>
                </a:tc>
              </a:tr>
              <a:tr h="574765">
                <a:tc>
                  <a:txBody>
                    <a:bodyPr wrap="square"/>
                    <a:lstStyle/>
                    <a:p>
                      <a:r>
                        <a:rPr sz="1500" b="1">
                          <a:solidFill>
                            <a:srgbClr val="1B1F26"/>
                          </a:solidFill>
                          <a:latin typeface="Space Grotesk"/>
                        </a:rPr>
                        <a:t>Last layer scores</a:t>
                      </a:r>
                    </a:p>
                  </a:txBody>
                  <a:tcPr marL="137160" marR="137160" marT="73152" marB="73152" anchor="ctr">
                    <a:solidFill>
                      <a:srgbClr val="FBFAF6"/>
                    </a:solidFill>
                  </a:tcPr>
                </a:tc>
                <a:tc>
                  <a:txBody>
                    <a:bodyPr wrap="square"/>
                    <a:lstStyle/>
                    <a:p>
                      <a:r>
                        <a:rPr sz="1500" b="0">
                          <a:solidFill>
                            <a:srgbClr val="1B1F26"/>
                          </a:solidFill>
                          <a:latin typeface="Space Grotesk"/>
                        </a:rPr>
                        <a:t>The whole vocabulary (~100k+)</a:t>
                      </a:r>
                    </a:p>
                  </a:txBody>
                  <a:tcPr marL="137160" marR="137160" marT="73152" marB="73152" anchor="ctr">
                    <a:solidFill>
                      <a:srgbClr val="FBFAF6"/>
                    </a:solidFill>
                  </a:tcPr>
                </a:tc>
                <a:tc>
                  <a:txBody>
                    <a:bodyPr wrap="square"/>
                    <a:lstStyle/>
                    <a:p>
                      <a:r>
                        <a:rPr sz="1500" b="0">
                          <a:solidFill>
                            <a:srgbClr val="1B1F26"/>
                          </a:solidFill>
                          <a:latin typeface="Space Grotesk"/>
                        </a:rPr>
                        <a:t>Only your allowed answers</a:t>
                      </a:r>
                    </a:p>
                  </a:txBody>
                  <a:tcPr marL="137160" marR="137160" marT="73152" marB="73152" anchor="ctr">
                    <a:solidFill>
                      <a:srgbClr val="FBFAF6"/>
                    </a:solidFill>
                  </a:tcPr>
                </a:tc>
              </a:tr>
              <a:tr h="574765">
                <a:tc>
                  <a:txBody>
                    <a:bodyPr wrap="square"/>
                    <a:lstStyle/>
                    <a:p>
                      <a:r>
                        <a:rPr sz="1500" b="1">
                          <a:solidFill>
                            <a:srgbClr val="1B1F26"/>
                          </a:solidFill>
                          <a:latin typeface="Space Grotesk"/>
                        </a:rPr>
                        <a:t>Trained to</a:t>
                      </a:r>
                    </a:p>
                  </a:txBody>
                  <a:tcPr marL="137160" marR="137160" marT="73152" marB="73152" anchor="ctr">
                    <a:solidFill>
                      <a:srgbClr val="F1EDE3"/>
                    </a:solidFill>
                  </a:tcPr>
                </a:tc>
                <a:tc>
                  <a:txBody>
                    <a:bodyPr wrap="square"/>
                    <a:lstStyle/>
                    <a:p>
                      <a:r>
                        <a:rPr sz="1500" b="0">
                          <a:solidFill>
                            <a:srgbClr val="1B1F26"/>
                          </a:solidFill>
                          <a:latin typeface="Space Grotesk"/>
                        </a:rPr>
                        <a:t>Predict the next token</a:t>
                      </a:r>
                    </a:p>
                  </a:txBody>
                  <a:tcPr marL="137160" marR="137160" marT="73152" marB="73152" anchor="ctr">
                    <a:solidFill>
                      <a:srgbClr val="F1EDE3"/>
                    </a:solidFill>
                  </a:tcPr>
                </a:tc>
                <a:tc>
                  <a:txBody>
                    <a:bodyPr wrap="square"/>
                    <a:lstStyle/>
                    <a:p>
                      <a:r>
                        <a:rPr sz="1500" b="0">
                          <a:solidFill>
                            <a:srgbClr val="1B1F26"/>
                          </a:solidFill>
                          <a:latin typeface="Space Grotesk"/>
                        </a:rPr>
                        <a:t>Match real outcomes (calibrated)</a:t>
                      </a:r>
                    </a:p>
                  </a:txBody>
                  <a:tcPr marL="137160" marR="137160" marT="73152" marB="73152" anchor="ctr">
                    <a:solidFill>
                      <a:srgbClr val="F1EDE3"/>
                    </a:solidFill>
                  </a:tcPr>
                </a:tc>
              </a:tr>
              <a:tr h="574765">
                <a:tc>
                  <a:txBody>
                    <a:bodyPr wrap="square"/>
                    <a:lstStyle/>
                    <a:p>
                      <a:r>
                        <a:rPr sz="1500" b="1">
                          <a:solidFill>
                            <a:srgbClr val="1B1F26"/>
                          </a:solidFill>
                          <a:latin typeface="Space Grotesk"/>
                        </a:rPr>
                        <a:t>Great at</a:t>
                      </a:r>
                    </a:p>
                  </a:txBody>
                  <a:tcPr marL="137160" marR="137160" marT="73152" marB="73152" anchor="ctr">
                    <a:solidFill>
                      <a:srgbClr val="FBFAF6"/>
                    </a:solidFill>
                  </a:tcPr>
                </a:tc>
                <a:tc>
                  <a:txBody>
                    <a:bodyPr wrap="square"/>
                    <a:lstStyle/>
                    <a:p>
                      <a:r>
                        <a:rPr sz="1500" b="0">
                          <a:solidFill>
                            <a:srgbClr val="1B1F26"/>
                          </a:solidFill>
                          <a:latin typeface="Space Grotesk"/>
                        </a:rPr>
                        <a:t>Writing, summarizing, open-ended work</a:t>
                      </a:r>
                    </a:p>
                  </a:txBody>
                  <a:tcPr marL="137160" marR="137160" marT="73152" marB="73152" anchor="ctr">
                    <a:solidFill>
                      <a:srgbClr val="FBFAF6"/>
                    </a:solidFill>
                  </a:tcPr>
                </a:tc>
                <a:tc>
                  <a:txBody>
                    <a:bodyPr wrap="square"/>
                    <a:lstStyle/>
                    <a:p>
                      <a:r>
                        <a:rPr sz="1500" b="0">
                          <a:solidFill>
                            <a:srgbClr val="1B1F26"/>
                          </a:solidFill>
                          <a:latin typeface="Space Grotesk"/>
                        </a:rPr>
                        <a:t>Classify, route, flag, gate</a:t>
                      </a:r>
                    </a:p>
                  </a:txBody>
                  <a:tcPr marL="137160" marR="137160" marT="73152" marB="73152" anchor="ctr">
                    <a:solidFill>
                      <a:srgbClr val="FBFAF6"/>
                    </a:solidFill>
                  </a:tcPr>
                </a:tc>
              </a:tr>
              <a:tr h="574770">
                <a:tc>
                  <a:txBody>
                    <a:bodyPr wrap="square"/>
                    <a:lstStyle/>
                    <a:p>
                      <a:r>
                        <a:rPr sz="1500" b="1">
                          <a:solidFill>
                            <a:srgbClr val="1B1F26"/>
                          </a:solidFill>
                          <a:latin typeface="Space Grotesk"/>
                        </a:rPr>
                        <a:t>Watch out for</a:t>
                      </a:r>
                    </a:p>
                  </a:txBody>
                  <a:tcPr marL="137160" marR="137160" marT="73152" marB="73152" anchor="ctr">
                    <a:solidFill>
                      <a:srgbClr val="F1EDE3"/>
                    </a:solidFill>
                  </a:tcPr>
                </a:tc>
                <a:tc>
                  <a:txBody>
                    <a:bodyPr wrap="square"/>
                    <a:lstStyle/>
                    <a:p>
                      <a:r>
                        <a:rPr sz="1500" b="0">
                          <a:solidFill>
                            <a:srgbClr val="1B1F26"/>
                          </a:solidFill>
                          <a:latin typeface="Space Grotesk"/>
                        </a:rPr>
                        <a:t>Format drift, parsing, cost per token</a:t>
                      </a:r>
                    </a:p>
                  </a:txBody>
                  <a:tcPr marL="137160" marR="137160" marT="73152" marB="73152" anchor="ctr">
                    <a:solidFill>
                      <a:srgbClr val="F1EDE3"/>
                    </a:solidFill>
                  </a:tcPr>
                </a:tc>
                <a:tc>
                  <a:txBody>
                    <a:bodyPr wrap="square"/>
                    <a:lstStyle/>
                    <a:p>
                      <a:r>
                        <a:rPr sz="1500" b="0">
                          <a:solidFill>
                            <a:srgbClr val="1B1F26"/>
                          </a:solidFill>
                          <a:latin typeface="Space Grotesk"/>
                        </a:rPr>
                        <a:t>Answers fixed up front; valid isn't correct</a:t>
                      </a:r>
                    </a:p>
                  </a:txBody>
                  <a:tcPr marL="137160" marR="137160" marT="73152" marB="73152" anchor="ctr">
                    <a:solidFill>
                      <a:srgbClr val="F1EDE3"/>
                    </a:solidFill>
                  </a:tcPr>
                </a:tc>
              </a:tr>
            </a:tbl>
          </a:graphicData>
        </a:graphic>
      </p:graphicFrame>
      <p:sp>
        <p:nvSpPr>
          <p:cNvPr id="5" name="TextBox 4"/>
          <p:cNvSpPr txBox="1"/>
          <p:nvPr/>
        </p:nvSpPr>
        <p:spPr>
          <a:xfrm>
            <a:off x="813816" y="6236208"/>
            <a:ext cx="10881360" cy="237744"/>
          </a:xfrm>
          <a:prstGeom prst="rect">
            <a:avLst/>
          </a:prstGeom>
          <a:noFill/>
        </p:spPr>
        <p:txBody>
          <a:bodyPr wrap="square" anchor="t" lIns="0" rIns="0" tIns="0" bIns="0">
            <a:spAutoFit/>
          </a:bodyPr>
          <a:lstStyle/>
          <a:p>
            <a:r>
              <a:rPr sz="1200" b="0">
                <a:solidFill>
                  <a:srgbClr val="5B6270"/>
                </a:solidFill>
                <a:latin typeface="Space Grotesk"/>
              </a:rPr>
              <a:t>Decide in code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in Code: System One Models on AWS</dc:title>
  <dc:subject>PptxGenJS Presentation</dc:subject>
  <dc:creator>PptxGenJS</dc:creator>
  <cp:lastModifiedBy>PptxGenJS</cp:lastModifiedBy>
  <cp:revision>1</cp:revision>
  <dcterms:created xsi:type="dcterms:W3CDTF">2026-09-30T13:58:21Z</dcterms:created>
  <dcterms:modified xsi:type="dcterms:W3CDTF">2026-09-30T13:58:21Z</dcterms:modified>
</cp:coreProperties>
</file>